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Opening. 15 minutes + 2–3 min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stage: label scarcity, supervised fails, few-shot natural.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673 tasks, task-level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baselines, shared encoder.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GoS v1 stage by stage, with dimensions. Input is an episode of N·K support + Q query molecules. Stage 1, MPNN encoder: 3 × GINEConv plus global mean pool plus Linear — each molecule becomes a 128-dim vector. Concatenating support and query gives h_all of shape M by 128, where M = N·K + Q (about 41 in our 5w5s setting). Stage 2, pairwise affinity produces an M by M matrix — cosine, bilinear, or scaled dot-product attention. Stage 3, kNN sparsification keeps only the top-k edges per node — with k=5 and M=41 that's about 250 directed edges after mirroring. Stage 4, label injection: support nodes get their label as a one-hot vector concatenated to h; query nodes get zeros — so the node feature becomes [M, d + N]. Stage 5, a two-layer weighted GCN propagates: support labels diffuse to queries along high-similarity edges. Output z^L is [M, 128]. Stage 6, the prototype head: scatter-mean the support portion by class to get [N, 128] prototypes; classify queries by negative Euclidean distance, shape [Q, N], softmax. All trained end-to-end with cross-entropy on query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v1 trailed ProtoNet by 13 pp. Three signals → over-smoothing destroys encoder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v2 is five targeted modifications, one per diagnosed failure. M5, top banner: MolCLR self-supervised pretraining before episodic training, because at 0.70 AUC the encoder is the bottleneck. +2.2 pp — our single biggest lever. M3, inside the pipeline: mask all edges originating from query nodes, because queries have no labels so their messages are pure noise. M2, further down: replace the 2-layer GCN with a 1-layer GAT — attention is self-normalising and resists over-smoothing, and one hop is enough for 40-node meta-graphs. M1, bottom row — the key design change: compute two prototype sets, one from the raw encoder and one from the meta-GNN, mix with learnable alpha. At α equals 1, v2 recovers ProtoNet exactly — so v2 is mathematically lower-bounded by ProtoNet; everything else is upside. Finally M4: add a small InfoNCE auxiliary loss on support-query pairs to directly shape embedding geometry. λ = 0.1 optimal.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v2+SSL +1.2 to +1.7 pp over ProtoNet.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 validates M1, A2 validates M2.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A3/A4/A5 each validate M3/M4/M5.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12191695" cy="109728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  <a:latin typeface="Calibri"/>
              </a:rPr>
              <a:t>COURSE PROJECT · SPRING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11185855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Graph-of-Shots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11185855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0" i="1">
                <a:solidFill>
                  <a:srgbClr val="CADCFC"/>
                </a:solidFill>
                <a:latin typeface="Calibri"/>
              </a:rPr>
              <a:t>Few-Shot Molecular Graph Classification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9768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Team: Wenbo Huang · Junchi Yan · Yiqun Yin · Xinyue Xu · Mingjia Shi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0060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Speaker: Mingjia Shi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25780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University of Virginia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6895" y="630936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Calibri"/>
              </a:rPr>
              <a:t>Few-Shot Graph Machine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Why Few-Shot Molecular Learning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2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73152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Molecular property prediction is bottlenecked by label scarcity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bioassays typically have only 10² – 10³ labeled molecules, many missing.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Standard supervised GNNs overfit on small data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and fail to generalize across new assays.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Biology itself is inherently few-shot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novel drug targets and emerging toxicity endpoints have a handful of tested compounds.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Our goal: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given K labeled molecules for a brand-new assay, classify the unlabeled rest.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1645920"/>
            <a:ext cx="3474720" cy="201168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73736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TYPICAL ASSAY 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194560"/>
            <a:ext cx="347472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4600" b="1" i="0">
                <a:solidFill>
                  <a:srgbClr val="1E2761"/>
                </a:solidFill>
                <a:latin typeface="Calibri"/>
              </a:rPr>
              <a:t>10² – 10³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24612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 i="1">
                <a:solidFill>
                  <a:srgbClr val="36454F"/>
                </a:solidFill>
                <a:latin typeface="Calibri"/>
              </a:rPr>
              <a:t>labeled molecules per target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3840480"/>
            <a:ext cx="3474720" cy="18288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3977639"/>
            <a:ext cx="32004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MANY MISSING LABELS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4343400"/>
            <a:ext cx="320040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Multi-task MoleculeNet assays are sparsely labeled — the few-shot setting is the rule, not the exception.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Problem — Episodic Few-Shot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7132320" cy="2926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Meta-learning: train across many small tasks that simulate few-shot test conditions.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Split at the TASK level, strict label disjointness.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Episode τ draws N classes × K support molecules + query set.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Configs:  5-way 1-shot · 5-way 5-shot · 10-way 5-shot.</a:t>
            </a:r>
          </a:p>
        </p:txBody>
      </p:sp>
      <p:pic>
        <p:nvPicPr>
          <p:cNvPr id="8" name="Picture 7" descr="f05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480560"/>
            <a:ext cx="4572000" cy="649140"/>
          </a:xfrm>
          <a:prstGeom prst="rect">
            <a:avLst/>
          </a:prstGeom>
        </p:spPr>
      </p:pic>
      <p:pic>
        <p:nvPicPr>
          <p:cNvPr id="9" name="Picture 8" descr="f05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394960"/>
            <a:ext cx="3291840" cy="46738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46720" y="1737360"/>
            <a:ext cx="3749039" cy="44805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1874519"/>
            <a:ext cx="35661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MERGED TASK POOL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3317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Tox21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3317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7889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ToxCast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7889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617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32461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MUV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32461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7033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SIDER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37033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1605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41605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6177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46177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36454F"/>
                </a:solidFill>
                <a:latin typeface="Calibri"/>
              </a:rPr>
              <a:t>673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50749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Split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50749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36454F"/>
                </a:solidFill>
                <a:latin typeface="Calibri"/>
              </a:rPr>
              <a:t>405 / 134 / 134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Baselines — ProtoNet &amp; FOMAML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4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5486400" cy="45720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Prototypical Network  (metric-based)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50292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Prototype = mean support embedding per class.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Classify query by nearest prototype.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No persistent per-class parameters.</a:t>
            </a:r>
          </a:p>
        </p:txBody>
      </p:sp>
      <p:pic>
        <p:nvPicPr>
          <p:cNvPr id="10" name="Picture 9" descr="f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069080"/>
            <a:ext cx="3840480" cy="545278"/>
          </a:xfrm>
          <a:prstGeom prst="rect">
            <a:avLst/>
          </a:prstGeom>
        </p:spPr>
      </p:pic>
      <p:pic>
        <p:nvPicPr>
          <p:cNvPr id="11" name="Picture 10" descr="f07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120640"/>
            <a:ext cx="4937760" cy="70107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72200" y="1737360"/>
            <a:ext cx="5486400" cy="45720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874519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 i="0">
                <a:solidFill>
                  <a:srgbClr val="F96167"/>
                </a:solidFill>
                <a:latin typeface="Calibri"/>
              </a:rPr>
              <a:t>FOMAML  (adaptation-based)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331720"/>
            <a:ext cx="50292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Learn init θ that adapts in a few SGD steps.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First-order; detach inner loop (PyG-stable).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Meta-gradient from query pass on original θ.</a:t>
            </a:r>
          </a:p>
        </p:txBody>
      </p:sp>
      <p:pic>
        <p:nvPicPr>
          <p:cNvPr id="15" name="Picture 14" descr="f08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069080"/>
            <a:ext cx="4754880" cy="675106"/>
          </a:xfrm>
          <a:prstGeom prst="rect">
            <a:avLst/>
          </a:prstGeom>
        </p:spPr>
      </p:pic>
      <p:pic>
        <p:nvPicPr>
          <p:cNvPr id="16" name="Picture 15" descr="f08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5120640"/>
            <a:ext cx="4754880" cy="6751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 · 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GoS v1 — What the Pipeline Does (with dimensions)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5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7" name="Picture 6" descr="fig_v1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08760"/>
            <a:ext cx="11795760" cy="54037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26364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 i="1">
                <a:solidFill>
                  <a:srgbClr val="888A90"/>
                </a:solidFill>
                <a:latin typeface="Calibri"/>
              </a:rPr>
              <a:t>All modules trained jointly end-to-end.  Nodes in the meta-graph are MOLECULES (not atoms).  No persistent per-class parameters.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 · 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GoS v1 — Why It Fell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6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7315200" cy="32004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71323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THREE OBSERVATIONS CONVERGE ON THE SAME ROOT CAUSE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86000"/>
            <a:ext cx="694944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Obs. 1 — kNN k = 3 &gt; 5 &gt; 10 &gt; 100 (dense)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100" b="0" i="0">
                <a:solidFill>
                  <a:srgbClr val="36454F"/>
                </a:solidFill>
                <a:latin typeface="Calibri"/>
              </a:rPr>
              <a:t>sparsifying the meta-graph helps; classic GCN over-smoothing signature.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Obs. 2 — ProtoNet 0.716 &gt; GoS v1 0.572 at 5w5s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100" b="0" i="0">
                <a:solidFill>
                  <a:srgbClr val="36454F"/>
                </a:solidFill>
                <a:latin typeface="Calibri"/>
              </a:rPr>
              <a:t>the meta-GNN hurts a representation ProtoNet already classifies well.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Obs. 3 — cosine ≈ bilinear ≈ attention  (Δ &lt; 2 pp)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100" b="0" i="0">
                <a:solidFill>
                  <a:srgbClr val="36454F"/>
                </a:solidFill>
                <a:latin typeface="Calibri"/>
              </a:rPr>
              <a:t>affinity-function expressivity is NOT the bottleneck.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737360"/>
            <a:ext cx="3566160" cy="457200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" bIns="27432"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ROOT CAUSE</a:t>
            </a:r>
          </a:p>
          <a:p>
            <a:pPr algn="l">
              <a:spcBef>
                <a:spcPts val="1000"/>
              </a:spcBef>
            </a:pPr>
            <a:r>
              <a:rPr sz="1300" b="0" i="1">
                <a:solidFill>
                  <a:srgbClr val="FFFFFF"/>
                </a:solidFill>
                <a:latin typeface="Calibri"/>
              </a:rPr>
              <a:t>The meta-GNN replaces the encoder embedding at prototype time; 2-layer GCN over-smoothing destroys the class separability that was already there.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212080"/>
            <a:ext cx="11185855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Diagnosis → the checklist for v2:  protect the encoder signal,  prevent over-smoothing structurally,  strengthen the encoder itself.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 ·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GoS v2 — What Changed,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7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7" name="Picture 6" descr="fig_v2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17320"/>
            <a:ext cx="11795760" cy="64563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35508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 i="1">
                <a:solidFill>
                  <a:srgbClr val="F96167"/>
                </a:solidFill>
                <a:latin typeface="Calibri"/>
              </a:rPr>
              <a:t>Red boxes = the five modifications (M1 residual · M2 GAT · M3 bipartite · M4 contrastive · M5 SSL).  Each targets one failure mode diagnosed in slide 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Main Comparison — v2 + SSL beats ProtoNet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8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7" name="Picture 6" descr="fig_v2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7863840" cy="41794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549640" y="1737360"/>
            <a:ext cx="3291840" cy="41148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0" y="1874519"/>
            <a:ext cx="3108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331720"/>
            <a:ext cx="301752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150" b="0" i="0">
                <a:solidFill>
                  <a:srgbClr val="36454F"/>
                </a:solidFill>
                <a:latin typeface="Calibri"/>
              </a:rPr>
              <a:t>v2 + SSL beats ProtoNet on every config.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950" b="0" i="0">
                <a:solidFill>
                  <a:srgbClr val="36454F"/>
                </a:solidFill>
                <a:latin typeface="Calibri"/>
              </a:rPr>
              <a:t>5w1s:  0.603 vs 0.586  (+1.7 pp)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950" b="0" i="0">
                <a:solidFill>
                  <a:srgbClr val="36454F"/>
                </a:solidFill>
                <a:latin typeface="Calibri"/>
              </a:rPr>
              <a:t>5w5s:  0.728 vs 0.716  (+1.2 pp)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950" b="0" i="0">
                <a:solidFill>
                  <a:srgbClr val="36454F"/>
                </a:solidFill>
                <a:latin typeface="Calibri"/>
              </a:rPr>
              <a:t>10w5s: 0.712 vs 0.700  (+1.2 pp)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150" b="0" i="0">
                <a:solidFill>
                  <a:srgbClr val="36454F"/>
                </a:solidFill>
                <a:latin typeface="Calibri"/>
              </a:rPr>
              <a:t>SSL alone: +2.2 pp on v2.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150" b="0" i="0">
                <a:solidFill>
                  <a:srgbClr val="36454F"/>
                </a:solidFill>
                <a:latin typeface="Calibri"/>
              </a:rPr>
              <a:t>MAML stays near chance.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03504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 i="1">
                <a:solidFill>
                  <a:srgbClr val="888A90"/>
                </a:solidFill>
                <a:latin typeface="Calibri"/>
              </a:rPr>
              <a:t>Merged pool (Tox21 + ToxCast + MUV + SIDER, 673 tasks, 405 / 134 / 134 split).  Meta-val AUC at best checkpoint.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Ablations A1 &amp; A2 — Residual  +  Depth × 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9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7" name="Picture 6" descr="fig_v2_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5760720" cy="3906023"/>
          </a:xfrm>
          <a:prstGeom prst="rect">
            <a:avLst/>
          </a:prstGeom>
        </p:spPr>
      </p:pic>
      <p:pic>
        <p:nvPicPr>
          <p:cNvPr id="8" name="Picture 7" descr="fig_v2_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91640"/>
            <a:ext cx="5760720" cy="383873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5486400"/>
            <a:ext cx="11185855" cy="10058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KEY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360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0" i="1">
                <a:solidFill>
                  <a:srgbClr val="36454F"/>
                </a:solidFill>
                <a:latin typeface="Calibri"/>
              </a:rPr>
              <a:t>A1:  α = 0 collapses to 0.500 — residual is essential;  any α ≥ 0.3 works.    A2:  GAT L = 1 wins — confirms the over-smoothing diagnosis.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Ablations A3 · A4 · A5 — Masking, λ, SSL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10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7" name="Picture 6" descr="fig_v2_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691640"/>
            <a:ext cx="4023360" cy="2538766"/>
          </a:xfrm>
          <a:prstGeom prst="rect">
            <a:avLst/>
          </a:prstGeom>
        </p:spPr>
      </p:pic>
      <p:pic>
        <p:nvPicPr>
          <p:cNvPr id="8" name="Picture 7" descr="fig_v2_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691640"/>
            <a:ext cx="4023360" cy="2619282"/>
          </a:xfrm>
          <a:prstGeom prst="rect">
            <a:avLst/>
          </a:prstGeom>
        </p:spPr>
      </p:pic>
      <p:pic>
        <p:nvPicPr>
          <p:cNvPr id="9" name="Picture 8" descr="fig_v2_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1691640"/>
            <a:ext cx="4023360" cy="252541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5486400"/>
            <a:ext cx="11185855" cy="10058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94360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0" i="1">
                <a:solidFill>
                  <a:srgbClr val="36454F"/>
                </a:solidFill>
                <a:latin typeface="Calibri"/>
              </a:rPr>
              <a:t>A3:  bipartite masking +0.6 pp.    A4:  a tiny λ = 0.1 contrastive loss is enough.    A5:  SSL fine-tune +2.2 pp,  but freezing the encoder is catastrophic (−10 pp).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Takeaways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11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Few-shot molecular classification has real motivation (label scarcity in bioassays).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ProtoNet is a surprisingly strong baseline — starting from a clean metric method saves a lot of pain.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GoS v1 beat MAML but lost to ProtoNet; GCN over-smoothing was the root cause.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GoS v2 (residual prototype + 1-layer GAT + bipartite masking + contrastive loss + SSL)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beats ProtoNet on 5w1s / 5w5s / 10w5s by +1.2 to +1.7 pp.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Biggest two levers: M1 residual prototype (safety net) and M5 SSL pretraining (+2.2 pp).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Transferable lessons: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sparsification &gt; affinity expressivity for meta-graphs,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shared classifier heads collapse under episodic training,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when your baseline is already 0.70, the bottleneck is usually the encoder.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Future work: contrastive-only objective,  text-augmented encoder,  cross-assay meta-transfer.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12191695" cy="109728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11185855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68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37560"/>
            <a:ext cx="111858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2800" b="0" i="1">
                <a:solidFill>
                  <a:srgbClr val="CADCFC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0"/>
            <a:ext cx="111858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Code:  github.com/BDeMo/proj-mol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937760"/>
            <a:ext cx="111858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0" i="0">
                <a:solidFill>
                  <a:srgbClr val="CADCFC"/>
                </a:solidFill>
                <a:latin typeface="Calibri"/>
              </a:rPr>
              <a:t>Team: Wenbo Huang · Junchi Yan · Yiqun Yin · Xinyue Xu · Mingjia Shi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94960"/>
            <a:ext cx="111858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0" i="1">
                <a:solidFill>
                  <a:srgbClr val="CADCFC"/>
                </a:solidFill>
                <a:latin typeface="Calibri"/>
              </a:rPr>
              <a:t>Mingjia Shi  ·  University of Virginia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3474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F96167"/>
                </a:solidFill>
                <a:latin typeface="Calibri"/>
              </a:rPr>
              <a:t>Snell et al., NeurIPS 2017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80" y="1783080"/>
            <a:ext cx="75282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Prototypical Networks for Few-Shot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31720"/>
            <a:ext cx="3474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F96167"/>
                </a:solidFill>
                <a:latin typeface="Calibri"/>
              </a:rPr>
              <a:t>Finn et al., ICML 2017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331720"/>
            <a:ext cx="75282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Model-Agnostic Meta-Learning for Fast Adaptation of Deep Networks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80360"/>
            <a:ext cx="3474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F96167"/>
                </a:solidFill>
                <a:latin typeface="Calibri"/>
              </a:rPr>
              <a:t>Hu et al., ICLR 2020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2880360"/>
            <a:ext cx="75282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Strategies for Pre-training Graph Neural Networks  (GIN, GINE)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429000"/>
            <a:ext cx="3474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F96167"/>
                </a:solidFill>
                <a:latin typeface="Calibri"/>
              </a:rPr>
              <a:t>Wu et al., Chem. Sci. 2018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3429000"/>
            <a:ext cx="75282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MoleculeNet: A Benchmark for Molecular Machine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977640"/>
            <a:ext cx="3474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F96167"/>
                </a:solidFill>
                <a:latin typeface="Calibri"/>
              </a:rPr>
              <a:t>Wang et al., Nature MI 2022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9080" y="3977640"/>
            <a:ext cx="75282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Molecular Contrastive Learning of Representations via GNNs  (MolCLR)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526280"/>
            <a:ext cx="3474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F96167"/>
                </a:solidFill>
                <a:latin typeface="Calibri"/>
              </a:rPr>
              <a:t>Veličković et al., ICLR 2018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4526280"/>
            <a:ext cx="75282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Graph Attention Networks  (GAT)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074920"/>
            <a:ext cx="3474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F96167"/>
                </a:solidFill>
                <a:latin typeface="Calibri"/>
              </a:rPr>
              <a:t>van den Oord et al., 2018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5074920"/>
            <a:ext cx="75282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Representation Learning with Contrastive Predictive Coding  (InfoNCE)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