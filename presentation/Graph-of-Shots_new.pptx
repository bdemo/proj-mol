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0" r:id="rId5"/>
    <p:sldId id="265" r:id="rId6"/>
    <p:sldId id="261" r:id="rId7"/>
    <p:sldId id="262" r:id="rId8"/>
    <p:sldId id="258" r:id="rId9"/>
    <p:sldId id="263" r:id="rId10"/>
    <p:sldId id="264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5" d="100"/>
          <a:sy n="145" d="100"/>
        </p:scale>
        <p:origin x="3084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773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15 min + 2-3 min Q&amp;A. Focus: motivation, approach, results, takeaways.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the stage: label scarcity, supervised fails, few-shot is natural.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ProtoNet: metric-based prototypes. FOMAML: first-order adaptation (PyG-stable).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insight: inter-molecule relations within an episode are a strong signal. A meta-graph lets us use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v2: diagnosis (one strip) → 5 modifications (card row) → target (banner). Self-contained.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blocks: encoder / affinity / meta-GNN.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prototype head is the lesson of this project — shared Linear collapses, prototypes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Task-level disjoint split; 673 valid tasks across 4 datasets.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Main comparison. ProtoNet surprisingly strong.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Ablation summary + sample-efficiency 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One-minute recap before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34640"/>
            <a:ext cx="12191695" cy="109728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Calibri"/>
              </a:rPr>
              <a:t>COURSE PROJECT · SPRING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54480"/>
            <a:ext cx="11185855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Graph-of-Shots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63240"/>
            <a:ext cx="11185855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0" i="1" dirty="0">
                <a:solidFill>
                  <a:srgbClr val="CADCFC"/>
                </a:solidFill>
                <a:latin typeface="Calibri"/>
              </a:rPr>
              <a:t>Few-Shot Molecular Graph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97680"/>
            <a:ext cx="11185855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Team: Wenbo Huang · Junchi Yan · Yiqun Yin · Xinyue Xu · Mingjia 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257800"/>
            <a:ext cx="11185855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i="1">
                <a:solidFill>
                  <a:srgbClr val="CADCFC"/>
                </a:solidFill>
                <a:latin typeface="Calibri"/>
              </a:rPr>
              <a:t>University of Virginia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6895" y="6309360"/>
            <a:ext cx="3657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100" b="0" i="0">
                <a:solidFill>
                  <a:srgbClr val="CADCFC"/>
                </a:solidFill>
                <a:latin typeface="Calibri"/>
              </a:rPr>
              <a:t>Few-Shot Graph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783080" cy="32004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 i="0">
                <a:solidFill>
                  <a:srgbClr val="1E2761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 dirty="0">
                <a:solidFill>
                  <a:srgbClr val="1E2761"/>
                </a:solidFill>
                <a:latin typeface="Calibri"/>
              </a:rPr>
              <a:t>Why Few-Shot Molecular Learning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888A90"/>
                </a:solidFill>
                <a:latin typeface="Calibri"/>
              </a:rPr>
              <a:t>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1">
                <a:solidFill>
                  <a:srgbClr val="888A90"/>
                </a:solidFill>
                <a:latin typeface="Calibri"/>
              </a:rPr>
              <a:t>Graph-of-Shots · Few-Shot Molecular Graph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73152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600" b="1" i="0" dirty="0">
                <a:solidFill>
                  <a:srgbClr val="1E2761"/>
                </a:solidFill>
                <a:latin typeface="Calibri"/>
              </a:rPr>
              <a:t>●  </a:t>
            </a:r>
            <a:r>
              <a:rPr sz="1600" b="0" i="0" dirty="0">
                <a:solidFill>
                  <a:srgbClr val="36454F"/>
                </a:solidFill>
                <a:latin typeface="Calibri"/>
              </a:rPr>
              <a:t>Molecular property prediction is bottlenecked by label scarcity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400" b="0" i="0" dirty="0">
                <a:solidFill>
                  <a:srgbClr val="888A90"/>
                </a:solidFill>
                <a:latin typeface="Calibri"/>
              </a:rPr>
              <a:t>–  </a:t>
            </a:r>
            <a:r>
              <a:rPr sz="1400" b="0" i="0" dirty="0">
                <a:solidFill>
                  <a:srgbClr val="36454F"/>
                </a:solidFill>
                <a:latin typeface="Calibri"/>
              </a:rPr>
              <a:t>screening assays typically have only 10² – 10³ labeled molecules, many missing.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600" b="1" i="0" dirty="0">
                <a:solidFill>
                  <a:srgbClr val="1E2761"/>
                </a:solidFill>
                <a:latin typeface="Calibri"/>
              </a:rPr>
              <a:t>●  </a:t>
            </a:r>
            <a:r>
              <a:rPr sz="1600" b="0" i="0" dirty="0">
                <a:solidFill>
                  <a:srgbClr val="36454F"/>
                </a:solidFill>
                <a:latin typeface="Calibri"/>
              </a:rPr>
              <a:t>Standard supervised GNNs overfit on small data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400" b="0" i="0" dirty="0">
                <a:solidFill>
                  <a:srgbClr val="888A90"/>
                </a:solidFill>
                <a:latin typeface="Calibri"/>
              </a:rPr>
              <a:t>–  </a:t>
            </a:r>
            <a:r>
              <a:rPr sz="1400" b="0" i="0" dirty="0">
                <a:solidFill>
                  <a:srgbClr val="36454F"/>
                </a:solidFill>
                <a:latin typeface="Calibri"/>
              </a:rPr>
              <a:t>and fail to generalize across new assays.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600" b="1" i="0" dirty="0">
                <a:solidFill>
                  <a:srgbClr val="1E2761"/>
                </a:solidFill>
                <a:latin typeface="Calibri"/>
              </a:rPr>
              <a:t>●  </a:t>
            </a:r>
            <a:r>
              <a:rPr sz="1600" b="0" i="0" dirty="0">
                <a:solidFill>
                  <a:srgbClr val="36454F"/>
                </a:solidFill>
                <a:latin typeface="Calibri"/>
              </a:rPr>
              <a:t>Biology is inherently few-shot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400" b="0" i="0" dirty="0">
                <a:solidFill>
                  <a:srgbClr val="888A90"/>
                </a:solidFill>
                <a:latin typeface="Calibri"/>
              </a:rPr>
              <a:t>–  </a:t>
            </a:r>
            <a:r>
              <a:rPr sz="1400" b="0" i="0" dirty="0">
                <a:solidFill>
                  <a:srgbClr val="36454F"/>
                </a:solidFill>
                <a:latin typeface="Calibri"/>
              </a:rPr>
              <a:t>novel drug targets and emerging toxicity endpoints have a handful of tested compounds.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600" b="1" i="0" dirty="0">
                <a:solidFill>
                  <a:srgbClr val="1E2761"/>
                </a:solidFill>
                <a:latin typeface="Calibri"/>
              </a:rPr>
              <a:t>●  </a:t>
            </a:r>
            <a:r>
              <a:rPr sz="1600" b="0" i="0" dirty="0">
                <a:solidFill>
                  <a:srgbClr val="36454F"/>
                </a:solidFill>
                <a:latin typeface="Calibri"/>
              </a:rPr>
              <a:t>Our goal: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400" b="0" i="0" dirty="0">
                <a:solidFill>
                  <a:srgbClr val="888A90"/>
                </a:solidFill>
                <a:latin typeface="Calibri"/>
              </a:rPr>
              <a:t>–  </a:t>
            </a:r>
            <a:r>
              <a:rPr sz="1400" b="0" i="0" dirty="0">
                <a:solidFill>
                  <a:srgbClr val="36454F"/>
                </a:solidFill>
                <a:latin typeface="Calibri"/>
              </a:rPr>
              <a:t>given K labeled molecules for a brand-new assay, classify the unlabeled rest.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645920"/>
            <a:ext cx="3474720" cy="201168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40" y="1737360"/>
            <a:ext cx="34747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TYPICAL ASSAY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194560"/>
            <a:ext cx="3474720" cy="10058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4600" b="1" i="0">
                <a:solidFill>
                  <a:srgbClr val="1E2761"/>
                </a:solidFill>
                <a:latin typeface="Calibri"/>
              </a:rPr>
              <a:t>10² – 10³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246120"/>
            <a:ext cx="34747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 i="1">
                <a:solidFill>
                  <a:srgbClr val="36454F"/>
                </a:solidFill>
                <a:latin typeface="Calibri"/>
              </a:rPr>
              <a:t>labeled molecules per target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3840480"/>
            <a:ext cx="3474720" cy="182880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200" y="3977639"/>
            <a:ext cx="32004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MANY MISSING LABELS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4343400"/>
            <a:ext cx="320040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1">
                <a:solidFill>
                  <a:srgbClr val="36454F"/>
                </a:solidFill>
                <a:latin typeface="Calibri"/>
              </a:rPr>
              <a:t>Multi-task MoleculeNet assays are sparsely labeled — the few-shot setting is the rule, not the exception.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783080" cy="32004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 i="0">
                <a:solidFill>
                  <a:srgbClr val="1E2761"/>
                </a:solidFill>
                <a:latin typeface="Calibri"/>
              </a:rPr>
              <a:t>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 dirty="0">
                <a:solidFill>
                  <a:srgbClr val="1E2761"/>
                </a:solidFill>
                <a:latin typeface="Calibri"/>
              </a:rPr>
              <a:t>Baselines — </a:t>
            </a:r>
            <a:r>
              <a:rPr sz="2800" b="1" i="0" dirty="0" err="1">
                <a:solidFill>
                  <a:srgbClr val="1E2761"/>
                </a:solidFill>
                <a:latin typeface="Calibri"/>
              </a:rPr>
              <a:t>ProtoNet</a:t>
            </a:r>
            <a:r>
              <a:rPr sz="2800" b="1" i="0" dirty="0">
                <a:solidFill>
                  <a:srgbClr val="1E2761"/>
                </a:solidFill>
                <a:latin typeface="Calibri"/>
              </a:rPr>
              <a:t> &amp; FOMAML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888A90"/>
                </a:solidFill>
                <a:latin typeface="Calibri"/>
              </a:rPr>
              <a:t>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1">
                <a:solidFill>
                  <a:srgbClr val="888A90"/>
                </a:solidFill>
                <a:latin typeface="Calibri"/>
              </a:rPr>
              <a:t>Graph-of-Shots · Few-Shot Molecular Graph Classification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5486400" cy="457200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5486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 i="0" dirty="0">
                <a:solidFill>
                  <a:srgbClr val="1E2761"/>
                </a:solidFill>
                <a:latin typeface="Calibri"/>
              </a:rPr>
              <a:t>Prototypical Network  (metric-based)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502920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●  </a:t>
            </a:r>
            <a:r>
              <a:rPr sz="1300" b="0" i="0">
                <a:solidFill>
                  <a:srgbClr val="1E2761"/>
                </a:solidFill>
                <a:latin typeface="Calibri"/>
              </a:rPr>
              <a:t>Prototype = mean support embedding per class.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●  </a:t>
            </a:r>
            <a:r>
              <a:rPr sz="1300" b="0" i="0">
                <a:solidFill>
                  <a:srgbClr val="1E2761"/>
                </a:solidFill>
                <a:latin typeface="Calibri"/>
              </a:rPr>
              <a:t>Classify query by nearest prototype.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●  </a:t>
            </a:r>
            <a:r>
              <a:rPr sz="1300" b="0" i="0">
                <a:solidFill>
                  <a:srgbClr val="1E2761"/>
                </a:solidFill>
                <a:latin typeface="Calibri"/>
              </a:rPr>
              <a:t>No persistent per-class parameters.</a:t>
            </a:r>
          </a:p>
        </p:txBody>
      </p:sp>
      <p:pic>
        <p:nvPicPr>
          <p:cNvPr id="10" name="Picture 9" descr="f07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69080"/>
            <a:ext cx="3840480" cy="545278"/>
          </a:xfrm>
          <a:prstGeom prst="rect">
            <a:avLst/>
          </a:prstGeom>
        </p:spPr>
      </p:pic>
      <p:pic>
        <p:nvPicPr>
          <p:cNvPr id="11" name="Picture 10" descr="f07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20640"/>
            <a:ext cx="4937760" cy="70107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172200" y="1737360"/>
            <a:ext cx="5486400" cy="457200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874519"/>
            <a:ext cx="5486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 i="0" dirty="0">
                <a:solidFill>
                  <a:srgbClr val="F96167"/>
                </a:solidFill>
                <a:latin typeface="Calibri"/>
              </a:rPr>
              <a:t>FOMAML  (adaptation-based)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31720"/>
            <a:ext cx="502920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●  </a:t>
            </a:r>
            <a:r>
              <a:rPr sz="1300" b="0" i="0">
                <a:solidFill>
                  <a:srgbClr val="36454F"/>
                </a:solidFill>
                <a:latin typeface="Calibri"/>
              </a:rPr>
              <a:t>Learn init θ that adapts in a few SGD steps.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●  </a:t>
            </a:r>
            <a:r>
              <a:rPr sz="1300" b="0" i="0">
                <a:solidFill>
                  <a:srgbClr val="36454F"/>
                </a:solidFill>
                <a:latin typeface="Calibri"/>
              </a:rPr>
              <a:t>First-order; detach inner loop (PyG-stable).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●  </a:t>
            </a:r>
            <a:r>
              <a:rPr sz="1300" b="0" i="0">
                <a:solidFill>
                  <a:srgbClr val="36454F"/>
                </a:solidFill>
                <a:latin typeface="Calibri"/>
              </a:rPr>
              <a:t>Meta-gradient from query pass on original θ.</a:t>
            </a:r>
          </a:p>
        </p:txBody>
      </p:sp>
      <p:pic>
        <p:nvPicPr>
          <p:cNvPr id="15" name="Picture 14" descr="f08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069080"/>
            <a:ext cx="4754880" cy="675106"/>
          </a:xfrm>
          <a:prstGeom prst="rect">
            <a:avLst/>
          </a:prstGeom>
        </p:spPr>
      </p:pic>
      <p:pic>
        <p:nvPicPr>
          <p:cNvPr id="16" name="Picture 15" descr="f08_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5120640"/>
            <a:ext cx="4754880" cy="6751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783080" cy="32004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 i="0">
                <a:solidFill>
                  <a:srgbClr val="1E2761"/>
                </a:solidFill>
                <a:latin typeface="Calibri"/>
              </a:rPr>
              <a:t>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Graph-of-Shots —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888A90"/>
                </a:solidFill>
                <a:latin typeface="Calibri"/>
              </a:rPr>
              <a:t>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1">
                <a:solidFill>
                  <a:srgbClr val="888A90"/>
                </a:solidFill>
                <a:latin typeface="Calibri"/>
              </a:rPr>
              <a:t>Graph-of-Shots · Few-Shot Molecular Graph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1185855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●  </a:t>
            </a:r>
            <a:r>
              <a:rPr sz="1500" b="0" i="0">
                <a:solidFill>
                  <a:srgbClr val="36454F"/>
                </a:solidFill>
                <a:latin typeface="Calibri"/>
              </a:rPr>
              <a:t>Baselines embed each molecule IN ISOLATION — but within an episode, structurally similar molecules likely share assay activity.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●  </a:t>
            </a:r>
            <a:r>
              <a:rPr sz="1500" b="0" i="0">
                <a:solidFill>
                  <a:srgbClr val="36454F"/>
                </a:solidFill>
                <a:latin typeface="Calibri"/>
              </a:rPr>
              <a:t>Our idea: build a task-specific META-GRAPH over episode molecules, and run a GNN on it — support labels propagate to queries.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977640"/>
            <a:ext cx="1635709" cy="196596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
Encode</a:t>
            </a:r>
          </a:p>
          <a:p>
            <a:pPr algn="ctr"/>
            <a:r>
              <a:rPr sz="1000" b="0" i="1">
                <a:solidFill>
                  <a:srgbClr val="36454F"/>
                </a:solidFill>
                <a:latin typeface="Calibri"/>
              </a:rPr>
              <a:t>MPNN → {h_i}</a:t>
            </a:r>
          </a:p>
        </p:txBody>
      </p:sp>
      <p:sp>
        <p:nvSpPr>
          <p:cNvPr id="9" name="Oval 8"/>
          <p:cNvSpPr/>
          <p:nvPr/>
        </p:nvSpPr>
        <p:spPr>
          <a:xfrm>
            <a:off x="1069314" y="3726180"/>
            <a:ext cx="502920" cy="502920"/>
          </a:xfrm>
          <a:prstGeom prst="ellipse">
            <a:avLst/>
          </a:prstGeom>
          <a:solidFill>
            <a:srgbClr val="1E2761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56917" y="4663440"/>
            <a:ext cx="237744" cy="274320"/>
          </a:xfrm>
          <a:prstGeom prst="rightArrow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412949" y="3977640"/>
            <a:ext cx="1635709" cy="196596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
Affinity</a:t>
            </a:r>
          </a:p>
          <a:p>
            <a:pPr algn="ctr"/>
            <a:r>
              <a:rPr sz="1000" b="0" i="1">
                <a:solidFill>
                  <a:srgbClr val="36454F"/>
                </a:solidFill>
                <a:latin typeface="Calibri"/>
              </a:rPr>
              <a:t>W = g(h_i, h_j)</a:t>
            </a:r>
          </a:p>
        </p:txBody>
      </p:sp>
      <p:sp>
        <p:nvSpPr>
          <p:cNvPr id="12" name="Oval 11"/>
          <p:cNvSpPr/>
          <p:nvPr/>
        </p:nvSpPr>
        <p:spPr>
          <a:xfrm>
            <a:off x="2979343" y="3726180"/>
            <a:ext cx="502920" cy="502920"/>
          </a:xfrm>
          <a:prstGeom prst="ellipse">
            <a:avLst/>
          </a:prstGeom>
          <a:solidFill>
            <a:srgbClr val="F96167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66946" y="4663440"/>
            <a:ext cx="237744" cy="274320"/>
          </a:xfrm>
          <a:prstGeom prst="rightArrow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22978" y="3977640"/>
            <a:ext cx="1635709" cy="196596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
kNN sparsify</a:t>
            </a:r>
          </a:p>
          <a:p>
            <a:pPr algn="ctr"/>
            <a:r>
              <a:rPr sz="1000" b="0" i="1">
                <a:solidFill>
                  <a:srgbClr val="36454F"/>
                </a:solidFill>
                <a:latin typeface="Calibri"/>
              </a:rPr>
              <a:t>top-k edges</a:t>
            </a:r>
          </a:p>
        </p:txBody>
      </p:sp>
      <p:sp>
        <p:nvSpPr>
          <p:cNvPr id="15" name="Oval 14"/>
          <p:cNvSpPr/>
          <p:nvPr/>
        </p:nvSpPr>
        <p:spPr>
          <a:xfrm>
            <a:off x="4889372" y="3726180"/>
            <a:ext cx="502920" cy="502920"/>
          </a:xfrm>
          <a:prstGeom prst="ellipse">
            <a:avLst/>
          </a:prstGeom>
          <a:solidFill>
            <a:srgbClr val="1E2761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76975" y="4663440"/>
            <a:ext cx="237744" cy="274320"/>
          </a:xfrm>
          <a:prstGeom prst="rightArrow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33007" y="3977640"/>
            <a:ext cx="1635709" cy="196596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
Inject labels</a:t>
            </a:r>
          </a:p>
          <a:p>
            <a:pPr algn="ctr"/>
            <a:r>
              <a:rPr sz="1000" b="0" i="1">
                <a:solidFill>
                  <a:srgbClr val="36454F"/>
                </a:solidFill>
                <a:latin typeface="Calibri"/>
              </a:rPr>
              <a:t>one-hot support</a:t>
            </a:r>
          </a:p>
        </p:txBody>
      </p:sp>
      <p:sp>
        <p:nvSpPr>
          <p:cNvPr id="18" name="Oval 17"/>
          <p:cNvSpPr/>
          <p:nvPr/>
        </p:nvSpPr>
        <p:spPr>
          <a:xfrm>
            <a:off x="6799402" y="3726180"/>
            <a:ext cx="502920" cy="502920"/>
          </a:xfrm>
          <a:prstGeom prst="ellipse">
            <a:avLst/>
          </a:prstGeom>
          <a:solidFill>
            <a:srgbClr val="F96167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887004" y="4663440"/>
            <a:ext cx="237744" cy="274320"/>
          </a:xfrm>
          <a:prstGeom prst="rightArrow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143036" y="3977640"/>
            <a:ext cx="1635709" cy="196596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
Meta-GNN</a:t>
            </a:r>
          </a:p>
          <a:p>
            <a:pPr algn="ctr"/>
            <a:r>
              <a:rPr sz="1000" b="0" i="1">
                <a:solidFill>
                  <a:srgbClr val="36454F"/>
                </a:solidFill>
                <a:latin typeface="Calibri"/>
              </a:rPr>
              <a:t>weighted GCN</a:t>
            </a:r>
          </a:p>
        </p:txBody>
      </p:sp>
      <p:sp>
        <p:nvSpPr>
          <p:cNvPr id="21" name="Oval 20"/>
          <p:cNvSpPr/>
          <p:nvPr/>
        </p:nvSpPr>
        <p:spPr>
          <a:xfrm>
            <a:off x="8709431" y="3726180"/>
            <a:ext cx="502920" cy="502920"/>
          </a:xfrm>
          <a:prstGeom prst="ellipse">
            <a:avLst/>
          </a:prstGeom>
          <a:solidFill>
            <a:srgbClr val="1E2761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797033" y="4663440"/>
            <a:ext cx="237744" cy="274320"/>
          </a:xfrm>
          <a:prstGeom prst="rightArrow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053065" y="3977640"/>
            <a:ext cx="1635709" cy="196596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 dirty="0">
                <a:solidFill>
                  <a:srgbClr val="1E2761"/>
                </a:solidFill>
                <a:latin typeface="Calibri"/>
              </a:rPr>
              <a:t>
Prototype head</a:t>
            </a:r>
          </a:p>
          <a:p>
            <a:pPr algn="ctr"/>
            <a:r>
              <a:rPr sz="1000" b="0" i="1" dirty="0">
                <a:solidFill>
                  <a:srgbClr val="36454F"/>
                </a:solidFill>
                <a:latin typeface="Calibri"/>
              </a:rPr>
              <a:t>d(</a:t>
            </a:r>
            <a:r>
              <a:rPr sz="1000" b="0" i="1" dirty="0" err="1">
                <a:solidFill>
                  <a:srgbClr val="36454F"/>
                </a:solidFill>
                <a:latin typeface="Calibri"/>
              </a:rPr>
              <a:t>z_q</a:t>
            </a:r>
            <a:r>
              <a:rPr sz="1000" b="0" i="1" dirty="0">
                <a:solidFill>
                  <a:srgbClr val="36454F"/>
                </a:solidFill>
                <a:latin typeface="Calibri"/>
              </a:rPr>
              <a:t>, </a:t>
            </a:r>
            <a:r>
              <a:rPr sz="1000" b="0" i="1" dirty="0" err="1">
                <a:solidFill>
                  <a:srgbClr val="36454F"/>
                </a:solidFill>
                <a:latin typeface="Calibri"/>
              </a:rPr>
              <a:t>c_n</a:t>
            </a:r>
            <a:r>
              <a:rPr sz="1000" b="0" i="1" dirty="0">
                <a:solidFill>
                  <a:srgbClr val="36454F"/>
                </a:solidFill>
                <a:latin typeface="Calibri"/>
              </a:rPr>
              <a:t>)</a:t>
            </a:r>
          </a:p>
        </p:txBody>
      </p:sp>
      <p:sp>
        <p:nvSpPr>
          <p:cNvPr id="24" name="Oval 23"/>
          <p:cNvSpPr/>
          <p:nvPr/>
        </p:nvSpPr>
        <p:spPr>
          <a:xfrm>
            <a:off x="10619460" y="3726180"/>
            <a:ext cx="502920" cy="502920"/>
          </a:xfrm>
          <a:prstGeom prst="ellipse">
            <a:avLst/>
          </a:prstGeom>
          <a:solidFill>
            <a:srgbClr val="F96167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6126480"/>
            <a:ext cx="11185855" cy="45720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1">
                <a:solidFill>
                  <a:srgbClr val="1E2761"/>
                </a:solidFill>
                <a:latin typeface="Calibri"/>
              </a:rPr>
              <a:t>Encoder φ, affinity g, and meta-GNN trained jointly end-to-end.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783080" cy="32004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 i="0">
                <a:solidFill>
                  <a:srgbClr val="1E2761"/>
                </a:solidFill>
                <a:latin typeface="Calibri"/>
              </a:rPr>
              <a:t>RESULTS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GoS v2 — Diagnosis, Five Modifications,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888A90"/>
                </a:solidFill>
                <a:latin typeface="Calibri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1">
                <a:solidFill>
                  <a:srgbClr val="888A90"/>
                </a:solidFill>
                <a:latin typeface="Calibri"/>
              </a:rPr>
              <a:t>Graph-of-Shots · Few-Shot Molecular Graph Classification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11185855" cy="1005840"/>
          </a:xfrm>
          <a:prstGeom prst="round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11185855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DIAGNOSIS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0728655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k-NN k=3 &gt; 5 &gt; 10 &gt; 100 → over-smoothing.    ProtoNet 0.716 &gt; GoS 0.572 → meta-GNN hurts a good embedding.    Affinity variants differ by &lt; 2 pp → expressivity is not the bottleneck.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26080"/>
            <a:ext cx="2149388" cy="5943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M1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584448"/>
            <a:ext cx="2149388" cy="201168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Residual
prototype</a:t>
            </a:r>
          </a:p>
          <a:p>
            <a:pPr algn="ctr">
              <a:spcBef>
                <a:spcPts val="600"/>
              </a:spcBef>
            </a:pPr>
            <a:r>
              <a:rPr sz="1000" b="0" i="1">
                <a:solidFill>
                  <a:srgbClr val="36454F"/>
                </a:solidFill>
                <a:latin typeface="Calibri"/>
              </a:rPr>
              <a:t>α c_enc + (1−α) c_gnn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62036" y="2926080"/>
            <a:ext cx="2149388" cy="5943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M2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62036" y="3584448"/>
            <a:ext cx="2149388" cy="201168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Shallower
meta-GNN</a:t>
            </a:r>
          </a:p>
          <a:p>
            <a:pPr algn="ctr">
              <a:spcBef>
                <a:spcPts val="600"/>
              </a:spcBef>
            </a:pPr>
            <a:r>
              <a:rPr sz="1000" b="0" i="1">
                <a:solidFill>
                  <a:srgbClr val="36454F"/>
                </a:solidFill>
                <a:latin typeface="Calibri"/>
              </a:rPr>
              <a:t>1-layer GAT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1153" y="2926080"/>
            <a:ext cx="2149388" cy="5943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M3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1153" y="3584448"/>
            <a:ext cx="2149388" cy="201168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Bipartite
messaging</a:t>
            </a:r>
          </a:p>
          <a:p>
            <a:pPr algn="ctr">
              <a:spcBef>
                <a:spcPts val="600"/>
              </a:spcBef>
            </a:pPr>
            <a:r>
              <a:rPr sz="1000" b="0" i="1">
                <a:solidFill>
                  <a:srgbClr val="36454F"/>
                </a:solidFill>
                <a:latin typeface="Calibri"/>
              </a:rPr>
              <a:t>mask query → * edges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80269" y="2926080"/>
            <a:ext cx="2149388" cy="594360"/>
          </a:xfrm>
          <a:prstGeom prst="round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M4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80269" y="3584448"/>
            <a:ext cx="2149388" cy="201168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Contrastive
aux loss</a:t>
            </a:r>
          </a:p>
          <a:p>
            <a:pPr algn="ctr">
              <a:spcBef>
                <a:spcPts val="600"/>
              </a:spcBef>
            </a:pPr>
            <a:r>
              <a:rPr sz="1000" b="0" i="1">
                <a:solidFill>
                  <a:srgbClr val="36454F"/>
                </a:solidFill>
                <a:latin typeface="Calibri"/>
              </a:rPr>
              <a:t>InfoNCE support–query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39386" y="2926080"/>
            <a:ext cx="2149388" cy="594360"/>
          </a:xfrm>
          <a:prstGeom prst="round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M5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9386" y="3584448"/>
            <a:ext cx="2149388" cy="201168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SSL
pretraining</a:t>
            </a:r>
          </a:p>
          <a:p>
            <a:pPr algn="ctr">
              <a:spcBef>
                <a:spcPts val="600"/>
              </a:spcBef>
            </a:pPr>
            <a:r>
              <a:rPr sz="1000" b="0" i="1">
                <a:solidFill>
                  <a:srgbClr val="36454F"/>
                </a:solidFill>
                <a:latin typeface="Calibri"/>
              </a:rPr>
              <a:t>MolCLR encoder init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760720"/>
            <a:ext cx="11185855" cy="73152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400" b="1" i="1">
                <a:solidFill>
                  <a:srgbClr val="1E2761"/>
                </a:solidFill>
                <a:latin typeface="Calibri"/>
              </a:rPr>
              <a:t>Safety net: α → 1 recovers ProtoNet.  Composed target: ≥ 0.76 at 5-way 5-shot (≈ +6 pp over ProtoNet).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783080" cy="32004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 i="0">
                <a:solidFill>
                  <a:srgbClr val="1E2761"/>
                </a:solidFill>
                <a:latin typeface="Calibri"/>
              </a:rPr>
              <a:t>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Method — Encoder, Affinity, Meta-GNN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888A90"/>
                </a:solidFill>
                <a:latin typeface="Calibri"/>
              </a:rPr>
              <a:t>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1">
                <a:solidFill>
                  <a:srgbClr val="888A90"/>
                </a:solidFill>
                <a:latin typeface="Calibri"/>
              </a:rPr>
              <a:t>Graph-of-Shots · Few-Shot Molecular Graph Classification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3657600" cy="457200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3657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 dirty="0">
                <a:solidFill>
                  <a:srgbClr val="1E2761"/>
                </a:solidFill>
                <a:latin typeface="Calibri"/>
              </a:rPr>
              <a:t>(A) Molecular Encoder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329184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Calibri"/>
              </a:rPr>
              <a:t>●  </a:t>
            </a:r>
            <a:r>
              <a:rPr sz="1200" b="0" i="0">
                <a:solidFill>
                  <a:srgbClr val="36454F"/>
                </a:solidFill>
                <a:latin typeface="Calibri"/>
              </a:rPr>
              <a:t>3 × GINEConv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00" b="0" i="0">
                <a:solidFill>
                  <a:srgbClr val="888A90"/>
                </a:solidFill>
                <a:latin typeface="Calibri"/>
              </a:rPr>
              <a:t>–  </a:t>
            </a:r>
            <a:r>
              <a:rPr sz="1000" b="0" i="0">
                <a:solidFill>
                  <a:srgbClr val="36454F"/>
                </a:solidFill>
                <a:latin typeface="Calibri"/>
              </a:rPr>
              <a:t>BN + ReLU, dropout 0.1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Calibri"/>
              </a:rPr>
              <a:t>●  </a:t>
            </a:r>
            <a:r>
              <a:rPr sz="1200" b="0" i="0">
                <a:solidFill>
                  <a:srgbClr val="36454F"/>
                </a:solidFill>
                <a:latin typeface="Calibri"/>
              </a:rPr>
              <a:t>Global mean pool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Calibri"/>
              </a:rPr>
              <a:t>●  </a:t>
            </a:r>
            <a:r>
              <a:rPr sz="1200" b="0" i="0">
                <a:solidFill>
                  <a:srgbClr val="36454F"/>
                </a:solidFill>
                <a:latin typeface="Calibri"/>
              </a:rPr>
              <a:t>Linear → d = 128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Calibri"/>
              </a:rPr>
              <a:t>●  </a:t>
            </a:r>
            <a:r>
              <a:rPr sz="1200" b="0" i="0">
                <a:solidFill>
                  <a:srgbClr val="36454F"/>
                </a:solidFill>
                <a:latin typeface="Calibri"/>
              </a:rPr>
              <a:t>Edge_attr used (bonds).</a:t>
            </a:r>
          </a:p>
        </p:txBody>
      </p:sp>
      <p:pic>
        <p:nvPicPr>
          <p:cNvPr id="10" name="Picture 9" descr="f1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0"/>
            <a:ext cx="3291840" cy="43125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251960" y="1737360"/>
            <a:ext cx="3657600" cy="457200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1828800"/>
            <a:ext cx="3657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(B) Affinity  w_ij = g(h_i, h_j)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468880"/>
            <a:ext cx="1005840" cy="3200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1" i="0">
                <a:solidFill>
                  <a:srgbClr val="F96167"/>
                </a:solidFill>
                <a:latin typeface="Calibri"/>
              </a:rPr>
              <a:t>cosine</a:t>
            </a:r>
          </a:p>
        </p:txBody>
      </p:sp>
      <p:pic>
        <p:nvPicPr>
          <p:cNvPr id="14" name="Picture 13" descr="f13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2468880"/>
            <a:ext cx="2377440" cy="33755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434840" y="3246120"/>
            <a:ext cx="1005840" cy="3200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1" i="0">
                <a:solidFill>
                  <a:srgbClr val="F96167"/>
                </a:solidFill>
                <a:latin typeface="Calibri"/>
              </a:rPr>
              <a:t>bilinear</a:t>
            </a:r>
          </a:p>
        </p:txBody>
      </p:sp>
      <p:pic>
        <p:nvPicPr>
          <p:cNvPr id="16" name="Picture 15" descr="f13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3246120"/>
            <a:ext cx="2377440" cy="33755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434840" y="4023360"/>
            <a:ext cx="1005840" cy="3200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1" i="0">
                <a:solidFill>
                  <a:srgbClr val="F96167"/>
                </a:solidFill>
                <a:latin typeface="Calibri"/>
              </a:rPr>
              <a:t>attention</a:t>
            </a:r>
          </a:p>
        </p:txBody>
      </p:sp>
      <p:pic>
        <p:nvPicPr>
          <p:cNvPr id="18" name="Picture 17" descr="f13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4023360"/>
            <a:ext cx="2377440" cy="34119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434840" y="5303520"/>
            <a:ext cx="329184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1">
                <a:solidFill>
                  <a:srgbClr val="36454F"/>
                </a:solidFill>
                <a:latin typeface="Calibri"/>
              </a:rPr>
              <a:t>kNN sparsification keeps top-k edges per node; dense graphs over-smooth.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737360"/>
            <a:ext cx="3657600" cy="457200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83880" y="1828800"/>
            <a:ext cx="3657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(C) Meta-GNN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2331720"/>
            <a:ext cx="329184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 i="0" dirty="0">
                <a:solidFill>
                  <a:srgbClr val="1E2761"/>
                </a:solidFill>
                <a:latin typeface="Calibri"/>
              </a:rPr>
              <a:t>●  </a:t>
            </a:r>
            <a:r>
              <a:rPr sz="1200" b="0" i="0" dirty="0">
                <a:solidFill>
                  <a:srgbClr val="36454F"/>
                </a:solidFill>
                <a:latin typeface="Calibri"/>
              </a:rPr>
              <a:t>2-layer weighted GCN.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 i="0" dirty="0">
                <a:solidFill>
                  <a:srgbClr val="1E2761"/>
                </a:solidFill>
                <a:latin typeface="Calibri"/>
              </a:rPr>
              <a:t>●  </a:t>
            </a:r>
            <a:r>
              <a:rPr sz="1200" b="0" i="0" dirty="0">
                <a:solidFill>
                  <a:srgbClr val="36454F"/>
                </a:solidFill>
                <a:latin typeface="Calibri"/>
              </a:rPr>
              <a:t>support:  [</a:t>
            </a:r>
            <a:r>
              <a:rPr sz="1200" b="0" i="0" dirty="0" err="1">
                <a:solidFill>
                  <a:srgbClr val="36454F"/>
                </a:solidFill>
                <a:latin typeface="Calibri"/>
              </a:rPr>
              <a:t>h_i</a:t>
            </a:r>
            <a:r>
              <a:rPr sz="1200" b="0" i="0" dirty="0">
                <a:solidFill>
                  <a:srgbClr val="36454F"/>
                </a:solidFill>
                <a:latin typeface="Calibri"/>
              </a:rPr>
              <a:t> ; one-hot(y)]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 i="0" dirty="0">
                <a:solidFill>
                  <a:srgbClr val="1E2761"/>
                </a:solidFill>
                <a:latin typeface="Calibri"/>
              </a:rPr>
              <a:t>●  </a:t>
            </a:r>
            <a:r>
              <a:rPr sz="1200" b="0" i="0" dirty="0">
                <a:solidFill>
                  <a:srgbClr val="36454F"/>
                </a:solidFill>
                <a:latin typeface="Calibri"/>
              </a:rPr>
              <a:t>query:    [</a:t>
            </a:r>
            <a:r>
              <a:rPr sz="1200" b="0" i="0" dirty="0" err="1">
                <a:solidFill>
                  <a:srgbClr val="36454F"/>
                </a:solidFill>
                <a:latin typeface="Calibri"/>
              </a:rPr>
              <a:t>h_i</a:t>
            </a:r>
            <a:r>
              <a:rPr sz="1200" b="0" i="0" dirty="0">
                <a:solidFill>
                  <a:srgbClr val="36454F"/>
                </a:solidFill>
                <a:latin typeface="Calibri"/>
              </a:rPr>
              <a:t> ; 0]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 i="0" dirty="0">
                <a:solidFill>
                  <a:srgbClr val="1E2761"/>
                </a:solidFill>
                <a:latin typeface="Calibri"/>
              </a:rPr>
              <a:t>●  </a:t>
            </a:r>
            <a:r>
              <a:rPr sz="1200" b="0" i="0" dirty="0">
                <a:solidFill>
                  <a:srgbClr val="36454F"/>
                </a:solidFill>
                <a:latin typeface="Calibri"/>
              </a:rPr>
              <a:t>Labels diffuse along edges.</a:t>
            </a:r>
          </a:p>
        </p:txBody>
      </p:sp>
      <p:pic>
        <p:nvPicPr>
          <p:cNvPr id="23" name="Picture 22" descr="f14_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3880" y="4937760"/>
            <a:ext cx="3291840" cy="4673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783080" cy="32004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 i="0">
                <a:solidFill>
                  <a:srgbClr val="1E2761"/>
                </a:solidFill>
                <a:latin typeface="Calibri"/>
              </a:rPr>
              <a:t>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Prototype Head &amp; Iterative Refinement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888A90"/>
                </a:solidFill>
                <a:latin typeface="Calibri"/>
              </a:rPr>
              <a:t>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1">
                <a:solidFill>
                  <a:srgbClr val="888A90"/>
                </a:solidFill>
                <a:latin typeface="Calibri"/>
              </a:rPr>
              <a:t>Graph-of-Shots · Few-Shot Molecular Graph Classification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11185855" cy="1005840"/>
          </a:xfrm>
          <a:prstGeom prst="round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" rIns="228600" bIns="27432" rtlCol="0" anchor="ctr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PITFALL WE FELL INTO</a:t>
            </a:r>
          </a:p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A shared Linear(d, N-way) head collapses to ~0.50 AUC. Class index '0' means a different assay every episode → contradictory supervision.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731520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●  </a:t>
            </a:r>
            <a:r>
              <a:rPr sz="1400" b="0" i="0">
                <a:solidFill>
                  <a:srgbClr val="36454F"/>
                </a:solidFill>
                <a:latin typeface="Calibri"/>
              </a:rPr>
              <a:t>Fix: compute prototypes from META-GNN outputs of support nodes.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0" i="0">
                <a:solidFill>
                  <a:srgbClr val="888A90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36454F"/>
                </a:solidFill>
                <a:latin typeface="Calibri"/>
              </a:rPr>
              <a:t>Classify queries by negative Euclidean distance.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●  </a:t>
            </a:r>
            <a:r>
              <a:rPr sz="1400" b="0" i="0">
                <a:solidFill>
                  <a:srgbClr val="36454F"/>
                </a:solidFill>
                <a:latin typeface="Calibri"/>
              </a:rPr>
              <a:t>No per-class parameters → episode-agnostic (ProtoNet-style).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●  </a:t>
            </a:r>
            <a:r>
              <a:rPr sz="1400" b="0" i="0">
                <a:solidFill>
                  <a:srgbClr val="36454F"/>
                </a:solidFill>
                <a:latin typeface="Calibri"/>
              </a:rPr>
              <a:t>Iterative refinement: R rounds of (affinity → kNN → meta-GNN).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0" i="0">
                <a:solidFill>
                  <a:srgbClr val="888A90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36454F"/>
                </a:solidFill>
                <a:latin typeface="Calibri"/>
              </a:rPr>
              <a:t>Label one-hot re-injected every round; each round has its own parameters.</a:t>
            </a:r>
          </a:p>
        </p:txBody>
      </p:sp>
      <p:pic>
        <p:nvPicPr>
          <p:cNvPr id="9" name="Picture 8" descr="f1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486400"/>
            <a:ext cx="3840480" cy="545278"/>
          </a:xfrm>
          <a:prstGeom prst="rect">
            <a:avLst/>
          </a:prstGeom>
        </p:spPr>
      </p:pic>
      <p:pic>
        <p:nvPicPr>
          <p:cNvPr id="10" name="Picture 9" descr="f15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5486400"/>
            <a:ext cx="3657600" cy="51931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0" y="3017520"/>
            <a:ext cx="3566160" cy="86868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Round 1</a:t>
            </a:r>
          </a:p>
          <a:p>
            <a:pPr algn="ctr"/>
            <a:r>
              <a:rPr sz="1100" b="0" i="0">
                <a:solidFill>
                  <a:srgbClr val="1E2761"/>
                </a:solidFill>
                <a:latin typeface="Calibri"/>
              </a:rPr>
              <a:t>affinity → kNN → meta-GNN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9875520" y="3904488"/>
            <a:ext cx="274320" cy="237744"/>
          </a:xfrm>
          <a:prstGeom prst="downArrow">
            <a:avLst/>
          </a:prstGeom>
          <a:solidFill>
            <a:srgbClr val="36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29600" y="4160520"/>
            <a:ext cx="3566160" cy="8686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Round 2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affinity → kNN → meta-GNN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783080" cy="32004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 i="0">
                <a:solidFill>
                  <a:srgbClr val="1E2761"/>
                </a:solidFill>
                <a:latin typeface="Calibri"/>
              </a:rPr>
              <a:t>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Episodic Formulation &amp; Task Pool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888A90"/>
                </a:solidFill>
                <a:latin typeface="Calibri"/>
              </a:rPr>
              <a:t>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1">
                <a:solidFill>
                  <a:srgbClr val="888A90"/>
                </a:solidFill>
                <a:latin typeface="Calibri"/>
              </a:rPr>
              <a:t>Graph-of-Shots · Few-Shot Molecular Graph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713232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1" i="0" dirty="0">
                <a:solidFill>
                  <a:srgbClr val="1E2761"/>
                </a:solidFill>
                <a:latin typeface="Calibri"/>
              </a:rPr>
              <a:t>●  </a:t>
            </a:r>
            <a:r>
              <a:rPr sz="1500" b="0" i="0" dirty="0">
                <a:solidFill>
                  <a:srgbClr val="36454F"/>
                </a:solidFill>
                <a:latin typeface="Calibri"/>
              </a:rPr>
              <a:t>Meta-learning: train across many small tasks that simulate few-shot test conditions.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1" i="0" dirty="0">
                <a:solidFill>
                  <a:srgbClr val="1E2761"/>
                </a:solidFill>
                <a:latin typeface="Calibri"/>
              </a:rPr>
              <a:t>●  </a:t>
            </a:r>
            <a:r>
              <a:rPr sz="1500" b="0" i="0" dirty="0">
                <a:solidFill>
                  <a:srgbClr val="36454F"/>
                </a:solidFill>
                <a:latin typeface="Calibri"/>
              </a:rPr>
              <a:t>Split at the TASK level (not molecule level), with strict label </a:t>
            </a:r>
            <a:r>
              <a:rPr sz="1500" b="0" i="0" dirty="0" err="1">
                <a:solidFill>
                  <a:srgbClr val="36454F"/>
                </a:solidFill>
                <a:latin typeface="Calibri"/>
              </a:rPr>
              <a:t>disjointness</a:t>
            </a:r>
            <a:r>
              <a:rPr sz="1500" b="0" i="0" dirty="0">
                <a:solidFill>
                  <a:srgbClr val="36454F"/>
                </a:solidFill>
                <a:latin typeface="Calibri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1" i="0" dirty="0">
                <a:solidFill>
                  <a:srgbClr val="1E2761"/>
                </a:solidFill>
                <a:latin typeface="Calibri"/>
              </a:rPr>
              <a:t>●  </a:t>
            </a:r>
            <a:r>
              <a:rPr sz="1500" b="0" i="0" dirty="0">
                <a:solidFill>
                  <a:srgbClr val="36454F"/>
                </a:solidFill>
                <a:latin typeface="Calibri"/>
              </a:rPr>
              <a:t>Episode τ draws N classes × K support + query set.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1" i="0" dirty="0">
                <a:solidFill>
                  <a:srgbClr val="1E2761"/>
                </a:solidFill>
                <a:latin typeface="Calibri"/>
              </a:rPr>
              <a:t>●  </a:t>
            </a:r>
            <a:r>
              <a:rPr sz="1500" b="0" i="0" dirty="0">
                <a:solidFill>
                  <a:srgbClr val="36454F"/>
                </a:solidFill>
                <a:latin typeface="Calibri"/>
              </a:rPr>
              <a:t>Configs: 5-way 1-shot · 5-way 5-shot · 10-way 5-shot.</a:t>
            </a:r>
          </a:p>
        </p:txBody>
      </p:sp>
      <p:pic>
        <p:nvPicPr>
          <p:cNvPr id="8" name="Picture 7" descr="f0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480560"/>
            <a:ext cx="4572000" cy="649140"/>
          </a:xfrm>
          <a:prstGeom prst="rect">
            <a:avLst/>
          </a:prstGeom>
        </p:spPr>
      </p:pic>
      <p:pic>
        <p:nvPicPr>
          <p:cNvPr id="9" name="Picture 8" descr="f05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394960"/>
            <a:ext cx="3291840" cy="46738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046720" y="1737360"/>
            <a:ext cx="3749039" cy="448056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83879" y="1874519"/>
            <a:ext cx="35661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MERGED TASK POOL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331720"/>
            <a:ext cx="16459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1E2761"/>
                </a:solidFill>
                <a:latin typeface="Calibri"/>
              </a:rPr>
              <a:t>Tox21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2331720"/>
            <a:ext cx="21031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36454F"/>
                </a:solidFill>
                <a:latin typeface="Calibri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788920"/>
            <a:ext cx="16459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1E2761"/>
                </a:solidFill>
                <a:latin typeface="Calibri"/>
              </a:rPr>
              <a:t>ToxCast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2788920"/>
            <a:ext cx="21031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36454F"/>
                </a:solidFill>
                <a:latin typeface="Calibri"/>
              </a:rPr>
              <a:t>617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3246120"/>
            <a:ext cx="16459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1E2761"/>
                </a:solidFill>
                <a:latin typeface="Calibri"/>
              </a:rPr>
              <a:t>MUV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3246120"/>
            <a:ext cx="21031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36454F"/>
                </a:solidFill>
                <a:latin typeface="Calibri"/>
              </a:rPr>
              <a:t>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3703320"/>
            <a:ext cx="16459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1E2761"/>
                </a:solidFill>
                <a:latin typeface="Calibri"/>
              </a:rPr>
              <a:t>SIDER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3703320"/>
            <a:ext cx="21031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36454F"/>
                </a:solidFill>
                <a:latin typeface="Calibri"/>
              </a:rPr>
              <a:t>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4160520"/>
            <a:ext cx="16459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1E2761"/>
                </a:solidFill>
                <a:latin typeface="Calibri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4160520"/>
            <a:ext cx="21031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36454F"/>
                </a:solidFill>
                <a:latin typeface="Calibri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4617720"/>
            <a:ext cx="16459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4617720"/>
            <a:ext cx="21031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36454F"/>
                </a:solidFill>
                <a:latin typeface="Calibri"/>
              </a:rPr>
              <a:t>673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5074920"/>
            <a:ext cx="16459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Split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5074920"/>
            <a:ext cx="21031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36454F"/>
                </a:solidFill>
                <a:latin typeface="Calibri"/>
              </a:rPr>
              <a:t>405 / 134 / 134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783080" cy="32004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 i="0">
                <a:solidFill>
                  <a:srgbClr val="1E2761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Main Results — 1000 meta-test episodes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888A90"/>
                </a:solidFill>
                <a:latin typeface="Calibri"/>
              </a:rPr>
              <a:t>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1">
                <a:solidFill>
                  <a:srgbClr val="888A90"/>
                </a:solidFill>
                <a:latin typeface="Calibri"/>
              </a:rPr>
              <a:t>Graph-of-Shots · Few-Shot Molecular Graph Classification</a:t>
            </a:r>
          </a:p>
        </p:txBody>
      </p:sp>
      <p:pic>
        <p:nvPicPr>
          <p:cNvPr id="7" name="Picture 6" descr="fig2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91640"/>
            <a:ext cx="7589520" cy="423152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21040" y="1737360"/>
            <a:ext cx="3474720" cy="411480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58200" y="1874519"/>
            <a:ext cx="3200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F96167"/>
                </a:solidFill>
                <a:latin typeface="Calibri"/>
              </a:rPr>
              <a:t>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2331720"/>
            <a:ext cx="320040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Calibri"/>
              </a:rPr>
              <a:t>●  </a:t>
            </a:r>
            <a:r>
              <a:rPr sz="1200" b="0" i="0">
                <a:solidFill>
                  <a:srgbClr val="36454F"/>
                </a:solidFill>
                <a:latin typeface="Calibri"/>
              </a:rPr>
              <a:t>ProtoNet strongest: 0.701 @ 5w5s.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Calibri"/>
              </a:rPr>
              <a:t>●  </a:t>
            </a:r>
            <a:r>
              <a:rPr sz="1200" b="0" i="0">
                <a:solidFill>
                  <a:srgbClr val="36454F"/>
                </a:solidFill>
                <a:latin typeface="Calibri"/>
              </a:rPr>
              <a:t>GoS 2nd — +6 pp over MAML.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Calibri"/>
              </a:rPr>
              <a:t>●  </a:t>
            </a:r>
            <a:r>
              <a:rPr sz="1200" b="0" i="0">
                <a:solidFill>
                  <a:srgbClr val="36454F"/>
                </a:solidFill>
                <a:latin typeface="Calibri"/>
              </a:rPr>
              <a:t>MAML ~ chance.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Calibri"/>
              </a:rPr>
              <a:t>●  </a:t>
            </a:r>
            <a:r>
              <a:rPr sz="1200" b="0" i="0">
                <a:solidFill>
                  <a:srgbClr val="36454F"/>
                </a:solidFill>
                <a:latin typeface="Calibri"/>
              </a:rPr>
              <a:t>GoS does NOT yet beat ProtoNet.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35040"/>
            <a:ext cx="11185855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 i="1">
                <a:solidFill>
                  <a:srgbClr val="888A90"/>
                </a:solidFill>
                <a:latin typeface="Calibri"/>
              </a:rPr>
              <a:t>Merged pool: Tox21 + ToxCast + MUV + SIDER, 673 tasks, 405 / 134 / 134 split.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783080" cy="32004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 i="0">
                <a:solidFill>
                  <a:srgbClr val="1E2761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Ablations &amp; Sample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888A90"/>
                </a:solidFill>
                <a:latin typeface="Calibri"/>
              </a:rPr>
              <a:t>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1">
                <a:solidFill>
                  <a:srgbClr val="888A90"/>
                </a:solidFill>
                <a:latin typeface="Calibri"/>
              </a:rPr>
              <a:t>Graph-of-Shots · Few-Shot Molecular Graph Classification</a:t>
            </a:r>
          </a:p>
        </p:txBody>
      </p:sp>
      <p:pic>
        <p:nvPicPr>
          <p:cNvPr id="7" name="Picture 6" descr="fig3_abl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6858000" cy="3130207"/>
          </a:xfrm>
          <a:prstGeom prst="rect">
            <a:avLst/>
          </a:prstGeom>
        </p:spPr>
      </p:pic>
      <p:pic>
        <p:nvPicPr>
          <p:cNvPr id="8" name="Picture 7" descr="fig4_sample_e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645920"/>
            <a:ext cx="4572000" cy="298953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303520"/>
            <a:ext cx="11185855" cy="100584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5394960"/>
            <a:ext cx="11185855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F96167"/>
                </a:solidFill>
                <a:latin typeface="Calibri"/>
              </a:rPr>
              <a:t>KEY 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10728655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1">
                <a:solidFill>
                  <a:srgbClr val="36454F"/>
                </a:solidFill>
                <a:latin typeface="Calibri"/>
              </a:rPr>
              <a:t>Affinity barely matters (≤ 2 pp).    kNN matters a lot — k=3 &gt; k=5 &gt; k=10 &gt; dense (over-smoothing).    Both methods scale with K, but ProtoNet scales faster.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783080" cy="32004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 i="0">
                <a:solidFill>
                  <a:srgbClr val="1E2761"/>
                </a:solidFill>
                <a:latin typeface="Calibr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888A90"/>
                </a:solidFill>
                <a:latin typeface="Calibri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1">
                <a:solidFill>
                  <a:srgbClr val="888A90"/>
                </a:solidFill>
                <a:latin typeface="Calibri"/>
              </a:rPr>
              <a:t>Graph-of-Shots · Few-Shot Molecular Graph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85855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1" i="0" dirty="0">
                <a:solidFill>
                  <a:srgbClr val="1E2761"/>
                </a:solidFill>
                <a:latin typeface="Calibri"/>
              </a:rPr>
              <a:t>●  </a:t>
            </a:r>
            <a:r>
              <a:rPr sz="1500" b="0" i="0" dirty="0">
                <a:solidFill>
                  <a:srgbClr val="36454F"/>
                </a:solidFill>
                <a:latin typeface="Calibri"/>
              </a:rPr>
              <a:t>Few-shot molecular classification has real label-scarcity motivation.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1" i="0" dirty="0">
                <a:solidFill>
                  <a:srgbClr val="1E2761"/>
                </a:solidFill>
                <a:latin typeface="Calibri"/>
              </a:rPr>
              <a:t>●  </a:t>
            </a:r>
            <a:r>
              <a:rPr sz="1500" b="0" i="0" dirty="0">
                <a:solidFill>
                  <a:srgbClr val="36454F"/>
                </a:solidFill>
                <a:latin typeface="Calibri"/>
              </a:rPr>
              <a:t>A clean metric baseline (</a:t>
            </a:r>
            <a:r>
              <a:rPr sz="1500" b="0" i="0" dirty="0" err="1">
                <a:solidFill>
                  <a:srgbClr val="36454F"/>
                </a:solidFill>
                <a:latin typeface="Calibri"/>
              </a:rPr>
              <a:t>ProtoNet</a:t>
            </a:r>
            <a:r>
              <a:rPr sz="1500" b="0" i="0" dirty="0">
                <a:solidFill>
                  <a:srgbClr val="36454F"/>
                </a:solidFill>
                <a:latin typeface="Calibri"/>
              </a:rPr>
              <a:t>) is surprisingly strong on merged </a:t>
            </a:r>
            <a:r>
              <a:rPr sz="1500" b="0" i="0" dirty="0" err="1">
                <a:solidFill>
                  <a:srgbClr val="36454F"/>
                </a:solidFill>
                <a:latin typeface="Calibri"/>
              </a:rPr>
              <a:t>MoleculeNet</a:t>
            </a:r>
            <a:r>
              <a:rPr sz="1500" b="0" i="0" dirty="0">
                <a:solidFill>
                  <a:srgbClr val="36454F"/>
                </a:solidFill>
                <a:latin typeface="Calibri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1" i="0" dirty="0">
                <a:solidFill>
                  <a:srgbClr val="1E2761"/>
                </a:solidFill>
                <a:latin typeface="Calibri"/>
              </a:rPr>
              <a:t>●  </a:t>
            </a:r>
            <a:r>
              <a:rPr sz="1500" b="0" i="0" dirty="0">
                <a:solidFill>
                  <a:srgbClr val="36454F"/>
                </a:solidFill>
                <a:latin typeface="Calibri"/>
              </a:rPr>
              <a:t>Our Graph-of-Shots beats MAML (+6 pp) but falls short of </a:t>
            </a:r>
            <a:r>
              <a:rPr sz="1500" b="0" i="0" dirty="0" err="1">
                <a:solidFill>
                  <a:srgbClr val="36454F"/>
                </a:solidFill>
                <a:latin typeface="Calibri"/>
              </a:rPr>
              <a:t>ProtoNet</a:t>
            </a:r>
            <a:r>
              <a:rPr sz="1500" b="0" i="0" dirty="0">
                <a:solidFill>
                  <a:srgbClr val="36454F"/>
                </a:solidFill>
                <a:latin typeface="Calibri"/>
              </a:rPr>
              <a:t> (−13 pp at 5w5s).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1" i="0" dirty="0">
                <a:solidFill>
                  <a:srgbClr val="1E2761"/>
                </a:solidFill>
                <a:latin typeface="Calibri"/>
              </a:rPr>
              <a:t>●  </a:t>
            </a:r>
            <a:r>
              <a:rPr sz="1500" b="0" i="0" dirty="0">
                <a:solidFill>
                  <a:srgbClr val="36454F"/>
                </a:solidFill>
                <a:latin typeface="Calibri"/>
              </a:rPr>
              <a:t>Diagnosis: GCN over-smoothing destroys a representation </a:t>
            </a:r>
            <a:r>
              <a:rPr sz="1500" b="0" i="0" dirty="0" err="1">
                <a:solidFill>
                  <a:srgbClr val="36454F"/>
                </a:solidFill>
                <a:latin typeface="Calibri"/>
              </a:rPr>
              <a:t>ProtoNet</a:t>
            </a:r>
            <a:r>
              <a:rPr sz="1500" b="0" i="0" dirty="0">
                <a:solidFill>
                  <a:srgbClr val="36454F"/>
                </a:solidFill>
                <a:latin typeface="Calibri"/>
              </a:rPr>
              <a:t> can already classify.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1" i="0" dirty="0">
                <a:solidFill>
                  <a:srgbClr val="1E2761"/>
                </a:solidFill>
                <a:latin typeface="Calibri"/>
              </a:rPr>
              <a:t>●  </a:t>
            </a:r>
            <a:r>
              <a:rPr sz="1500" b="0" i="0" dirty="0">
                <a:solidFill>
                  <a:srgbClr val="36454F"/>
                </a:solidFill>
                <a:latin typeface="Calibri"/>
              </a:rPr>
              <a:t>Fix (v2): residual prototype (safety net) + shallower GAT + bipartite masking +     contrastive loss + SSL pretraining.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1" i="0" dirty="0">
                <a:solidFill>
                  <a:srgbClr val="1E2761"/>
                </a:solidFill>
                <a:latin typeface="Calibri"/>
              </a:rPr>
              <a:t>●  </a:t>
            </a:r>
            <a:r>
              <a:rPr sz="1500" b="0" i="0" dirty="0">
                <a:solidFill>
                  <a:srgbClr val="36454F"/>
                </a:solidFill>
                <a:latin typeface="Calibri"/>
              </a:rPr>
              <a:t>What we learned: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0" i="0" dirty="0">
                <a:solidFill>
                  <a:srgbClr val="888A90"/>
                </a:solidFill>
                <a:latin typeface="Calibri"/>
              </a:rPr>
              <a:t>–  </a:t>
            </a:r>
            <a:r>
              <a:rPr sz="1300" b="0" i="0" dirty="0">
                <a:solidFill>
                  <a:srgbClr val="36454F"/>
                </a:solidFill>
                <a:latin typeface="Calibri"/>
              </a:rPr>
              <a:t>shared classifier heads collapse in episodic training → use prototype heads.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0" i="0" dirty="0">
                <a:solidFill>
                  <a:srgbClr val="888A90"/>
                </a:solidFill>
                <a:latin typeface="Calibri"/>
              </a:rPr>
              <a:t>–  </a:t>
            </a:r>
            <a:r>
              <a:rPr sz="1300" b="0" i="0" dirty="0" err="1">
                <a:solidFill>
                  <a:srgbClr val="36454F"/>
                </a:solidFill>
                <a:latin typeface="Calibri"/>
              </a:rPr>
              <a:t>sparsification</a:t>
            </a:r>
            <a:r>
              <a:rPr sz="1300" b="0" i="0" dirty="0">
                <a:solidFill>
                  <a:srgbClr val="36454F"/>
                </a:solidFill>
                <a:latin typeface="Calibri"/>
              </a:rPr>
              <a:t> &gt; expressivity for meta-graphs (k=3 wins).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0" i="0" dirty="0">
                <a:solidFill>
                  <a:srgbClr val="888A90"/>
                </a:solidFill>
                <a:latin typeface="Calibri"/>
              </a:rPr>
              <a:t>–  </a:t>
            </a:r>
            <a:r>
              <a:rPr sz="1300" b="0" i="0" dirty="0">
                <a:solidFill>
                  <a:srgbClr val="36454F"/>
                </a:solidFill>
                <a:latin typeface="Calibri"/>
              </a:rPr>
              <a:t>when your baseline is 0.70, the bottleneck is usually the encoder, not the head.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34640"/>
            <a:ext cx="12191695" cy="109728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0"/>
            <a:ext cx="11185855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6800" b="1" i="0">
                <a:solidFill>
                  <a:srgbClr val="FFFFFF"/>
                </a:solidFill>
                <a:latin typeface="Calibri"/>
              </a:rPr>
              <a:t>Thank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0"/>
            <a:ext cx="11185855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800" b="0" i="1">
                <a:solidFill>
                  <a:srgbClr val="CADCFC"/>
                </a:solidFill>
                <a:latin typeface="Calibri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120640"/>
            <a:ext cx="11185855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US" sz="1400" b="0" i="1" dirty="0" err="1">
                <a:solidFill>
                  <a:srgbClr val="CADCFC"/>
                </a:solidFill>
                <a:latin typeface="Calibri"/>
              </a:rPr>
              <a:t>GoS</a:t>
            </a:r>
            <a:r>
              <a:rPr lang="en-US" sz="1400" b="0" i="1" dirty="0">
                <a:solidFill>
                  <a:srgbClr val="CADCFC"/>
                </a:solidFill>
                <a:latin typeface="Calibri"/>
              </a:rPr>
              <a:t> Team </a:t>
            </a:r>
            <a:r>
              <a:rPr sz="1400" b="0" i="1" dirty="0">
                <a:solidFill>
                  <a:srgbClr val="CADCFC"/>
                </a:solidFill>
                <a:latin typeface="Calibri"/>
              </a:rPr>
              <a:t>·  University of Virginia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1250</Words>
  <Application>Microsoft Office PowerPoint</Application>
  <PresentationFormat>宽屏</PresentationFormat>
  <Paragraphs>184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Shi, Mingjia (nzh3ru)</cp:lastModifiedBy>
  <cp:revision>4</cp:revision>
  <dcterms:created xsi:type="dcterms:W3CDTF">2013-01-27T09:14:16Z</dcterms:created>
  <dcterms:modified xsi:type="dcterms:W3CDTF">2026-04-21T21:26:56Z</dcterms:modified>
  <cp:category/>
</cp:coreProperties>
</file>