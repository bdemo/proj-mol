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Opening. 15 minutes + 2–3 min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GoS v1 stage by stage with tensor shapes. Input: an episode of N·K support plus Q query molecules. Stage 1, the MPNN encoder produces h_s of shape [N·K, 128] and h_q of [Q, 128]. Stage 2, pairwise affinity gives W of shape [M, M] where M = N·K + Q. Stage 3, kNN keeps top-k edges per node, producing edge_index of shape [2, 2·M·k]. Stage 4, labels are injected: support nodes get [h; one-hot(y)], queries get [h; 0], so z^(0) has shape [M, d + N]. Stage 5, a 2-layer weighted GCN produces z^(L) of [M, 128]. Stage 6, the prototype head: scatter-mean support by class to get [N, 128] prototypes, classify queries by negative Euclidean distance giving logits of [Q, N], softmax to probabilities. End-to-end cross-entropy on query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v2 is five targeted modifications. M5 up top: MolCLR-style SSL pretrain the encoder before episodic training; motivation is that at 0.71 ProtoNet, the encoder is the bottleneck. +2.2 pp. M3 in the middle: drop all edges originating from query nodes since queries have no labels and their messages are pure noise. M2 next to it: one GAT layer replaces two GCN layers because attention's softmax bounds message mass and prevents over-smoothing. M1 on the bottom — the safety net: compute two prototype sets, one from raw encoder, one from meta-GNN, mix with learnable alpha. At alpha equals 1, v2 recovers ProtoNet exactly, so v2 cannot do worse than ProtoNet. Finally M4: a small auxiliary InfoNCE contrastive loss on support-query pairs, λ=0.1, which directly shapes embedding geometry.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3.png"/><Relationship Id="rId8" Type="http://schemas.openxmlformats.org/officeDocument/2006/relationships/image" Target="../media/image19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20.png"/><Relationship Id="rId1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91695" cy="109728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54864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  <a:latin typeface="Calibri"/>
              </a:rPr>
              <a:t>COURSE PROJECT · SPRING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11185855" cy="12801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Graph-of-Shots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11185855" cy="6400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800" b="0" i="1">
                <a:solidFill>
                  <a:srgbClr val="CADCFC"/>
                </a:solidFill>
                <a:latin typeface="Calibri"/>
              </a:rPr>
              <a:t>Few-Shot Molecular Graph Classification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97680"/>
            <a:ext cx="11185855" cy="3657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Team: Wenbo Huang · Junchi Yan · Yiqun Yin · Xinyue Xu · Mingjia Shi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00600"/>
            <a:ext cx="11185855" cy="3657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Speaker: Mingjia Shi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257800"/>
            <a:ext cx="11185855" cy="3657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University of Virginia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6895" y="6309360"/>
            <a:ext cx="3657600" cy="3657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Calibri"/>
              </a:rPr>
              <a:t>Few-Shot Graph Machine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Why Few-Shot Molecular Learning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2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73152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Molecular property prediction is bottlenecked by label scarcity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bioassays typically have only 10² – 10³ labeled molecules, many missing.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Standard supervised GNNs overfit on small data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and fail to generalize across new assays.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Biology itself is inherently few-shot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novel drug targets and emerging toxicity endpoints have a handful of tested compounds.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Our goal: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given K labeled molecules for a brand-new assay, classify the unlabeled rest.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1645920"/>
            <a:ext cx="3474720" cy="201168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737360"/>
            <a:ext cx="3474720" cy="3657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TYPICAL ASSAY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194560"/>
            <a:ext cx="3474720" cy="10058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4600" b="1" i="0">
                <a:solidFill>
                  <a:srgbClr val="1E2761"/>
                </a:solidFill>
                <a:latin typeface="Calibri"/>
              </a:rPr>
              <a:t>10² – 10³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246120"/>
            <a:ext cx="3474720" cy="3657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36454F"/>
                </a:solidFill>
                <a:latin typeface="Calibri"/>
              </a:rPr>
              <a:t>labeled molecules per target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3840480"/>
            <a:ext cx="3474720" cy="18288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3977639"/>
            <a:ext cx="320040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MANY MISSING LABELS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4343400"/>
            <a:ext cx="3200400" cy="11887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Multi-task MoleculeNet assays are sparsely labeled — the few-shot setting is the rule, not the exception.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Problem — Episodic Few-Shot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7132320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Meta-learning: train across many small tasks that simulate few-shot test conditions.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Split at the TASK level, strict label disjointness.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Episode τ draws N classes × K support molecules + query set.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Configs:  5-way 1-shot · 5-way 5-shot · 10-way 5-shot.</a:t>
            </a:r>
          </a:p>
        </p:txBody>
      </p:sp>
      <p:pic>
        <p:nvPicPr>
          <p:cNvPr id="8" name="Picture 7" descr="f05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480560"/>
            <a:ext cx="4572000" cy="649140"/>
          </a:xfrm>
          <a:prstGeom prst="rect">
            <a:avLst/>
          </a:prstGeom>
        </p:spPr>
      </p:pic>
      <p:pic>
        <p:nvPicPr>
          <p:cNvPr id="9" name="Picture 8" descr="f05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394960"/>
            <a:ext cx="3291840" cy="46738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46720" y="1737360"/>
            <a:ext cx="3749039" cy="44805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1874519"/>
            <a:ext cx="3566160" cy="3657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MERGED TASK POOL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331720"/>
            <a:ext cx="164592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Tox21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331720"/>
            <a:ext cx="210312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788920"/>
            <a:ext cx="164592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ToxCast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788920"/>
            <a:ext cx="210312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617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3246120"/>
            <a:ext cx="164592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MUV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3246120"/>
            <a:ext cx="210312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703320"/>
            <a:ext cx="164592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SIDER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3703320"/>
            <a:ext cx="210312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160520"/>
            <a:ext cx="164592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4160520"/>
            <a:ext cx="210312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617720"/>
            <a:ext cx="164592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4617720"/>
            <a:ext cx="210312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36454F"/>
                </a:solidFill>
                <a:latin typeface="Calibri"/>
              </a:rPr>
              <a:t>673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5074920"/>
            <a:ext cx="164592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Split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5074920"/>
            <a:ext cx="210312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36454F"/>
                </a:solidFill>
                <a:latin typeface="Calibri"/>
              </a:rPr>
              <a:t>405 / 134 / 134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Baselines — ProtoNet &amp; FOMAML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4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5486400" cy="45720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5486400" cy="3657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Prototypical Network  (metric-based)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50292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Prototype = mean support embedding per class.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Classify query by nearest prototype.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No persistent per-class parameters.</a:t>
            </a:r>
          </a:p>
        </p:txBody>
      </p:sp>
      <p:pic>
        <p:nvPicPr>
          <p:cNvPr id="10" name="Picture 9" descr="f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069080"/>
            <a:ext cx="3840480" cy="545278"/>
          </a:xfrm>
          <a:prstGeom prst="rect">
            <a:avLst/>
          </a:prstGeom>
        </p:spPr>
      </p:pic>
      <p:pic>
        <p:nvPicPr>
          <p:cNvPr id="11" name="Picture 10" descr="f07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120640"/>
            <a:ext cx="4937760" cy="70107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72200" y="1737360"/>
            <a:ext cx="5486400" cy="45720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874519"/>
            <a:ext cx="5486400" cy="3657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96167"/>
                </a:solidFill>
                <a:latin typeface="Calibri"/>
              </a:rPr>
              <a:t>FOMAML  (adaptation-based)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31720"/>
            <a:ext cx="50292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Learn init θ that adapts in a few SGD steps.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First-order; detach inner loop (PyG-stable).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Meta-gradient from query pass on original θ.</a:t>
            </a:r>
          </a:p>
        </p:txBody>
      </p:sp>
      <p:pic>
        <p:nvPicPr>
          <p:cNvPr id="15" name="Picture 14" descr="f08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069080"/>
            <a:ext cx="4754880" cy="675106"/>
          </a:xfrm>
          <a:prstGeom prst="rect">
            <a:avLst/>
          </a:prstGeom>
        </p:spPr>
      </p:pic>
      <p:pic>
        <p:nvPicPr>
          <p:cNvPr id="16" name="Picture 15" descr="f08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5120640"/>
            <a:ext cx="4754880" cy="6751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 · 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GoS v1 — Pipeline with Dimensions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5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888A90"/>
                </a:solidFill>
                <a:latin typeface="Calibri"/>
              </a:rPr>
              <a:t>M = N·K + Q,   d = 128   (example: N=5, K=5, Q=16  ⇒  M=41)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737360" cy="16916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56232"/>
            <a:ext cx="17373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1E2761"/>
                </a:solidFill>
                <a:latin typeface="Calibri"/>
              </a:rPr>
              <a:t>Episode input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1920240"/>
            <a:ext cx="109728" cy="1097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1920240"/>
            <a:ext cx="109728" cy="1097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25880" y="1920240"/>
            <a:ext cx="109728" cy="1097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00200" y="1920240"/>
            <a:ext cx="109728" cy="10972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74520" y="1920240"/>
            <a:ext cx="109728" cy="10972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77440"/>
            <a:ext cx="1737360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N·K support
+ Q query
molecules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68880" y="1783080"/>
            <a:ext cx="1737360" cy="16916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856232"/>
            <a:ext cx="17373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1E2761"/>
                </a:solidFill>
                <a:latin typeface="Calibri"/>
              </a:rPr>
              <a:t>① Encoder φ</a:t>
            </a:r>
          </a:p>
        </p:txBody>
      </p:sp>
      <p:pic>
        <p:nvPicPr>
          <p:cNvPr id="18" name="Picture 17" descr="flow_enco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377440"/>
            <a:ext cx="1645920" cy="109649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434840" y="1783080"/>
            <a:ext cx="1737360" cy="16916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1856232"/>
            <a:ext cx="17373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1E2761"/>
                </a:solidFill>
                <a:latin typeface="Calibri"/>
              </a:rPr>
              <a:t>② Affinity</a:t>
            </a:r>
          </a:p>
        </p:txBody>
      </p:sp>
      <p:pic>
        <p:nvPicPr>
          <p:cNvPr id="21" name="Picture 20" descr="flow_affin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2377440"/>
            <a:ext cx="1645920" cy="12017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400800" y="1783080"/>
            <a:ext cx="1737360" cy="16916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856232"/>
            <a:ext cx="17373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1E2761"/>
                </a:solidFill>
                <a:latin typeface="Calibri"/>
              </a:rPr>
              <a:t>③ kNN sparsify</a:t>
            </a:r>
          </a:p>
        </p:txBody>
      </p:sp>
      <p:pic>
        <p:nvPicPr>
          <p:cNvPr id="24" name="Picture 23" descr="flow_kn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377440"/>
            <a:ext cx="1645920" cy="23224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8366760" y="1783080"/>
            <a:ext cx="1737360" cy="16916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1856232"/>
            <a:ext cx="17373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1E2761"/>
                </a:solidFill>
                <a:latin typeface="Calibri"/>
              </a:rPr>
              <a:t>④ Inject labels</a:t>
            </a:r>
          </a:p>
        </p:txBody>
      </p:sp>
      <p:pic>
        <p:nvPicPr>
          <p:cNvPr id="27" name="Picture 26" descr="flow_label_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423160"/>
            <a:ext cx="1645920" cy="196146"/>
          </a:xfrm>
          <a:prstGeom prst="rect">
            <a:avLst/>
          </a:prstGeom>
        </p:spPr>
      </p:pic>
      <p:pic>
        <p:nvPicPr>
          <p:cNvPr id="28" name="Picture 27" descr="flow_label_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2834640"/>
            <a:ext cx="1645920" cy="232246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10332720" y="1783080"/>
            <a:ext cx="1737360" cy="16916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0" y="1856232"/>
            <a:ext cx="17373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1E2761"/>
                </a:solidFill>
                <a:latin typeface="Calibri"/>
              </a:rPr>
              <a:t>⑤ Meta-GNN</a:t>
            </a:r>
          </a:p>
        </p:txBody>
      </p:sp>
      <p:pic>
        <p:nvPicPr>
          <p:cNvPr id="31" name="Picture 30" descr="flow_gcn_v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78440" y="2377440"/>
            <a:ext cx="1645920" cy="35039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332720" y="3063240"/>
            <a:ext cx="17373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900" b="0" i="1">
                <a:solidFill>
                  <a:srgbClr val="36454F"/>
                </a:solidFill>
                <a:latin typeface="Calibri"/>
              </a:rPr>
              <a:t>2-layer weighted GCN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2258568" y="2537460"/>
            <a:ext cx="192024" cy="201168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4" name="Right Arrow 33"/>
          <p:cNvSpPr/>
          <p:nvPr/>
        </p:nvSpPr>
        <p:spPr>
          <a:xfrm>
            <a:off x="4224528" y="2537460"/>
            <a:ext cx="192024" cy="201168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5" name="Right Arrow 34"/>
          <p:cNvSpPr/>
          <p:nvPr/>
        </p:nvSpPr>
        <p:spPr>
          <a:xfrm>
            <a:off x="6190488" y="2537460"/>
            <a:ext cx="192024" cy="201168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6" name="Right Arrow 35"/>
          <p:cNvSpPr/>
          <p:nvPr/>
        </p:nvSpPr>
        <p:spPr>
          <a:xfrm>
            <a:off x="8156448" y="2537460"/>
            <a:ext cx="192024" cy="201168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7" name="Right Arrow 36"/>
          <p:cNvSpPr/>
          <p:nvPr/>
        </p:nvSpPr>
        <p:spPr>
          <a:xfrm>
            <a:off x="10122408" y="2537460"/>
            <a:ext cx="192024" cy="201168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84248" y="3520440"/>
            <a:ext cx="77724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Consolas"/>
              </a:rPr>
              <a:t>[atoms, 9]
[bonds, 3]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50208" y="3520440"/>
            <a:ext cx="77724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Consolas"/>
              </a:rPr>
              <a:t>h_s [N·K,128]
h_q [Q,128]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16168" y="3520440"/>
            <a:ext cx="77724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Consolas"/>
              </a:rPr>
              <a:t>W [M,M]
M=N·K+Q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82128" y="3520440"/>
            <a:ext cx="77724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Consolas"/>
              </a:rPr>
              <a:t>edge_index
[2, 2·M·k]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48088" y="3520440"/>
            <a:ext cx="77724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Consolas"/>
              </a:rPr>
              <a:t>z⁽⁰⁾ [M, d+N]
[41, 133]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11091672" y="3474720"/>
            <a:ext cx="219456" cy="274320"/>
          </a:xfrm>
          <a:prstGeom prst="down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6960" y="3794760"/>
            <a:ext cx="25603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Consolas"/>
              </a:rPr>
              <a:t>z⁽ᴸ⁾ [M, 128]  →  z_s, z_q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0" y="4572000"/>
            <a:ext cx="3200400" cy="155448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4645152"/>
            <a:ext cx="320040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1E2761"/>
                </a:solidFill>
                <a:latin typeface="Calibri"/>
              </a:rPr>
              <a:t>⑥ Prototype head</a:t>
            </a:r>
          </a:p>
        </p:txBody>
      </p:sp>
      <p:pic>
        <p:nvPicPr>
          <p:cNvPr id="47" name="Picture 46" descr="flow_prot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0" y="5074920"/>
            <a:ext cx="2834640" cy="626055"/>
          </a:xfrm>
          <a:prstGeom prst="rect">
            <a:avLst/>
          </a:prstGeom>
        </p:spPr>
      </p:pic>
      <p:pic>
        <p:nvPicPr>
          <p:cNvPr id="48" name="Picture 47" descr="flow_logit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0" y="5440680"/>
            <a:ext cx="2834640" cy="399980"/>
          </a:xfrm>
          <a:prstGeom prst="rect">
            <a:avLst/>
          </a:prstGeom>
        </p:spPr>
      </p:pic>
      <p:pic>
        <p:nvPicPr>
          <p:cNvPr id="49" name="Picture 48" descr="flow_softmax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0" y="5760720"/>
            <a:ext cx="2834640" cy="337370"/>
          </a:xfrm>
          <a:prstGeom prst="rect">
            <a:avLst/>
          </a:prstGeom>
        </p:spPr>
      </p:pic>
      <p:sp>
        <p:nvSpPr>
          <p:cNvPr id="50" name="Right Arrow 49"/>
          <p:cNvSpPr/>
          <p:nvPr/>
        </p:nvSpPr>
        <p:spPr>
          <a:xfrm>
            <a:off x="11183112" y="5257800"/>
            <a:ext cx="-4782312" cy="201168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784080" y="4572000"/>
            <a:ext cx="2103120" cy="155448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4645152"/>
            <a:ext cx="210312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1E2761"/>
                </a:solidFill>
                <a:latin typeface="Calibri"/>
              </a:rPr>
              <a:t>Query probs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84080" y="5212080"/>
            <a:ext cx="2103120" cy="8229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1E2761"/>
                </a:solidFill>
                <a:latin typeface="Calibri"/>
              </a:rPr>
              <a:t>p(y|G_q) ∈ R^N
shape [Q, N]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9619488" y="5257800"/>
            <a:ext cx="146304" cy="201168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6172200"/>
            <a:ext cx="11185855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000" b="0" i="1">
                <a:solidFill>
                  <a:srgbClr val="888A90"/>
                </a:solidFill>
                <a:latin typeface="Calibri"/>
              </a:rPr>
              <a:t>All modules trained end-to-end with cross-entropy on query labels.  No per-class parameters anywhere.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 · 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GoS v1 — Why It Fell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6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7315200" cy="32004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7132320" cy="3657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THREE OBSERVATIONS CONVERGE ON THE SAME ROOT CAUSE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86000"/>
            <a:ext cx="694944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Obs. 1 — kNN k = 3 &gt; 5 &gt; 10 &gt; 100 (dense)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100" b="0" i="0">
                <a:solidFill>
                  <a:srgbClr val="36454F"/>
                </a:solidFill>
                <a:latin typeface="Calibri"/>
              </a:rPr>
              <a:t>sparsifying the meta-graph helps; classic GCN over-smoothing signature.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Obs. 2 — ProtoNet 0.716 &gt; GoS v1 0.572 at 5w5s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100" b="0" i="0">
                <a:solidFill>
                  <a:srgbClr val="36454F"/>
                </a:solidFill>
                <a:latin typeface="Calibri"/>
              </a:rPr>
              <a:t>the meta-GNN hurts a representation ProtoNet already classifies well.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Obs. 3 — cosine ≈ bilinear ≈ attention  (Δ &lt; 2 pp)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100" b="0" i="0">
                <a:solidFill>
                  <a:srgbClr val="36454F"/>
                </a:solidFill>
                <a:latin typeface="Calibri"/>
              </a:rPr>
              <a:t>affinity-function expressivity is NOT the bottleneck.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737360"/>
            <a:ext cx="3566160" cy="457200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" bIns="27432"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ROOT CAUSE</a:t>
            </a:r>
          </a:p>
          <a:p>
            <a:pPr algn="l">
              <a:spcBef>
                <a:spcPts val="1000"/>
              </a:spcBef>
            </a:pPr>
            <a:r>
              <a:rPr sz="1300" b="0" i="1">
                <a:solidFill>
                  <a:srgbClr val="FFFFFF"/>
                </a:solidFill>
                <a:latin typeface="Calibri"/>
              </a:rPr>
              <a:t>The meta-GNN replaces the encoder embedding at prototype time; 2-layer GCN over-smoothing destroys the class separability that was already there.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12080"/>
            <a:ext cx="11185855" cy="10972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Diagnosis → the checklist for v2:  protect the encoder signal,  prevent over-smoothing structurally,  strengthen the encoder itself.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 ·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GoS v2 — Five Modifications with Motivations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7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5029200" cy="100584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53312"/>
            <a:ext cx="502920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M5 · SSL pretrain  (before episodic training)</a:t>
            </a:r>
          </a:p>
        </p:txBody>
      </p:sp>
      <p:pic>
        <p:nvPicPr>
          <p:cNvPr id="9" name="Picture 8" descr="flow_ss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4663440" cy="2822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993392"/>
            <a:ext cx="50292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motivation:  baseline already 0.71  →  encoder is the bottleneck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1600200"/>
            <a:ext cx="4572000" cy="3657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00" b="1" i="1">
                <a:solidFill>
                  <a:srgbClr val="F96167"/>
                </a:solidFill>
                <a:latin typeface="Calibri"/>
              </a:rPr>
              <a:t>+2.2 pp  (largest single lever)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1737360" cy="16002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679192"/>
            <a:ext cx="17373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1E2761"/>
                </a:solidFill>
                <a:latin typeface="Calibri"/>
              </a:rPr>
              <a:t>Episode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00400"/>
            <a:ext cx="1737360" cy="5486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000" b="0" i="1">
                <a:solidFill>
                  <a:srgbClr val="1E2761"/>
                </a:solidFill>
                <a:latin typeface="Calibri"/>
              </a:rPr>
              <a:t>N·K support
+ Q query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2606040"/>
            <a:ext cx="1737360" cy="16002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2679192"/>
            <a:ext cx="17373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1E2761"/>
                </a:solidFill>
                <a:latin typeface="Calibri"/>
              </a:rPr>
              <a:t>① Encoder φ</a:t>
            </a:r>
          </a:p>
        </p:txBody>
      </p:sp>
      <p:pic>
        <p:nvPicPr>
          <p:cNvPr id="17" name="Picture 16" descr="flow_enco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3108960"/>
            <a:ext cx="1645920" cy="1096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794760"/>
            <a:ext cx="17373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900" b="0" i="1">
                <a:solidFill>
                  <a:srgbClr val="36454F"/>
                </a:solidFill>
                <a:latin typeface="Calibri"/>
              </a:rPr>
              <a:t>SSL-init from M5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2606040"/>
            <a:ext cx="1737360" cy="16002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2679192"/>
            <a:ext cx="17373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1E2761"/>
                </a:solidFill>
                <a:latin typeface="Calibri"/>
              </a:rPr>
              <a:t>② Affinity+kNN</a:t>
            </a:r>
          </a:p>
        </p:txBody>
      </p:sp>
      <p:pic>
        <p:nvPicPr>
          <p:cNvPr id="21" name="Picture 20" descr="flow_affin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3108960"/>
            <a:ext cx="1645920" cy="12017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400800" y="2606040"/>
            <a:ext cx="1737360" cy="160020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679192"/>
            <a:ext cx="17373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③ M3 · Bipartite</a:t>
            </a:r>
          </a:p>
        </p:txBody>
      </p:sp>
      <p:pic>
        <p:nvPicPr>
          <p:cNvPr id="24" name="Picture 23" descr="flow_bipart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3108960"/>
            <a:ext cx="1645920" cy="1561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3794760"/>
            <a:ext cx="17373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Q-sent msg = noise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66760" y="2606040"/>
            <a:ext cx="1737360" cy="160020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2679192"/>
            <a:ext cx="17373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④ M2 · 1-layer GAT</a:t>
            </a:r>
          </a:p>
        </p:txBody>
      </p:sp>
      <p:pic>
        <p:nvPicPr>
          <p:cNvPr id="28" name="Picture 27" descr="flow_ga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3108960"/>
            <a:ext cx="1645920" cy="14191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366760" y="3794760"/>
            <a:ext cx="17373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softmax: no over-smoothing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32720" y="2606040"/>
            <a:ext cx="1737360" cy="16002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0" y="2679192"/>
            <a:ext cx="17373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1E2761"/>
                </a:solidFill>
                <a:latin typeface="Calibri"/>
              </a:rPr>
              <a:t>Refined z⁽ᴸ⁾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3794760"/>
            <a:ext cx="17373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900" b="0" i="1">
                <a:solidFill>
                  <a:srgbClr val="36454F"/>
                </a:solidFill>
                <a:latin typeface="Calibri"/>
              </a:rPr>
              <a:t>[M, 128]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2258568" y="3314700"/>
            <a:ext cx="192024" cy="201168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4" name="Right Arrow 33"/>
          <p:cNvSpPr/>
          <p:nvPr/>
        </p:nvSpPr>
        <p:spPr>
          <a:xfrm>
            <a:off x="4224528" y="3314700"/>
            <a:ext cx="192024" cy="201168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5" name="Right Arrow 34"/>
          <p:cNvSpPr/>
          <p:nvPr/>
        </p:nvSpPr>
        <p:spPr>
          <a:xfrm>
            <a:off x="6190488" y="3314700"/>
            <a:ext cx="192024" cy="201168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6" name="Right Arrow 35"/>
          <p:cNvSpPr/>
          <p:nvPr/>
        </p:nvSpPr>
        <p:spPr>
          <a:xfrm>
            <a:off x="8156448" y="3314700"/>
            <a:ext cx="192024" cy="201168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7" name="Right Arrow 36"/>
          <p:cNvSpPr/>
          <p:nvPr/>
        </p:nvSpPr>
        <p:spPr>
          <a:xfrm>
            <a:off x="10122408" y="3314700"/>
            <a:ext cx="192024" cy="201168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84248" y="4224528"/>
            <a:ext cx="77724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Consolas"/>
              </a:rPr>
              <a:t>[atoms,9]
[bonds,3]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50208" y="4224528"/>
            <a:ext cx="77724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Consolas"/>
              </a:rPr>
              <a:t>h [M, 128]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16168" y="4224528"/>
            <a:ext cx="77724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Consolas"/>
              </a:rPr>
              <a:t>W [M, M]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82128" y="4224528"/>
            <a:ext cx="77724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Consolas"/>
              </a:rPr>
              <a:t>E_full
[2, 2·M·k]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48088" y="4224528"/>
            <a:ext cx="77724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Consolas"/>
              </a:rPr>
              <a:t>E_kept
[2, 2·N·K·k]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3227832" y="4663440"/>
            <a:ext cx="219456" cy="274320"/>
          </a:xfrm>
          <a:prstGeom prst="down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44" name="Down Arrow 43"/>
          <p:cNvSpPr/>
          <p:nvPr/>
        </p:nvSpPr>
        <p:spPr>
          <a:xfrm>
            <a:off x="11091672" y="4663440"/>
            <a:ext cx="219456" cy="274320"/>
          </a:xfrm>
          <a:prstGeom prst="down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2920" y="4846320"/>
            <a:ext cx="2286000" cy="164592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4919472"/>
            <a:ext cx="228600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1E2761"/>
                </a:solidFill>
                <a:latin typeface="Calibri"/>
              </a:rPr>
              <a:t>c⁽ᵉⁿᶜ⁾_n (from φ)</a:t>
            </a:r>
          </a:p>
        </p:txBody>
      </p:sp>
      <p:pic>
        <p:nvPicPr>
          <p:cNvPr id="47" name="Picture 46" descr="flow_prot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394960"/>
            <a:ext cx="1920240" cy="42410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02920" y="5897880"/>
            <a:ext cx="2286000" cy="5029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replace z⁽ᴸ⁾ with h
[N, 128]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26080" y="4846320"/>
            <a:ext cx="2286000" cy="164592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26080" y="4919472"/>
            <a:ext cx="228600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1E2761"/>
                </a:solidFill>
                <a:latin typeface="Calibri"/>
              </a:rPr>
              <a:t>c⁽ᵍⁿⁿ⁾_n (meta-GNN)</a:t>
            </a:r>
          </a:p>
        </p:txBody>
      </p:sp>
      <p:pic>
        <p:nvPicPr>
          <p:cNvPr id="51" name="Picture 50" descr="flow_prot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08960" y="5394960"/>
            <a:ext cx="1920240" cy="42410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2926080" y="5897880"/>
            <a:ext cx="2286000" cy="5029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uses z⁽ᴸ⁾
[N, 128]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0" y="4846320"/>
            <a:ext cx="2743200" cy="164592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0" y="4919472"/>
            <a:ext cx="274320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M1 · Residual prototype</a:t>
            </a:r>
          </a:p>
        </p:txBody>
      </p:sp>
      <p:pic>
        <p:nvPicPr>
          <p:cNvPr id="55" name="Picture 54" descr="flow_residu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23560" y="5349240"/>
            <a:ext cx="2468880" cy="332558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5486400" y="5806440"/>
            <a:ext cx="2743200" cy="6400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Calibri"/>
              </a:rPr>
              <a:t>α learnable ∈ [0,1]
α → 1  ⇒  ProtoNet (safety net)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2807208" y="5577840"/>
            <a:ext cx="2660904" cy="201168"/>
          </a:xfrm>
          <a:prstGeom prst="rightArrow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58" name="Right Arrow 57"/>
          <p:cNvSpPr/>
          <p:nvPr/>
        </p:nvSpPr>
        <p:spPr>
          <a:xfrm>
            <a:off x="5230368" y="5349240"/>
            <a:ext cx="237744" cy="201168"/>
          </a:xfrm>
          <a:prstGeom prst="rightArrow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503920" y="4846320"/>
            <a:ext cx="1554480" cy="164592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03920" y="4919472"/>
            <a:ext cx="155448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1E2761"/>
                </a:solidFill>
                <a:latin typeface="Calibri"/>
              </a:rPr>
              <a:t>Classify</a:t>
            </a:r>
          </a:p>
        </p:txBody>
      </p:sp>
      <p:pic>
        <p:nvPicPr>
          <p:cNvPr id="61" name="Picture 60" descr="flow_logit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5360" y="5349240"/>
            <a:ext cx="1371600" cy="193539"/>
          </a:xfrm>
          <a:prstGeom prst="rect">
            <a:avLst/>
          </a:prstGeom>
        </p:spPr>
      </p:pic>
      <p:pic>
        <p:nvPicPr>
          <p:cNvPr id="62" name="Picture 61" descr="flow_softmax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95360" y="5760720"/>
            <a:ext cx="1371600" cy="163243"/>
          </a:xfrm>
          <a:prstGeom prst="rect">
            <a:avLst/>
          </a:prstGeom>
        </p:spPr>
      </p:pic>
      <p:sp>
        <p:nvSpPr>
          <p:cNvPr id="63" name="Right Arrow 62"/>
          <p:cNvSpPr/>
          <p:nvPr/>
        </p:nvSpPr>
        <p:spPr>
          <a:xfrm>
            <a:off x="8247888" y="5577840"/>
            <a:ext cx="237744" cy="201168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10332720" y="4846320"/>
            <a:ext cx="1737360" cy="164592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332720" y="4919472"/>
            <a:ext cx="17373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M4 · Total loss</a:t>
            </a:r>
          </a:p>
        </p:txBody>
      </p:sp>
      <p:pic>
        <p:nvPicPr>
          <p:cNvPr id="66" name="Picture 65" descr="flow_total_lo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24160" y="5349240"/>
            <a:ext cx="1554480" cy="219344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0332720" y="5852160"/>
            <a:ext cx="1737360" cy="5486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λ = 0.1 optimal
InfoNCE on S–Q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10076688" y="5577840"/>
            <a:ext cx="237744" cy="201168"/>
          </a:xfrm>
          <a:prstGeom prst="rightArrow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172200"/>
            <a:ext cx="11185855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000" b="0" i="1">
                <a:solidFill>
                  <a:srgbClr val="F96167"/>
                </a:solidFill>
                <a:latin typeface="Calibri"/>
              </a:rPr>
              <a:t>Red = v2 modifications.  M1 lower-bounds v2 by ProtoNet.  Composed v2 + SSL beats ProtoNet by +1.2 – 1.7 pp.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Main Comparison — v2 + SSL beats ProtoNet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8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7" name="Picture 6" descr="fig_v2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7863840" cy="41794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549640" y="1737360"/>
            <a:ext cx="3291840" cy="41148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0" y="1874519"/>
            <a:ext cx="3108960" cy="3657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331720"/>
            <a:ext cx="301752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150" b="0" i="0">
                <a:solidFill>
                  <a:srgbClr val="36454F"/>
                </a:solidFill>
                <a:latin typeface="Calibri"/>
              </a:rPr>
              <a:t>v2 + SSL beats ProtoNet on every config.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950" b="0" i="0">
                <a:solidFill>
                  <a:srgbClr val="36454F"/>
                </a:solidFill>
                <a:latin typeface="Calibri"/>
              </a:rPr>
              <a:t>5w1s:  0.603 vs 0.586  (+1.7 pp)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950" b="0" i="0">
                <a:solidFill>
                  <a:srgbClr val="36454F"/>
                </a:solidFill>
                <a:latin typeface="Calibri"/>
              </a:rPr>
              <a:t>5w5s:  0.728 vs 0.716  (+1.2 pp)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950" b="0" i="0">
                <a:solidFill>
                  <a:srgbClr val="36454F"/>
                </a:solidFill>
                <a:latin typeface="Calibri"/>
              </a:rPr>
              <a:t>10w5s: 0.712 vs 0.700  (+1.2 pp)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150" b="0" i="0">
                <a:solidFill>
                  <a:srgbClr val="36454F"/>
                </a:solidFill>
                <a:latin typeface="Calibri"/>
              </a:rPr>
              <a:t>SSL alone: +2.2 pp on v2.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150" b="0" i="0">
                <a:solidFill>
                  <a:srgbClr val="36454F"/>
                </a:solidFill>
                <a:latin typeface="Calibri"/>
              </a:rPr>
              <a:t>MAML stays near chance.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035040"/>
            <a:ext cx="11185855" cy="3657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888A90"/>
                </a:solidFill>
                <a:latin typeface="Calibri"/>
              </a:rPr>
              <a:t>Merged pool (673 tasks, 405 / 134 / 134 split).  Meta-val AUC at best checkpoint.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Ablations A1 &amp; A2 — Residual  +  Depth × 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9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7" name="Picture 6" descr="fig_v2_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5760720" cy="3906023"/>
          </a:xfrm>
          <a:prstGeom prst="rect">
            <a:avLst/>
          </a:prstGeom>
        </p:spPr>
      </p:pic>
      <p:pic>
        <p:nvPicPr>
          <p:cNvPr id="8" name="Picture 7" descr="fig_v2_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91640"/>
            <a:ext cx="5760720" cy="383873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5486400"/>
            <a:ext cx="11185855" cy="10058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1185855" cy="3657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KEY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3600"/>
            <a:ext cx="10728655" cy="5486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36454F"/>
                </a:solidFill>
                <a:latin typeface="Calibri"/>
              </a:rPr>
              <a:t>A1:  α = 0 collapses to 0.500 — residual is essential;  any α ≥ 0.3 works.    A2:  GAT L = 1 wins — confirms the over-smoothing diagnosis.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Ablations A3 · A4 · A5 — Masking, λ, SSL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10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7" name="Picture 6" descr="fig_v2_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691640"/>
            <a:ext cx="4023360" cy="2538766"/>
          </a:xfrm>
          <a:prstGeom prst="rect">
            <a:avLst/>
          </a:prstGeom>
        </p:spPr>
      </p:pic>
      <p:pic>
        <p:nvPicPr>
          <p:cNvPr id="8" name="Picture 7" descr="fig_v2_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691640"/>
            <a:ext cx="4023360" cy="2619282"/>
          </a:xfrm>
          <a:prstGeom prst="rect">
            <a:avLst/>
          </a:prstGeom>
        </p:spPr>
      </p:pic>
      <p:pic>
        <p:nvPicPr>
          <p:cNvPr id="9" name="Picture 8" descr="fig_v2_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1691640"/>
            <a:ext cx="4023360" cy="252541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5486400"/>
            <a:ext cx="11185855" cy="10058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1185855" cy="36576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943600"/>
            <a:ext cx="10728655" cy="5486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36454F"/>
                </a:solidFill>
                <a:latin typeface="Calibri"/>
              </a:rPr>
              <a:t>A3:  bipartite masking +0.6 pp.    A4:  a tiny λ = 0.1 contrastive loss is enough.    A5:  SSL fine-tune +2.2 pp,  but freezing the encoder is catastrophic (−10 pp).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Takeaways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11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Few-shot molecular classification has real motivation (label scarcity in bioassays).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ProtoNet is a surprisingly strong baseline — starting from a clean metric method saves a lot of pain.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GoS v1 beat MAML but lost to ProtoNet; GCN over-smoothing was the root cause.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GoS v2 (residual prototype + 1-layer GAT + bipartite masking + contrastive loss + SSL)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beats ProtoNet on 5w1s / 5w5s / 10w5s by +1.2 to +1.7 pp.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Biggest two levers: M1 residual prototype (safety net) and M5 SSL pretraining (+2.2 pp).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Transferable lessons: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sparsification &gt; affinity expressivity for meta-graphs,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shared classifier heads collapse under episodic training,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when your baseline is already 0.70, the bottleneck is usually the encoder.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Future work: contrastive-only objective,  text-augmented encoder,  cross-assay meta-transfer.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91695" cy="109728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11185855" cy="10972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68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37560"/>
            <a:ext cx="11185855" cy="5486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2800" b="0" i="1">
                <a:solidFill>
                  <a:srgbClr val="CADCFC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0"/>
            <a:ext cx="11185855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Code:  github.com/BDeMo/proj-mol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937760"/>
            <a:ext cx="11185855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300" b="0" i="0">
                <a:solidFill>
                  <a:srgbClr val="CADCFC"/>
                </a:solidFill>
                <a:latin typeface="Calibri"/>
              </a:rPr>
              <a:t>Team: Wenbo Huang · Junchi Yan · Yiqun Yin · Xinyue Xu · Mingjia Shi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94960"/>
            <a:ext cx="11185855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ctr"/>
            <a:r>
              <a:rPr sz="1400" b="0" i="1">
                <a:solidFill>
                  <a:srgbClr val="CADCFC"/>
                </a:solidFill>
                <a:latin typeface="Calibri"/>
              </a:rPr>
              <a:t>Mingjia Shi  ·  University of Virginia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Snell et al., NeurIPS 2017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1783080"/>
            <a:ext cx="7528255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Prototypical Networks for Few-Shot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31720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Finn et al., ICML 2017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331720"/>
            <a:ext cx="7528255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Model-Agnostic Meta-Learning for Fast Adaptation of Deep Networks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80360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Hu et al., ICLR 2020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2880360"/>
            <a:ext cx="7528255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Strategies for Pre-training Graph Neural Networks  (GIN, GINE)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429000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Wu et al., Chem. Sci. 2018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3429000"/>
            <a:ext cx="7528255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MoleculeNet: A Benchmark for Molecular Machine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977640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Wang et al., Nature MI 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9080" y="3977640"/>
            <a:ext cx="7528255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Molecular Contrastive Learning of Representations via GNNs  (MolCLR)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526280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Veličković et al., ICLR 2018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4526280"/>
            <a:ext cx="7528255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Graph Attention Networks  (GAT)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074920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van den Oord et al., 2018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5074920"/>
            <a:ext cx="7528255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Representation Learning with Contrastive Predictive Coding  (InfoNCE)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