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afternoon — thanks for coming. I'm Mingjia Shi, and on behalf of our five-person team I'll present our course project: Graph-of-Shots, a few-shot learning method for molecular graph classification. I'll spend about 15 minutes walking through the motivation, our approach, the main result, and a few takeaways.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bioassay has only a few hundred labeled molecules. Supervised GNNs overfit and don't transfer. Few-shot is the rule, not the exception. Our goal is to classify the rest given just K labels on a new assay.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Standard episodic meta-learning. We split at the task level — 673 assays from merged MoleculeNet, 405/134/134 train/val/test — and sample N-way K-shot episodes.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baselines. ProtoNet: mean-embedding prototypes, no persistent per-class params — episode-agnostic classifier. FOMAML: first-order MAML, learn a good init that adapts in a few SGD steps. Both use the same GINE encoder we'll introduce on the next slide so the comparison is 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what GoS v1 does, stage by stage. Stage one: the MPNN encoder — three GINEConv layers plus global mean pooling — maps every episode molecule to a 128-d vector. That gives us M = N·K + Q node embeddings.  Stage two: we compute a full M-by-M affinity matrix W from those embeddings using cosine similarity, a bilinear kernel, or scaled dot-product attention.  Stage three: we sparsify — keep only each node's k = 5 strongest outgoing edges — because dense meta-graphs over-smooth and are computationally wasteful.  Stage four: we inject the support labels directly into the node features — support nodes get [h_i ; one-hot(y_i)], query nodes get [h_i ; 0].  Stage five: a two-layer weighted GCN propagates messages along the kNN edges, diffusing support labels to queries.  Stage six: a prototype head — scatter-mean the refined support embeddings per class, then classify queries by negative Euclidean distance to the prototypes. The encoder, the affinity module, and the meta-GNN are all trained jointly end-to-end. No per-class parameters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GoS v1 did not beat ProtoNet — trailed by 13 points at 5w5s. Three independent signals point at the same cause. kNN sparsification monotonically helps. ProtoNet on the bare encoder outperforms v1 — meaning the meta-GNN actively hurts. And changing the affinity kernel barely moves the number. Conclusion: the 2-layer weighted GCN over-smooths the encoder signal that ProtoNet could already separate. This gave us the checklist for v2: safety net, structural over-smoothing fix, stronger encoder.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what v2 does. Same backbone, with five targeted modifications — red boxes. M5 at the top: before we even start episodic training, we pretrain the encoder with MolCLR-style contrastive self-supervision on all 110 000 meta-train molecules. Two random graph augmentations per molecule, InfoNCE objective. This gives phi a strong starting point. M3 inside the pipeline: we mask edges so that query nodes do NOT send messages — supports can refine each other and supports can send messages to queries, but query-originated edges are noise. M2 further along: replace the 2-layer GCN with a 1-layer GAT. Attention is self-normalising, so one hop is enough and over-smoothing is structurally prevented. The bottom row is the key design change, M1: compute TWO prototype sets — one from the raw encoder embeddings, one from the meta-GNN outputs — and mix with a learnable alpha. At alpha equals one, v2 recovers ProtoNet exactly — safety net. Finally, M4 is an auxiliary InfoNCE loss on support-query pairs, added to cross-entropy with a small weight lambda.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main result. v2 plus SSL beats ProtoNet on every episodic configuration: +1.7 pp at 5w1s, +1.2 pp at 5w5s, +1.2 pp at 10w5s. Modest in absolute terms but consistent. SSL alone is responsible for 2.2 of those points. MAML stays at chance.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ablations. A1 sweeps the residual alpha: α=0 drops to chance 0.500, while α in [0.3, 1.0] all sit around 0.72. Exactly the failure we diagnosed. A2 varies meta-GNN depth and type: 1-layer GAT wins at 0.7330. Deeper layers degrade, consistent with over-smoothing.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Remaining three. A3: bipartite masking gives +0.6 over the full meta-graph. A4: lambda 0.1 is the sweet spot for the contrastive auxiliary loss. A5: SSL fine-tune is +2.2, but FREEZING the encoder loses 10 points. Don't freeze.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takeaways. Motivation is real, ProtoNet is a strong starter, v1 lost to over-smoothing, v2 beats ProtoNet by 1-2 points across all three configs, and the two biggest levers are M1 residual and M5 SSL. Three transferable lessons: sparsification over expressivity; never use shared classifier heads in episodic training; at 0.70, the encoder is the bottleneck.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— questions welcome.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References used in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COURSE PROJECT ·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Graph-of-Shots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1185855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0" i="1">
                <a:solidFill>
                  <a:srgbClr val="CADCFC"/>
                </a:solidFill>
                <a:latin typeface="Calibri"/>
              </a:rPr>
              <a:t>Few-Shot Molecular Graph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006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Speaker: Mingjia 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578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University of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6895" y="6309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Calibri"/>
              </a:rPr>
              <a:t>Few-Shot Graph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Why Few-Shot Molecular Learning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7315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Molecular property prediction is bottlenecked by label scarcity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screening assays typically have only 10² – 10³ labeled molecules, many missing.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Standard supervised GNNs overfit on small data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and fail to generalize across new assays.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Biology itself is inherently few-shot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novel drug targets and emerging toxicity endpoints have a handful of tested compounds.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Our goal: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given K labeled molecules for a brand-new assay, classify the unlabeled rest.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645920"/>
            <a:ext cx="3474720" cy="2011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73736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TYPICAL ASSAY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194560"/>
            <a:ext cx="347472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4600" b="1" i="0">
                <a:solidFill>
                  <a:srgbClr val="1E2761"/>
                </a:solidFill>
                <a:latin typeface="Calibri"/>
              </a:rPr>
              <a:t>10² – 10³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2461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labeled molecules per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3840480"/>
            <a:ext cx="3474720" cy="1828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3977639"/>
            <a:ext cx="3200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MANY MISSING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343400"/>
            <a:ext cx="32004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Multi-task MoleculeNet assays are sparsely labeled — the few-shot setting is the rule, not the exception.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Problem — Episodic Few-Shot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713232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Meta-learning: train across many small tasks that simulate few-shot test conditions.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Split at the TASK level, strict label disjointness.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Episode τ draws N classes × K support molecules + query set.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Configs:  5-way 1-shot · 5-way 5-shot · 10-way 5-shot.</a:t>
            </a:r>
          </a:p>
        </p:txBody>
      </p:sp>
      <p:pic>
        <p:nvPicPr>
          <p:cNvPr id="8" name="Picture 7" descr="f0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480560"/>
            <a:ext cx="4572000" cy="649140"/>
          </a:xfrm>
          <a:prstGeom prst="rect">
            <a:avLst/>
          </a:prstGeom>
        </p:spPr>
      </p:pic>
      <p:pic>
        <p:nvPicPr>
          <p:cNvPr id="9" name="Picture 8" descr="f05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394960"/>
            <a:ext cx="3291840" cy="4673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737360"/>
            <a:ext cx="3749039" cy="44805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19"/>
            <a:ext cx="35661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MERGED TASK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31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331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788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788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617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461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MUV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2461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7033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7033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1605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1605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617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617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673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074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Split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5074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405 / 134 / 134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Baselines — ProtoNet &amp; FOMAML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4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5486400" cy="45720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Prototypical Network  (metric-based)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Prototype = mean support embedding per class.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Classify query by nearest prototype.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No persistent per-class parameters.</a:t>
            </a:r>
          </a:p>
        </p:txBody>
      </p:sp>
      <p:pic>
        <p:nvPicPr>
          <p:cNvPr id="10" name="Picture 9" descr="f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069080"/>
            <a:ext cx="3840480" cy="545278"/>
          </a:xfrm>
          <a:prstGeom prst="rect">
            <a:avLst/>
          </a:prstGeom>
        </p:spPr>
      </p:pic>
      <p:pic>
        <p:nvPicPr>
          <p:cNvPr id="11" name="Picture 10" descr="f0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20640"/>
            <a:ext cx="4937760" cy="7010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1737360"/>
            <a:ext cx="54864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FOMAML  (adaptation-based)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Learn init θ that adapts in a few SGD steps.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First-order; detach inner loop (PyG-stable).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Meta-gradient from query pass on original θ.</a:t>
            </a:r>
          </a:p>
        </p:txBody>
      </p:sp>
      <p:pic>
        <p:nvPicPr>
          <p:cNvPr id="15" name="Picture 14" descr="f0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069080"/>
            <a:ext cx="4754880" cy="675106"/>
          </a:xfrm>
          <a:prstGeom prst="rect">
            <a:avLst/>
          </a:prstGeom>
        </p:spPr>
      </p:pic>
      <p:pic>
        <p:nvPicPr>
          <p:cNvPr id="16" name="Picture 15" descr="f0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5120640"/>
            <a:ext cx="4754880" cy="6751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 ·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GoS v1 — What the Pipeline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5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1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554480"/>
            <a:ext cx="11795760" cy="52399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722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Six stages, trained end-to-end with cross-entropy on query predictions. Nodes in the meta-graph are MOLECULES (not atoms).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 ·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GoS v1 — Why It Fell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6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7315200" cy="32004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71323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THREE OBSERVATIONS CONVERGE ON THE SAME ROOT CAUSE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694944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Obs. 1 — kNN k = 3 &gt; 5 &gt; 10 &gt; 100 (dense)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100" b="0" i="0">
                <a:solidFill>
                  <a:srgbClr val="36454F"/>
                </a:solidFill>
                <a:latin typeface="Calibri"/>
              </a:rPr>
              <a:t>sparsifying the meta-graph helps; classic GCN over-smoothing signature.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Obs. 2 — ProtoNet 0.716 &gt; GoS v1 0.572 at 5w5s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100" b="0" i="0">
                <a:solidFill>
                  <a:srgbClr val="36454F"/>
                </a:solidFill>
                <a:latin typeface="Calibri"/>
              </a:rPr>
              <a:t>the meta-GNN hurts a representation ProtoNet already classifies well.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Obs. 3 — cosine ≈ bilinear ≈ attention  (Δ &lt; 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100" b="0" i="0">
                <a:solidFill>
                  <a:srgbClr val="36454F"/>
                </a:solidFill>
                <a:latin typeface="Calibri"/>
              </a:rPr>
              <a:t>affinity-function expressivity is NOT the bottleneck.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737360"/>
            <a:ext cx="3566160" cy="457200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ROOT CAUSE</a:t>
            </a:r>
          </a:p>
          <a:p>
            <a:pPr algn="l">
              <a:spcBef>
                <a:spcPts val="1000"/>
              </a:spcBef>
            </a:pPr>
            <a:r>
              <a:rPr sz="1300" b="0" i="1">
                <a:solidFill>
                  <a:srgbClr val="FFFFFF"/>
                </a:solidFill>
                <a:latin typeface="Calibri"/>
              </a:rPr>
              <a:t>The meta-GNN replaces the encoder embedding at prototype time; 2-layer GCN over-smoothing destroys the class separability that was already there.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12080"/>
            <a:ext cx="11185855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Diagnosis → the checklist for v2:  protect the encoder signal,  prevent over-smoothing structurally,  strengthen the encoder itself.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 ·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GoS v2 — 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7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17320"/>
            <a:ext cx="11795760" cy="64563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30936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F96167"/>
                </a:solidFill>
                <a:latin typeface="Calibri"/>
              </a:rPr>
              <a:t>Red boxes = the five modifications (M1 residual · M2 GAT · M3 bipartite · M4 contrastive · M5 SSL).  At α → 1, v2 recovers ProtoNet exactly.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Main Comparison — v2 + SSL beats ProtoNet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8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7863840" cy="41794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49640" y="1737360"/>
            <a:ext cx="329184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1874519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301752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v2 + SSL beats ProtoNet on every config.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5w1s:  0.603 vs 0.586  (+1.7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5w5s:  0.728 vs 0.716  (+1.2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10w5s: 0.712 vs 0.700  (+1.2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SSL alone: +2.2 pp on v2.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MAML stays near chance.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Merged pool (Tox21 + ToxCast + MUV + SIDER, 673 tasks, 405 / 134 / 134 split).  Meta-val AUC at best checkpoint.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Ablations A1 &amp; A2 — Residual  +  Depth ×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760720" cy="3906023"/>
          </a:xfrm>
          <a:prstGeom prst="rect">
            <a:avLst/>
          </a:prstGeom>
        </p:spPr>
      </p:pic>
      <p:pic>
        <p:nvPicPr>
          <p:cNvPr id="8" name="Picture 7" descr="fig_v2_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91640"/>
            <a:ext cx="5760720" cy="38387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486400"/>
            <a:ext cx="11185855" cy="10058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KEY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36454F"/>
                </a:solidFill>
                <a:latin typeface="Calibri"/>
              </a:rPr>
              <a:t>A1:  α = 0 collapses to 0.500 — residual is essential;  any α ≥ 0.3 works.    A2:  GAT L = 1 wins — confirms the over-smoothing diagnosis.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Ablations A3 · A4 · A5 — Masking, λ, SSL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691640"/>
            <a:ext cx="4023360" cy="2538766"/>
          </a:xfrm>
          <a:prstGeom prst="rect">
            <a:avLst/>
          </a:prstGeom>
        </p:spPr>
      </p:pic>
      <p:pic>
        <p:nvPicPr>
          <p:cNvPr id="8" name="Picture 7" descr="fig_v2_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691640"/>
            <a:ext cx="4023360" cy="2619282"/>
          </a:xfrm>
          <a:prstGeom prst="rect">
            <a:avLst/>
          </a:prstGeom>
        </p:spPr>
      </p:pic>
      <p:pic>
        <p:nvPicPr>
          <p:cNvPr id="9" name="Picture 8" descr="fig_v2_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1691640"/>
            <a:ext cx="4023360" cy="25254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5486400"/>
            <a:ext cx="11185855" cy="10058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4360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36454F"/>
                </a:solidFill>
                <a:latin typeface="Calibri"/>
              </a:rPr>
              <a:t>A3:  bipartite masking +0.6 pp.    A4:  a tiny λ = 0.1 contrastive loss is enough.    A5:  SSL fine-tune +2.2 pp,  but freezing the encoder is catastrophic (−10 pp).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Takeaways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846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Few-shot molecular classification has real motivation (label scarcity in bioassays).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ProtoNet is a surprisingly strong baseline — starting from a clean metric method saves a lot of pain.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GoS v1 beat MAML but lost to ProtoNet; GCN over-smoothing was the root cause.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GoS v2 (residual prototype + 1-layer GAT + bipartite masking + contrastive loss + SSL)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beats ProtoNet on 5w1s / 5w5s / 10w5s by +1.2 to +1.7 pp.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Biggest two levers: M1 residual prototype (safety net) and M5 SSL pretraining (+2.2 pp).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Transferable lessons: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sparsification &gt; affinity expressivity for meta-graphs,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shared classifier heads collapse under episodic training,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when your baseline is already 0.70, the bottleneck is usually the encoder.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Future work: contrastive-only objective,  text-augmented encoder,  cross-assay meta-transfer.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11185855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337560"/>
            <a:ext cx="111858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800" b="0" i="1">
                <a:solidFill>
                  <a:srgbClr val="CADCF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Code:  github.com/BDeMo/proj-mol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3776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300" b="0" i="0">
                <a:solidFill>
                  <a:srgbClr val="CADCFC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9496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 i="1">
                <a:solidFill>
                  <a:srgbClr val="CADCFC"/>
                </a:solidFill>
                <a:latin typeface="Calibri"/>
              </a:rPr>
              <a:t>Mingjia Shi  ·  University of Virginia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82880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Snell et al., NeurIPS 2017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178308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Prototypical Networks for Few-Shot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3172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Finn et al., ICML 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33172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Model-Agnostic Meta-Learning for Fast Adaptation of Deep Networks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036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Hu et al., ICLR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288036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Strategies for Pre-training Graph Neural Networks  (GIN, GINE)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2900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Wu et al., Chem. Sci. 2018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42900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MoleculeNet: A Benchmark for Molecular Machine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Wang et al., Nature MI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80" y="397764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Molecular Contrastive Learning of Representations via GNNs  (MolCLR)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628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Veličković et al., ICLR 2018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452628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Graph Attention Networks  (GAT)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074920"/>
            <a:ext cx="34747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F96167"/>
                </a:solidFill>
                <a:latin typeface="Calibri"/>
              </a:rPr>
              <a:t>van den Oord et al., 2018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9080" y="5074920"/>
            <a:ext cx="75282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1">
                <a:solidFill>
                  <a:srgbClr val="36454F"/>
                </a:solidFill>
                <a:latin typeface="Calibri"/>
              </a:rPr>
              <a:t>Representation Learning with Contrastive Predictive Coding  (InfoNCE)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