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 + 2-3 min Q&amp;A. Focus: motivation, approach, results, takeaways.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stage: label scarcity, supervised fails, few-shot is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Task-level disjoint split; 673 valid tasks across 4 datasets.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ProtoNet: metric-based prototypes. FOMAML: first-order adaptation (PyG-stable).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insight: inter-molecule relations within an episode are a strong signal. A meta-graph lets us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blocks: encoder / affinity / meta-GNN.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prototype head is the lesson of this project — shared Linear collapses, prototypes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comparison. ProtoNet surprisingly strong.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Ablation summary + sample-efficiency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v2: diagnosis (one strip) → 5 modifications (card row) → target (banner). Self-contained.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One-minute recap before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COURSE PROJECT ·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85855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Graph-of-Shots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11185855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0" i="1">
                <a:solidFill>
                  <a:srgbClr val="CADCFC"/>
                </a:solidFill>
                <a:latin typeface="Calibri"/>
              </a:rPr>
              <a:t>Few-Shot Molecular Graph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Team: Wenbo Huang · Junchi Yan · Yiqun Yin · Xinyue Xu · Mingjia 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006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Speaker: Mingjia 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578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University of Virginia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6895" y="630936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Calibri"/>
              </a:rPr>
              <a:t>Few-Shot Graph 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Why Few-Shot Molecular Learning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7315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Molecular property prediction is bottlenecked by label scarcity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screening assays typically have only 10² – 10³ labeled molecules, many missing.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Standard supervised GNNs overfit on small data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and fail to generalize across new assays.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Biology is inherently few-shot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novel drug targets and emerging toxicity endpoints have a handful of tested compounds.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Our goal: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given K labeled molecules for a brand-new assay, classify the unlabeled rest.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645920"/>
            <a:ext cx="3474720" cy="2011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73736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TYPICAL ASSAY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194560"/>
            <a:ext cx="347472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4600" b="1" i="0">
                <a:solidFill>
                  <a:srgbClr val="1E2761"/>
                </a:solidFill>
                <a:latin typeface="Calibri"/>
              </a:rPr>
              <a:t>10² – 10³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2461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labeled molecules per 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3840480"/>
            <a:ext cx="3474720" cy="1828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3977639"/>
            <a:ext cx="3200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MANY MISSING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4343400"/>
            <a:ext cx="32004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Multi-task MoleculeNet assays are sparsely labeled — the few-shot setting is the rule, not the exception.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Episodic Formulation &amp; Task 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3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713232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Meta-learning: train across many small tasks that simulate few-shot test conditions.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Split at the TASK level (not molecule level), with strict label disjointness.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Episode τ draws N classes × K support + query set.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Configs: 5-way 1-shot · 5-way 5-shot · 10-way 5-shot.</a:t>
            </a:r>
          </a:p>
        </p:txBody>
      </p:sp>
      <p:pic>
        <p:nvPicPr>
          <p:cNvPr id="8" name="Picture 7" descr="f0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480560"/>
            <a:ext cx="4572000" cy="649140"/>
          </a:xfrm>
          <a:prstGeom prst="rect">
            <a:avLst/>
          </a:prstGeom>
        </p:spPr>
      </p:pic>
      <p:pic>
        <p:nvPicPr>
          <p:cNvPr id="9" name="Picture 8" descr="f05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394960"/>
            <a:ext cx="3291840" cy="46738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737360"/>
            <a:ext cx="3749039" cy="44805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874519"/>
            <a:ext cx="35661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MERGED TASK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3317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3317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7889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7889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617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461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MUV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2461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7033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SIDER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37033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1605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41605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6177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6177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673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0749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Split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50749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405 / 134 / 134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Baselines — ProtoNet &amp; FOMAML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4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5486400" cy="45720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Prototypical Network  (metric-based)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Prototype = mean support embedding per class.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Classify query by nearest prototype.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No persistent per-class parameters.</a:t>
            </a:r>
          </a:p>
        </p:txBody>
      </p:sp>
      <p:pic>
        <p:nvPicPr>
          <p:cNvPr id="10" name="Picture 9" descr="f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069080"/>
            <a:ext cx="3840480" cy="545278"/>
          </a:xfrm>
          <a:prstGeom prst="rect">
            <a:avLst/>
          </a:prstGeom>
        </p:spPr>
      </p:pic>
      <p:pic>
        <p:nvPicPr>
          <p:cNvPr id="11" name="Picture 10" descr="f0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20640"/>
            <a:ext cx="4937760" cy="70107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1737360"/>
            <a:ext cx="54864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96167"/>
                </a:solidFill>
                <a:latin typeface="Calibri"/>
              </a:rPr>
              <a:t>FOMAML  (adaptation-based)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Learn init θ that adapts in a few SGD steps.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First-order; detach inner loop (PyG-stable).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Meta-gradient from query pass on original θ.</a:t>
            </a:r>
          </a:p>
        </p:txBody>
      </p:sp>
      <p:pic>
        <p:nvPicPr>
          <p:cNvPr id="15" name="Picture 14" descr="f0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069080"/>
            <a:ext cx="4754880" cy="675106"/>
          </a:xfrm>
          <a:prstGeom prst="rect">
            <a:avLst/>
          </a:prstGeom>
        </p:spPr>
      </p:pic>
      <p:pic>
        <p:nvPicPr>
          <p:cNvPr id="16" name="Picture 15" descr="f0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5120640"/>
            <a:ext cx="4754880" cy="6751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Graph-of-Shots —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5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1185855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Baselines embed each molecule IN ISOLATION — but within an episode, structurally similar molecules likely share assay activity.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Our idea: build a task-specific META-GRAPH over episode molecules, and run a GNN on it — support labels propagate to queries.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Encode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MPNN → {h_i}</a:t>
            </a:r>
          </a:p>
        </p:txBody>
      </p:sp>
      <p:sp>
        <p:nvSpPr>
          <p:cNvPr id="9" name="Oval 8"/>
          <p:cNvSpPr/>
          <p:nvPr/>
        </p:nvSpPr>
        <p:spPr>
          <a:xfrm>
            <a:off x="1069314" y="3726180"/>
            <a:ext cx="502920" cy="502920"/>
          </a:xfrm>
          <a:prstGeom prst="ellipse">
            <a:avLst/>
          </a:prstGeom>
          <a:solidFill>
            <a:srgbClr val="1E2761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56917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12949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Affinity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W = g(h_i, h_j)</a:t>
            </a:r>
          </a:p>
        </p:txBody>
      </p:sp>
      <p:sp>
        <p:nvSpPr>
          <p:cNvPr id="12" name="Oval 11"/>
          <p:cNvSpPr/>
          <p:nvPr/>
        </p:nvSpPr>
        <p:spPr>
          <a:xfrm>
            <a:off x="2979343" y="3726180"/>
            <a:ext cx="502920" cy="502920"/>
          </a:xfrm>
          <a:prstGeom prst="ellipse">
            <a:avLst/>
          </a:prstGeom>
          <a:solidFill>
            <a:srgbClr val="F96167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66946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2978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kNN sparsify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top-k edges</a:t>
            </a:r>
          </a:p>
        </p:txBody>
      </p:sp>
      <p:sp>
        <p:nvSpPr>
          <p:cNvPr id="15" name="Oval 14"/>
          <p:cNvSpPr/>
          <p:nvPr/>
        </p:nvSpPr>
        <p:spPr>
          <a:xfrm>
            <a:off x="4889372" y="3726180"/>
            <a:ext cx="502920" cy="502920"/>
          </a:xfrm>
          <a:prstGeom prst="ellipse">
            <a:avLst/>
          </a:prstGeom>
          <a:solidFill>
            <a:srgbClr val="1E2761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76975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3007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Inject labels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one-hot support</a:t>
            </a:r>
          </a:p>
        </p:txBody>
      </p:sp>
      <p:sp>
        <p:nvSpPr>
          <p:cNvPr id="18" name="Oval 17"/>
          <p:cNvSpPr/>
          <p:nvPr/>
        </p:nvSpPr>
        <p:spPr>
          <a:xfrm>
            <a:off x="6799402" y="3726180"/>
            <a:ext cx="502920" cy="502920"/>
          </a:xfrm>
          <a:prstGeom prst="ellipse">
            <a:avLst/>
          </a:prstGeom>
          <a:solidFill>
            <a:srgbClr val="F96167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87004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43036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Meta-GNN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weighted GCN</a:t>
            </a:r>
          </a:p>
        </p:txBody>
      </p:sp>
      <p:sp>
        <p:nvSpPr>
          <p:cNvPr id="21" name="Oval 20"/>
          <p:cNvSpPr/>
          <p:nvPr/>
        </p:nvSpPr>
        <p:spPr>
          <a:xfrm>
            <a:off x="8709431" y="3726180"/>
            <a:ext cx="502920" cy="502920"/>
          </a:xfrm>
          <a:prstGeom prst="ellipse">
            <a:avLst/>
          </a:prstGeom>
          <a:solidFill>
            <a:srgbClr val="1E2761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797033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53065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Prototype head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d(z_q, c_n)</a:t>
            </a:r>
          </a:p>
        </p:txBody>
      </p:sp>
      <p:sp>
        <p:nvSpPr>
          <p:cNvPr id="24" name="Oval 23"/>
          <p:cNvSpPr/>
          <p:nvPr/>
        </p:nvSpPr>
        <p:spPr>
          <a:xfrm>
            <a:off x="10619460" y="3726180"/>
            <a:ext cx="502920" cy="502920"/>
          </a:xfrm>
          <a:prstGeom prst="ellipse">
            <a:avLst/>
          </a:prstGeom>
          <a:solidFill>
            <a:srgbClr val="F96167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6126480"/>
            <a:ext cx="11185855" cy="4572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300" b="1" i="1">
                <a:solidFill>
                  <a:srgbClr val="1E2761"/>
                </a:solidFill>
                <a:latin typeface="Calibri"/>
              </a:rPr>
              <a:t>Encoder φ, affinity g, and meta-GNN trained jointly end-to-end.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Method — Encoder, Affinity, Meta-GNN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6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36576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(A) Molecular Encoder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3 × GINEConv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000" b="0" i="0">
                <a:solidFill>
                  <a:srgbClr val="36454F"/>
                </a:solidFill>
                <a:latin typeface="Calibri"/>
              </a:rPr>
              <a:t>BN + ReLU, dropout 0.1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Global mean pool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Linear → d = 128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Edge_attr used (bonds).</a:t>
            </a:r>
          </a:p>
        </p:txBody>
      </p:sp>
      <p:pic>
        <p:nvPicPr>
          <p:cNvPr id="10" name="Picture 9" descr="f1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29200"/>
            <a:ext cx="3291840" cy="43125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1737360"/>
            <a:ext cx="36576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(B) Affinity  w_ij = g(h_i, h_j)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468880"/>
            <a:ext cx="100584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F96167"/>
                </a:solidFill>
                <a:latin typeface="Calibri"/>
              </a:rPr>
              <a:t>cosine</a:t>
            </a:r>
          </a:p>
        </p:txBody>
      </p:sp>
      <p:pic>
        <p:nvPicPr>
          <p:cNvPr id="14" name="Picture 13" descr="f13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468880"/>
            <a:ext cx="2377440" cy="33755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434840" y="3246120"/>
            <a:ext cx="100584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F96167"/>
                </a:solidFill>
                <a:latin typeface="Calibri"/>
              </a:rPr>
              <a:t>bilinear</a:t>
            </a:r>
          </a:p>
        </p:txBody>
      </p:sp>
      <p:pic>
        <p:nvPicPr>
          <p:cNvPr id="16" name="Picture 15" descr="f13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246120"/>
            <a:ext cx="2377440" cy="33755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34840" y="4023360"/>
            <a:ext cx="100584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F96167"/>
                </a:solidFill>
                <a:latin typeface="Calibri"/>
              </a:rPr>
              <a:t>attention</a:t>
            </a:r>
          </a:p>
        </p:txBody>
      </p:sp>
      <p:pic>
        <p:nvPicPr>
          <p:cNvPr id="18" name="Picture 17" descr="f13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023360"/>
            <a:ext cx="2377440" cy="34119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34840" y="530352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kNN sparsification keeps top-k edges per node; dense graphs over-smooth.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737360"/>
            <a:ext cx="36576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(C) Meta-GNN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33172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2-layer weighted GCN.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support:  [h_i ; one-hot(y)]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query:    [h_i ; 0]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Labels diffuse along edges.</a:t>
            </a:r>
          </a:p>
        </p:txBody>
      </p:sp>
      <p:pic>
        <p:nvPicPr>
          <p:cNvPr id="23" name="Picture 22" descr="f14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880" y="4937760"/>
            <a:ext cx="3291840" cy="46738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Prototype Head &amp; Iterative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7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185855" cy="100584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PITFALL WE FELL INTO</a:t>
            </a:r>
          </a:p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A shared Linear(d, N-way) head collapses to ~0.50 AUC. Class index '0' means a different assay every episode → contradictory supervision.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17520"/>
            <a:ext cx="731520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Fix: compute prototypes from META-GNN outputs of support nodes.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Classify queries by negative Euclidean distance.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No per-class parameters → episode-agnostic (ProtoNet-style).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Iterative refinement: R rounds of (affinity → kNN → meta-GNN).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Label one-hot re-injected every round; each round has its own parameters.</a:t>
            </a:r>
          </a:p>
        </p:txBody>
      </p:sp>
      <p:pic>
        <p:nvPicPr>
          <p:cNvPr id="9" name="Picture 8" descr="f1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486400"/>
            <a:ext cx="3840480" cy="545278"/>
          </a:xfrm>
          <a:prstGeom prst="rect">
            <a:avLst/>
          </a:prstGeom>
        </p:spPr>
      </p:pic>
      <p:pic>
        <p:nvPicPr>
          <p:cNvPr id="10" name="Picture 9" descr="f15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486400"/>
            <a:ext cx="3657600" cy="5193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229600" y="3017520"/>
            <a:ext cx="3566160" cy="868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Round 1</a:t>
            </a:r>
          </a:p>
          <a:p>
            <a:pPr algn="ctr"/>
            <a:r>
              <a:rPr sz="1100" b="0" i="0">
                <a:solidFill>
                  <a:srgbClr val="1E2761"/>
                </a:solidFill>
                <a:latin typeface="Calibri"/>
              </a:rPr>
              <a:t>affinity → kNN → meta-GNN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875520" y="3904488"/>
            <a:ext cx="274320" cy="237744"/>
          </a:xfrm>
          <a:prstGeom prst="downArrow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4160520"/>
            <a:ext cx="3566160" cy="8686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Round 2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affinity → kNN → meta-GNN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Main Results — 1000 meta-test episodes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8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2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7589520" cy="423152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737360"/>
            <a:ext cx="3474720" cy="4114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874519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331720"/>
            <a:ext cx="320040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ProtoNet strongest: 0.701 @ 5w5s.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GoS 2nd — +6 pp over MAML.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MAML ~ chance.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GoS does NOT yet beat ProtoNet.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3504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Merged pool: Tox21 + ToxCast + MUV + SIDER, 673 tasks, 405 / 134 / 134 split.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Ablations &amp; Sample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9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3_ab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6858000" cy="3130207"/>
          </a:xfrm>
          <a:prstGeom prst="rect">
            <a:avLst/>
          </a:prstGeom>
        </p:spPr>
      </p:pic>
      <p:pic>
        <p:nvPicPr>
          <p:cNvPr id="8" name="Picture 7" descr="fig4_sample_e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645920"/>
            <a:ext cx="4572000" cy="298953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303520"/>
            <a:ext cx="11185855" cy="10058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6072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36454F"/>
                </a:solidFill>
                <a:latin typeface="Calibri"/>
              </a:rPr>
              <a:t>Affinity barely matters (≤ 2 pp).    kNN matters a lot — k=3 &gt; k=5 &gt; k=10 &gt; dense (over-smoothing).    Both methods scale with K, but ProtoNet scales faster.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GoS v2 — Diagnosis, Five Modifications,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10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185855" cy="100584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k-NN k=3 &gt; 5 &gt; 10 &gt; 100 → over-smoothing.    ProtoNet 0.716 &gt; GoS 0.572 → meta-GNN hurts a good embedding.    Affinity variants differ by &lt; 2 pp → expressivity is not the bottleneck.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0"/>
            <a:ext cx="2149388" cy="59436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58444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Residual
prototype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α c_enc + (1−α) c_gnn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2036" y="2926080"/>
            <a:ext cx="2149388" cy="59436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2036" y="358444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Shallower
meta-GNN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1-layer GAT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1153" y="2926080"/>
            <a:ext cx="2149388" cy="59436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1153" y="358444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Bipartite
messaging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mask query → * edges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0269" y="2926080"/>
            <a:ext cx="2149388" cy="59436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80269" y="358444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Contrastive
aux loss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InfoNCE support–query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39386" y="2926080"/>
            <a:ext cx="2149388" cy="59436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9386" y="358444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SSL
pretraining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MolCLR encoder init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760720"/>
            <a:ext cx="11185855" cy="73152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400" b="1" i="1">
                <a:solidFill>
                  <a:srgbClr val="1E2761"/>
                </a:solidFill>
                <a:latin typeface="Calibri"/>
              </a:rPr>
              <a:t>Safety net: α → 1 recovers ProtoNet.  Composed target: ≥ 0.76 at 5-way 5-shot (≈ +6 pp over ProtoNet).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Few-shot molecular classification has real label-scarcity motivation.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A clean metric baseline (ProtoNet) is surprisingly strong on merged MoleculeNet.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Our Graph-of-Shots beats MAML (+6 pp) but falls short of ProtoNet (−13 pp at 5w5s).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Diagnosis: GCN over-smoothing destroys a representation ProtoNet can already classify.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Fix (v2): residual prototype (safety net) + shallower GAT + bipartite masking +     contrastive loss + SSL pretraining.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What we learned: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shared classifier heads collapse in episodic training → use prototype heads.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sparsification &gt; expressivity for meta-graphs (k=3 wins).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when your baseline is 0.70, the bottleneck is usually the encoder, not the head.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6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111858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800" b="0" i="1">
                <a:solidFill>
                  <a:srgbClr val="CADCFC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Code:  github.com/BDeMo/proj-mol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 i="1">
                <a:solidFill>
                  <a:srgbClr val="CADCFC"/>
                </a:solidFill>
                <a:latin typeface="Calibri"/>
              </a:rPr>
              <a:t>Mingjia Shi  ·  University of Virginia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