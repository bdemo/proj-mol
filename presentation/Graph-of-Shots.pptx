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5" d="100"/>
          <a:sy n="145" d="100"/>
        </p:scale>
        <p:origin x="308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510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 thanks for coming. I'm Mingjia Shi, and on behalf of our five-person team I'll present our course project: Graph-of-Shots, a few-shot learning method for molecular graph classification. I'll spend about 15 minutes walking through the motivation, our approach, the main result — v2 with self-supervised pretraining beats the strongest baseline on all three episodic configurations — and then a few takeaways. Questions at the end are welcome.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motivation is straightforward. A typical bioassay or toxicity endpoint in MoleculeNet has only a few hundred to a few thousand labeled molecules, and most of those rows are missing for most targets. If you train a vanilla GNN on one assay at a time, you overfit, and the weights don't transfer — you'd have to retrain from scratch for each new target. But in drug discovery, new targets with a dozen measured compounds are the rule, not the exception. So we want a model that sees only K labeled molecules for a new assay and classifies the unlabeled rest. That's exactly the few-shot setting.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adopt the standard episodic meta-learning setup. An episode samples N classes and K support examples per class; the model sees support labels and must classify query molecules from the same N classes. Crucially, we split at the task level, not the molecule level — meta-train, meta-val and meta-test share no assays, so evaluation truly measures transfer to unseen chemical contexts. We study three episodic sizes: 5-way 1-shot, 5-way 5-shot, and 10-way 5-shot. For the data, we merge four MoleculeNet benchmarks — Tox21, ToxCast, MUV and SIDER — into a single pool of 110 thousand molecules and 673 binary-classification tasks, split 60 / 20 / 20.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compare against two well-known baselines. On the left, Prototypical Networks: metric-based. For each class you compute a prototype as the mean support embedding, and classify queries by nearest prototype. There are zero persistent per-class parameters — every episode recomputes its own classifier from scratch. That turns out to be exactly the right design for episodic training, and ProtoNet is the baseline we ultimately have to beat. On the right, MAML: adaptation-based. Learn an initialization theta that reaches a task-specific model after a few SGD steps on the support set. We use the first-order variant, FOMAML, because second-order gradients are unstable through some PyTorch Geometric operators. Both baselines use the same GINE encoder we introduce next, so any performance gap is attributable to the meta-learning strategy.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core contribution: Graph-of-Shots. The idea is simple. ProtoNet and MAML embed each molecule in isolation, but within one episode the relations between molecules carry useful signal — structurally similar compounds tend to share assay activity. So we treat each episode as a small graph where molecules are nodes. The pipeline has six stages. Step one, the MPNN encoder produces h-i for every molecule. Step two, we compute pairwise affinities w-i-j. Step three, we sparsify with k-nearest-neighbour — keep the top-k edges per node. Step four, we inject support labels into the node features as one-hot vectors; query nodes get zeros. Step five, a weighted GNN propagates — support labels diffuse to queries along high-affinity edges. Step six, a prototype head classifies queries. The encoder, affinity module, and meta-GNN are trained jointly end-to-end with cross-entropy on query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painful part — GoS v1 did NOT beat ProtoNet. It trailed by about 13 percentage points at 5-way 5-shot. We looked at three ablations to diagnose why. First, sparsifying the kNN graph monotonically helps: k=3 wins, dense loses — that's the textbook signature of GCN over-smoothing. Second, ProtoNet on the bare encoder outperforms GoS v1 — which means the meta-GNN is actively hurting a representation that ProtoNet can already separate. Third, we tried cosine, bilinear, attention as the affinity kernel — they differ by less than 2 points, so the expressivity of g is not the bottleneck. Three independent signals, one root cause: the meta-GNN is over-smoothing away the encoder's good signal, and the prototype head uses ONLY the meta-GNN output. This gave us a clear checklist for v2: we need a safety net to preserve the encoder signal, we need to prevent over-smoothing structurally, and we should make the encoder itself stronger.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v2 design is five targeted modifications, each pointing at one of the diagnosed failure modes. M1, residual prototype: we mix two prototypes with a learnable alpha — one from the raw encoder, one from the meta-GNN. When alpha equals one we recover ProtoNet exactly; when alpha equals zero we recover v1. Alpha is a safety net that guarantees v2 can't do worse than ProtoNet. M2, shallower meta-GNN: one GAT layer instead of two GCN layers. Attention is self-normalising so it doesn't over-smooth, and one hop is enough to reach every support node from every query on a kNN-sparsified graph of forty nodes. M3, bipartite messaging: query nodes have no label, so messages between queries are pure noise — we mask them out, keeping only support-to-support and support-to-query edges. M4, contrastive auxiliary loss: InfoNCE on support-query pairs directly shapes the embedding geometry. And M5, the heavy hitter — MolCLR-style self-supervised pretraining on all hundred thousand meta-train molecules, using two random augmentations per molecule and InfoNCE. Then we initialize the MPNN with those weights and do episodic fine-tuning. Each of the five targets a specific failure mode.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main result. The bar chart shows meta-val ROC-AUC across our three episodic configurations, with five methods each: ProtoNet in blue, MAML in red, v1 in orange, v2 without SSL in green, and v2 plus SSL in teal. Read across: in every configuration, v2 plus SSL is the tallest bar. On 5-way 5-shot, we get 0.728 versus ProtoNet's 0.716 — a 1.2 percentage point improvement. At 10-way 5-shot, also plus 1.2. At 5-way 1-shot — the hardest regime — we get plus 1.7. These gains are modest in absolute terms but consistent and statistically reliable. They confirm our five modifications compose: v2 without SSL is already at parity with ProtoNet, and SSL pretraining alone contributes plus 2.2 points on top. MAML stays at chance throughout — we spent time trying to rescue it but couldn't get the first-order meta-gradient to drive learning in this setup.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ablations on one slide. On the left, A1 — the residual coefficient sweep. When alpha equals zero we use ONLY the meta-GNN output, which is what v1 did, and the AUC collapses to 0.500 — pure chance. This is the exact failure mode we diagnosed. Anything from 0.3 to 1.0 works — the default 0.7 sits near the peak. The takeaway: the residual is not a nice-to-have; it's essential. On the right, A2 — meta-GNN depth and type. Single-layer GAT at 0.7330 is the best cell in the table, while deeper GCNs degrade — confirming the over-smoothing story. Attention's per-node softmax normalization structurally resists the smoothing that stacked GCN layers cause.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remaining three ablations. A3, edge masking: keeping the bipartite-only graph — supports refine each other, supports send messages to queries, and we cut the query-originated edges — gives 0.6 points over a fully-connected meta-graph. A small but consistent win, confirming M3. A4, contrastive weight lambda: the sweet spot is tiny — lambda equals 0.1. A little contrastive shaping complements the cross-entropy nicely; too much and it starts competing. And A5, the big one — self-supervised pretraining. From scratch is 0.7046. Loading the SSL-pretrained encoder and fine-tuning lifts us to 0.7266 — plus 2.2 points, the single biggest gain in v2. But if you FREEZE the encoder after SSL, you drop to 0.6036 — minus 10 points. The moral: SSL gives you a strong starting point, but the encoder still needs to adapt to the episodic objective during meta-training. Never freeze.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Wrapping up with five takeaways, and then a note on future work. One, the motivation is real — label scarcity drives this entire research area. Two, ProtoNet is a strong baseline; starting from a clean metric method saved us a lot of pain. Three, GoS v1 beat MAML but lost to ProtoNet, and the root cause was GCN over-smoothing erasing the encoder signal. Four, GoS v2 — composed from five targeted modifications — beats ProtoNet on all three episodic configurations. Five, the two biggest levers are the residual prototype as a safety net, and self-supervised pretraining for +2.2 points. Three transferable lessons for anyone trying this: sparsification matters more than affinity expressivity for task-level meta-graphs; shared classifier heads collapse under episodic training, so always use prototype or metric heads; and when your baseline is already 0.70, the bottleneck is the encoder. Future directions: contrastive-only objectives, text-augmented encoders using SMILES tokens, and explicit cross-assay transfer.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The full codebase is open-source at github.com/BDeMo/proj-mol, including the parallel experiment runner, the per-log reproduction instructions in docs/, and all figures. I'd like to thank my four teammates — Wenbo, Junchi, Yiqun, and Xinyue — for their work. I'm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cited in the talk. ProtoNet and MAML for the baselines. GIN/GINE and MoleculeNet for the encoder backbone and the data. MolCLR is the inspiration for our self-supervised pretraining. GAT for the attention-based meta-GNN. InfoNCE for the contrastive objective used in both M4 and SSL.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2834640"/>
            <a:ext cx="12191695" cy="109728"/>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TextBox 2"/>
          <p:cNvSpPr txBox="1"/>
          <p:nvPr/>
        </p:nvSpPr>
        <p:spPr>
          <a:xfrm>
            <a:off x="502920" y="548640"/>
            <a:ext cx="5486400" cy="274320"/>
          </a:xfrm>
          <a:prstGeom prst="rect">
            <a:avLst/>
          </a:prstGeom>
          <a:noFill/>
        </p:spPr>
        <p:txBody>
          <a:bodyPr wrap="square" lIns="45720" tIns="27432" rIns="45720" bIns="27432" anchor="t">
            <a:spAutoFit/>
          </a:bodyPr>
          <a:lstStyle/>
          <a:p>
            <a:pPr algn="l"/>
            <a:r>
              <a:rPr sz="1200" b="1" i="0">
                <a:solidFill>
                  <a:srgbClr val="CADCFC"/>
                </a:solidFill>
                <a:latin typeface="Calibri"/>
              </a:rPr>
              <a:t>COURSE PROJECT · SPRING 2026</a:t>
            </a:r>
          </a:p>
        </p:txBody>
      </p:sp>
      <p:sp>
        <p:nvSpPr>
          <p:cNvPr id="4" name="TextBox 3"/>
          <p:cNvSpPr txBox="1"/>
          <p:nvPr/>
        </p:nvSpPr>
        <p:spPr>
          <a:xfrm>
            <a:off x="502920" y="1554480"/>
            <a:ext cx="11185855" cy="1280160"/>
          </a:xfrm>
          <a:prstGeom prst="rect">
            <a:avLst/>
          </a:prstGeom>
          <a:noFill/>
        </p:spPr>
        <p:txBody>
          <a:bodyPr wrap="square" lIns="45720" tIns="27432" rIns="45720" bIns="27432" anchor="t">
            <a:spAutoFit/>
          </a:bodyPr>
          <a:lstStyle/>
          <a:p>
            <a:pPr algn="l"/>
            <a:r>
              <a:rPr sz="6000" b="1" i="0">
                <a:solidFill>
                  <a:srgbClr val="FFFFFF"/>
                </a:solidFill>
                <a:latin typeface="Calibri"/>
              </a:rPr>
              <a:t>Graph-of-Shots</a:t>
            </a:r>
          </a:p>
        </p:txBody>
      </p:sp>
      <p:sp>
        <p:nvSpPr>
          <p:cNvPr id="5" name="TextBox 4"/>
          <p:cNvSpPr txBox="1"/>
          <p:nvPr/>
        </p:nvSpPr>
        <p:spPr>
          <a:xfrm>
            <a:off x="502920" y="3063240"/>
            <a:ext cx="11185855" cy="640080"/>
          </a:xfrm>
          <a:prstGeom prst="rect">
            <a:avLst/>
          </a:prstGeom>
          <a:noFill/>
        </p:spPr>
        <p:txBody>
          <a:bodyPr wrap="square" lIns="45720" tIns="27432" rIns="45720" bIns="27432" anchor="t">
            <a:spAutoFit/>
          </a:bodyPr>
          <a:lstStyle/>
          <a:p>
            <a:pPr algn="l"/>
            <a:r>
              <a:rPr sz="2800" b="0" i="1">
                <a:solidFill>
                  <a:srgbClr val="CADCFC"/>
                </a:solidFill>
                <a:latin typeface="Calibri"/>
              </a:rPr>
              <a:t>Few-Shot Molecular Graph Classification</a:t>
            </a:r>
          </a:p>
        </p:txBody>
      </p:sp>
      <p:sp>
        <p:nvSpPr>
          <p:cNvPr id="6" name="TextBox 5"/>
          <p:cNvSpPr txBox="1"/>
          <p:nvPr/>
        </p:nvSpPr>
        <p:spPr>
          <a:xfrm>
            <a:off x="502920" y="4297680"/>
            <a:ext cx="11185855" cy="365760"/>
          </a:xfrm>
          <a:prstGeom prst="rect">
            <a:avLst/>
          </a:prstGeom>
          <a:noFill/>
        </p:spPr>
        <p:txBody>
          <a:bodyPr wrap="square" lIns="45720" tIns="27432" rIns="45720" bIns="27432" anchor="t">
            <a:spAutoFit/>
          </a:bodyPr>
          <a:lstStyle/>
          <a:p>
            <a:pPr algn="l"/>
            <a:r>
              <a:rPr sz="1600" b="0" i="0">
                <a:solidFill>
                  <a:srgbClr val="FFFFFF"/>
                </a:solidFill>
                <a:latin typeface="Calibri"/>
              </a:rPr>
              <a:t>Team: Wenbo Huang · Junchi Yan · Yiqun Yin · Xinyue Xu · Mingjia Shi</a:t>
            </a:r>
          </a:p>
        </p:txBody>
      </p:sp>
      <p:sp>
        <p:nvSpPr>
          <p:cNvPr id="7" name="TextBox 6"/>
          <p:cNvSpPr txBox="1"/>
          <p:nvPr/>
        </p:nvSpPr>
        <p:spPr>
          <a:xfrm>
            <a:off x="502920" y="4800600"/>
            <a:ext cx="11185855" cy="365760"/>
          </a:xfrm>
          <a:prstGeom prst="rect">
            <a:avLst/>
          </a:prstGeom>
          <a:noFill/>
        </p:spPr>
        <p:txBody>
          <a:bodyPr wrap="square" lIns="45720" tIns="27432" rIns="45720" bIns="27432" anchor="t">
            <a:spAutoFit/>
          </a:bodyPr>
          <a:lstStyle/>
          <a:p>
            <a:pPr algn="l"/>
            <a:r>
              <a:rPr sz="1600" b="1" i="0">
                <a:solidFill>
                  <a:srgbClr val="FFFFFF"/>
                </a:solidFill>
                <a:latin typeface="Calibri"/>
              </a:rPr>
              <a:t>Speaker: Mingjia Shi</a:t>
            </a:r>
          </a:p>
        </p:txBody>
      </p:sp>
      <p:sp>
        <p:nvSpPr>
          <p:cNvPr id="8" name="TextBox 7"/>
          <p:cNvSpPr txBox="1"/>
          <p:nvPr/>
        </p:nvSpPr>
        <p:spPr>
          <a:xfrm>
            <a:off x="502920" y="5257800"/>
            <a:ext cx="11185855" cy="365760"/>
          </a:xfrm>
          <a:prstGeom prst="rect">
            <a:avLst/>
          </a:prstGeom>
          <a:noFill/>
        </p:spPr>
        <p:txBody>
          <a:bodyPr wrap="square" lIns="45720" tIns="27432" rIns="45720" bIns="27432" anchor="t">
            <a:spAutoFit/>
          </a:bodyPr>
          <a:lstStyle/>
          <a:p>
            <a:pPr algn="l"/>
            <a:r>
              <a:rPr sz="1400" b="0" i="1">
                <a:solidFill>
                  <a:srgbClr val="CADCFC"/>
                </a:solidFill>
                <a:latin typeface="Calibri"/>
              </a:rPr>
              <a:t>University of Virginia</a:t>
            </a:r>
          </a:p>
        </p:txBody>
      </p:sp>
      <p:sp>
        <p:nvSpPr>
          <p:cNvPr id="9" name="TextBox 8"/>
          <p:cNvSpPr txBox="1"/>
          <p:nvPr/>
        </p:nvSpPr>
        <p:spPr>
          <a:xfrm>
            <a:off x="8076895" y="6309360"/>
            <a:ext cx="3657600" cy="365760"/>
          </a:xfrm>
          <a:prstGeom prst="rect">
            <a:avLst/>
          </a:prstGeom>
          <a:noFill/>
        </p:spPr>
        <p:txBody>
          <a:bodyPr wrap="square" lIns="45720" tIns="27432" rIns="45720" bIns="27432" anchor="t">
            <a:spAutoFit/>
          </a:bodyPr>
          <a:lstStyle/>
          <a:p>
            <a:pPr algn="r"/>
            <a:r>
              <a:rPr sz="1100" b="0" i="0">
                <a:solidFill>
                  <a:srgbClr val="CADCFC"/>
                </a:solidFill>
                <a:latin typeface="Calibri"/>
              </a:rPr>
              <a:t>Few-Shot Graph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MOTIVATION</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Why Few-Shot Molecular Learning Matters</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2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TextBox 6"/>
          <p:cNvSpPr txBox="1"/>
          <p:nvPr/>
        </p:nvSpPr>
        <p:spPr>
          <a:xfrm>
            <a:off x="502920" y="1600200"/>
            <a:ext cx="7315200" cy="4572000"/>
          </a:xfrm>
          <a:prstGeom prst="rect">
            <a:avLst/>
          </a:prstGeom>
          <a:noFill/>
        </p:spPr>
        <p:txBody>
          <a:bodyPr wrap="square" lIns="45720" rIns="45720">
            <a:spAutoFit/>
          </a:bodyPr>
          <a:lstStyle/>
          <a:p>
            <a:pPr algn="l">
              <a:lnSpc>
                <a:spcPct val="120000"/>
              </a:lnSpc>
              <a:spcAft>
                <a:spcPts val="300"/>
              </a:spcAft>
            </a:pPr>
            <a:r>
              <a:rPr sz="1600" b="1" i="0">
                <a:solidFill>
                  <a:srgbClr val="1E2761"/>
                </a:solidFill>
                <a:latin typeface="Calibri"/>
              </a:rPr>
              <a:t>●  </a:t>
            </a:r>
            <a:r>
              <a:rPr sz="1600" b="0" i="0">
                <a:solidFill>
                  <a:srgbClr val="36454F"/>
                </a:solidFill>
                <a:latin typeface="Calibri"/>
              </a:rPr>
              <a:t>Molecular property prediction is bottlenecked by label scarcity</a:t>
            </a:r>
          </a:p>
          <a:p>
            <a:pPr algn="l">
              <a:lnSpc>
                <a:spcPct val="120000"/>
              </a:lnSpc>
              <a:spcAft>
                <a:spcPts val="300"/>
              </a:spcAft>
            </a:pPr>
            <a:r>
              <a:rPr sz="1400" b="0" i="0">
                <a:solidFill>
                  <a:srgbClr val="888A90"/>
                </a:solidFill>
                <a:latin typeface="Calibri"/>
              </a:rPr>
              <a:t>–  </a:t>
            </a:r>
            <a:r>
              <a:rPr sz="1400" b="0" i="0">
                <a:solidFill>
                  <a:srgbClr val="36454F"/>
                </a:solidFill>
                <a:latin typeface="Calibri"/>
              </a:rPr>
              <a:t>screening assays typically have only 10² – 10³ labeled molecules, many missing.</a:t>
            </a:r>
          </a:p>
          <a:p>
            <a:pPr algn="l">
              <a:lnSpc>
                <a:spcPct val="120000"/>
              </a:lnSpc>
              <a:spcAft>
                <a:spcPts val="300"/>
              </a:spcAft>
            </a:pPr>
            <a:r>
              <a:rPr sz="1600" b="1" i="0">
                <a:solidFill>
                  <a:srgbClr val="1E2761"/>
                </a:solidFill>
                <a:latin typeface="Calibri"/>
              </a:rPr>
              <a:t>●  </a:t>
            </a:r>
            <a:r>
              <a:rPr sz="1600" b="0" i="0">
                <a:solidFill>
                  <a:srgbClr val="36454F"/>
                </a:solidFill>
                <a:latin typeface="Calibri"/>
              </a:rPr>
              <a:t>Standard supervised GNNs overfit on small data</a:t>
            </a:r>
          </a:p>
          <a:p>
            <a:pPr algn="l">
              <a:lnSpc>
                <a:spcPct val="120000"/>
              </a:lnSpc>
              <a:spcAft>
                <a:spcPts val="300"/>
              </a:spcAft>
            </a:pPr>
            <a:r>
              <a:rPr sz="1400" b="0" i="0">
                <a:solidFill>
                  <a:srgbClr val="888A90"/>
                </a:solidFill>
                <a:latin typeface="Calibri"/>
              </a:rPr>
              <a:t>–  </a:t>
            </a:r>
            <a:r>
              <a:rPr sz="1400" b="0" i="0">
                <a:solidFill>
                  <a:srgbClr val="36454F"/>
                </a:solidFill>
                <a:latin typeface="Calibri"/>
              </a:rPr>
              <a:t>and fail to generalize across new assays.</a:t>
            </a:r>
          </a:p>
          <a:p>
            <a:pPr algn="l">
              <a:lnSpc>
                <a:spcPct val="120000"/>
              </a:lnSpc>
              <a:spcAft>
                <a:spcPts val="300"/>
              </a:spcAft>
            </a:pPr>
            <a:r>
              <a:rPr sz="1600" b="1" i="0">
                <a:solidFill>
                  <a:srgbClr val="1E2761"/>
                </a:solidFill>
                <a:latin typeface="Calibri"/>
              </a:rPr>
              <a:t>●  </a:t>
            </a:r>
            <a:r>
              <a:rPr sz="1600" b="0" i="0">
                <a:solidFill>
                  <a:srgbClr val="36454F"/>
                </a:solidFill>
                <a:latin typeface="Calibri"/>
              </a:rPr>
              <a:t>Biology itself is inherently few-shot</a:t>
            </a:r>
          </a:p>
          <a:p>
            <a:pPr algn="l">
              <a:lnSpc>
                <a:spcPct val="120000"/>
              </a:lnSpc>
              <a:spcAft>
                <a:spcPts val="300"/>
              </a:spcAft>
            </a:pPr>
            <a:r>
              <a:rPr sz="1400" b="0" i="0">
                <a:solidFill>
                  <a:srgbClr val="888A90"/>
                </a:solidFill>
                <a:latin typeface="Calibri"/>
              </a:rPr>
              <a:t>–  </a:t>
            </a:r>
            <a:r>
              <a:rPr sz="1400" b="0" i="0">
                <a:solidFill>
                  <a:srgbClr val="36454F"/>
                </a:solidFill>
                <a:latin typeface="Calibri"/>
              </a:rPr>
              <a:t>novel drug targets and emerging toxicity endpoints have a handful of tested compounds.</a:t>
            </a:r>
          </a:p>
          <a:p>
            <a:pPr algn="l">
              <a:lnSpc>
                <a:spcPct val="120000"/>
              </a:lnSpc>
              <a:spcAft>
                <a:spcPts val="300"/>
              </a:spcAft>
            </a:pPr>
            <a:r>
              <a:rPr sz="1600" b="1" i="0">
                <a:solidFill>
                  <a:srgbClr val="1E2761"/>
                </a:solidFill>
                <a:latin typeface="Calibri"/>
              </a:rPr>
              <a:t>●  </a:t>
            </a:r>
            <a:r>
              <a:rPr sz="1600" b="0" i="0">
                <a:solidFill>
                  <a:srgbClr val="36454F"/>
                </a:solidFill>
                <a:latin typeface="Calibri"/>
              </a:rPr>
              <a:t>Our goal:</a:t>
            </a:r>
          </a:p>
          <a:p>
            <a:pPr algn="l">
              <a:lnSpc>
                <a:spcPct val="120000"/>
              </a:lnSpc>
              <a:spcAft>
                <a:spcPts val="300"/>
              </a:spcAft>
            </a:pPr>
            <a:r>
              <a:rPr sz="1400" b="0" i="0">
                <a:solidFill>
                  <a:srgbClr val="888A90"/>
                </a:solidFill>
                <a:latin typeface="Calibri"/>
              </a:rPr>
              <a:t>–  </a:t>
            </a:r>
            <a:r>
              <a:rPr sz="1400" b="0" i="0">
                <a:solidFill>
                  <a:srgbClr val="36454F"/>
                </a:solidFill>
                <a:latin typeface="Calibri"/>
              </a:rPr>
              <a:t>given K labeled molecules for a brand-new assay, classify the unlabeled rest.</a:t>
            </a:r>
          </a:p>
        </p:txBody>
      </p:sp>
      <p:sp>
        <p:nvSpPr>
          <p:cNvPr id="8" name="Rounded Rectangle 7"/>
          <p:cNvSpPr/>
          <p:nvPr/>
        </p:nvSpPr>
        <p:spPr>
          <a:xfrm>
            <a:off x="8321040" y="1645920"/>
            <a:ext cx="3474720" cy="201168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9" name="TextBox 8"/>
          <p:cNvSpPr txBox="1"/>
          <p:nvPr/>
        </p:nvSpPr>
        <p:spPr>
          <a:xfrm>
            <a:off x="8321040" y="1737360"/>
            <a:ext cx="3474720" cy="365760"/>
          </a:xfrm>
          <a:prstGeom prst="rect">
            <a:avLst/>
          </a:prstGeom>
          <a:noFill/>
        </p:spPr>
        <p:txBody>
          <a:bodyPr wrap="square" lIns="45720" tIns="27432" rIns="45720" bIns="27432" anchor="t">
            <a:spAutoFit/>
          </a:bodyPr>
          <a:lstStyle/>
          <a:p>
            <a:pPr algn="ctr"/>
            <a:r>
              <a:rPr sz="1200" b="1" i="0">
                <a:solidFill>
                  <a:srgbClr val="1E2761"/>
                </a:solidFill>
                <a:latin typeface="Calibri"/>
              </a:rPr>
              <a:t>TYPICAL ASSAY SIZE</a:t>
            </a:r>
          </a:p>
        </p:txBody>
      </p:sp>
      <p:sp>
        <p:nvSpPr>
          <p:cNvPr id="10" name="TextBox 9"/>
          <p:cNvSpPr txBox="1"/>
          <p:nvPr/>
        </p:nvSpPr>
        <p:spPr>
          <a:xfrm>
            <a:off x="8321040" y="2194560"/>
            <a:ext cx="3474720" cy="1005840"/>
          </a:xfrm>
          <a:prstGeom prst="rect">
            <a:avLst/>
          </a:prstGeom>
          <a:noFill/>
        </p:spPr>
        <p:txBody>
          <a:bodyPr wrap="square" lIns="45720" tIns="27432" rIns="45720" bIns="27432" anchor="ctr">
            <a:spAutoFit/>
          </a:bodyPr>
          <a:lstStyle/>
          <a:p>
            <a:pPr algn="ctr"/>
            <a:r>
              <a:rPr sz="4600" b="1" i="0">
                <a:solidFill>
                  <a:srgbClr val="1E2761"/>
                </a:solidFill>
                <a:latin typeface="Calibri"/>
              </a:rPr>
              <a:t>10² – 10³</a:t>
            </a:r>
          </a:p>
        </p:txBody>
      </p:sp>
      <p:sp>
        <p:nvSpPr>
          <p:cNvPr id="11" name="TextBox 10"/>
          <p:cNvSpPr txBox="1"/>
          <p:nvPr/>
        </p:nvSpPr>
        <p:spPr>
          <a:xfrm>
            <a:off x="8321040" y="3246120"/>
            <a:ext cx="3474720" cy="365760"/>
          </a:xfrm>
          <a:prstGeom prst="rect">
            <a:avLst/>
          </a:prstGeom>
          <a:noFill/>
        </p:spPr>
        <p:txBody>
          <a:bodyPr wrap="square" lIns="45720" tIns="27432" rIns="45720" bIns="27432" anchor="t">
            <a:spAutoFit/>
          </a:bodyPr>
          <a:lstStyle/>
          <a:p>
            <a:pPr algn="ctr"/>
            <a:r>
              <a:rPr sz="1100" b="0" i="1">
                <a:solidFill>
                  <a:srgbClr val="36454F"/>
                </a:solidFill>
                <a:latin typeface="Calibri"/>
              </a:rPr>
              <a:t>labeled molecules per target</a:t>
            </a:r>
          </a:p>
        </p:txBody>
      </p:sp>
      <p:sp>
        <p:nvSpPr>
          <p:cNvPr id="12" name="Rounded Rectangle 11"/>
          <p:cNvSpPr/>
          <p:nvPr/>
        </p:nvSpPr>
        <p:spPr>
          <a:xfrm>
            <a:off x="8321040" y="3840480"/>
            <a:ext cx="3474720" cy="18288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3" name="TextBox 12"/>
          <p:cNvSpPr txBox="1"/>
          <p:nvPr/>
        </p:nvSpPr>
        <p:spPr>
          <a:xfrm>
            <a:off x="8458200" y="3977639"/>
            <a:ext cx="3200400" cy="320040"/>
          </a:xfrm>
          <a:prstGeom prst="rect">
            <a:avLst/>
          </a:prstGeom>
          <a:noFill/>
        </p:spPr>
        <p:txBody>
          <a:bodyPr wrap="square" lIns="45720" tIns="27432" rIns="45720" bIns="27432" anchor="t">
            <a:spAutoFit/>
          </a:bodyPr>
          <a:lstStyle/>
          <a:p>
            <a:pPr algn="l"/>
            <a:r>
              <a:rPr sz="1100" b="1" i="0">
                <a:solidFill>
                  <a:srgbClr val="1E2761"/>
                </a:solidFill>
                <a:latin typeface="Calibri"/>
              </a:rPr>
              <a:t>MANY MISSING LABELS</a:t>
            </a:r>
          </a:p>
        </p:txBody>
      </p:sp>
      <p:sp>
        <p:nvSpPr>
          <p:cNvPr id="14" name="TextBox 13"/>
          <p:cNvSpPr txBox="1"/>
          <p:nvPr/>
        </p:nvSpPr>
        <p:spPr>
          <a:xfrm>
            <a:off x="8458200" y="4343400"/>
            <a:ext cx="3200400" cy="1188720"/>
          </a:xfrm>
          <a:prstGeom prst="rect">
            <a:avLst/>
          </a:prstGeom>
          <a:noFill/>
        </p:spPr>
        <p:txBody>
          <a:bodyPr wrap="square" lIns="45720" tIns="27432" rIns="45720" bIns="27432" anchor="t">
            <a:spAutoFit/>
          </a:bodyPr>
          <a:lstStyle/>
          <a:p>
            <a:pPr algn="l"/>
            <a:r>
              <a:rPr sz="1100" b="0" i="1">
                <a:solidFill>
                  <a:srgbClr val="36454F"/>
                </a:solidFill>
                <a:latin typeface="Calibri"/>
              </a:rPr>
              <a:t>Multi-task MoleculeNet assays are sparsely labeled — the few-shot setting is the rule, not the exception.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APPROACH</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Problem — Episodic Few-Shot Classification</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3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TextBox 6"/>
          <p:cNvSpPr txBox="1"/>
          <p:nvPr/>
        </p:nvSpPr>
        <p:spPr>
          <a:xfrm>
            <a:off x="502920" y="1737360"/>
            <a:ext cx="7132320" cy="2926080"/>
          </a:xfrm>
          <a:prstGeom prst="rect">
            <a:avLst/>
          </a:prstGeom>
          <a:noFill/>
        </p:spPr>
        <p:txBody>
          <a:bodyPr wrap="square" lIns="45720" rIns="45720">
            <a:spAutoFit/>
          </a:bodyPr>
          <a:lstStyle/>
          <a:p>
            <a:pPr algn="l">
              <a:lnSpc>
                <a:spcPct val="120000"/>
              </a:lnSpc>
              <a:spcAft>
                <a:spcPts val="300"/>
              </a:spcAft>
            </a:pPr>
            <a:r>
              <a:rPr sz="1500" b="1" i="0">
                <a:solidFill>
                  <a:srgbClr val="1E2761"/>
                </a:solidFill>
                <a:latin typeface="Calibri"/>
              </a:rPr>
              <a:t>●  </a:t>
            </a:r>
            <a:r>
              <a:rPr sz="1500" b="0" i="0">
                <a:solidFill>
                  <a:srgbClr val="36454F"/>
                </a:solidFill>
                <a:latin typeface="Calibri"/>
              </a:rPr>
              <a:t>Meta-learning: train across many small tasks that simulate few-shot test conditions.</a:t>
            </a:r>
          </a:p>
          <a:p>
            <a:pPr algn="l">
              <a:lnSpc>
                <a:spcPct val="120000"/>
              </a:lnSpc>
              <a:spcAft>
                <a:spcPts val="300"/>
              </a:spcAft>
            </a:pPr>
            <a:r>
              <a:rPr sz="1500" b="1" i="0">
                <a:solidFill>
                  <a:srgbClr val="1E2761"/>
                </a:solidFill>
                <a:latin typeface="Calibri"/>
              </a:rPr>
              <a:t>●  </a:t>
            </a:r>
            <a:r>
              <a:rPr sz="1500" b="0" i="0">
                <a:solidFill>
                  <a:srgbClr val="36454F"/>
                </a:solidFill>
                <a:latin typeface="Calibri"/>
              </a:rPr>
              <a:t>Split at the TASK level (not molecule level), strict label disjointness.</a:t>
            </a:r>
          </a:p>
          <a:p>
            <a:pPr algn="l">
              <a:lnSpc>
                <a:spcPct val="120000"/>
              </a:lnSpc>
              <a:spcAft>
                <a:spcPts val="300"/>
              </a:spcAft>
            </a:pPr>
            <a:r>
              <a:rPr sz="1500" b="1" i="0">
                <a:solidFill>
                  <a:srgbClr val="1E2761"/>
                </a:solidFill>
                <a:latin typeface="Calibri"/>
              </a:rPr>
              <a:t>●  </a:t>
            </a:r>
            <a:r>
              <a:rPr sz="1500" b="0" i="0">
                <a:solidFill>
                  <a:srgbClr val="36454F"/>
                </a:solidFill>
                <a:latin typeface="Calibri"/>
              </a:rPr>
              <a:t>Episode τ draws N classes × K support molecules + query set.</a:t>
            </a:r>
          </a:p>
          <a:p>
            <a:pPr algn="l">
              <a:lnSpc>
                <a:spcPct val="120000"/>
              </a:lnSpc>
              <a:spcAft>
                <a:spcPts val="300"/>
              </a:spcAft>
            </a:pPr>
            <a:r>
              <a:rPr sz="1500" b="1" i="0">
                <a:solidFill>
                  <a:srgbClr val="1E2761"/>
                </a:solidFill>
                <a:latin typeface="Calibri"/>
              </a:rPr>
              <a:t>●  </a:t>
            </a:r>
            <a:r>
              <a:rPr sz="1500" b="0" i="0">
                <a:solidFill>
                  <a:srgbClr val="36454F"/>
                </a:solidFill>
                <a:latin typeface="Calibri"/>
              </a:rPr>
              <a:t>Configs we study:  5-way 1-shot · 5-way 5-shot · 10-way 5-shot.</a:t>
            </a:r>
          </a:p>
        </p:txBody>
      </p:sp>
      <p:pic>
        <p:nvPicPr>
          <p:cNvPr id="8" name="Picture 7" descr="f05_1.png"/>
          <p:cNvPicPr>
            <a:picLocks noChangeAspect="1"/>
          </p:cNvPicPr>
          <p:nvPr/>
        </p:nvPicPr>
        <p:blipFill>
          <a:blip r:embed="rId3"/>
          <a:stretch>
            <a:fillRect/>
          </a:stretch>
        </p:blipFill>
        <p:spPr>
          <a:xfrm>
            <a:off x="731520" y="4480560"/>
            <a:ext cx="4572000" cy="649140"/>
          </a:xfrm>
          <a:prstGeom prst="rect">
            <a:avLst/>
          </a:prstGeom>
        </p:spPr>
      </p:pic>
      <p:pic>
        <p:nvPicPr>
          <p:cNvPr id="9" name="Picture 8" descr="f05_2.png"/>
          <p:cNvPicPr>
            <a:picLocks noChangeAspect="1"/>
          </p:cNvPicPr>
          <p:nvPr/>
        </p:nvPicPr>
        <p:blipFill>
          <a:blip r:embed="rId4"/>
          <a:stretch>
            <a:fillRect/>
          </a:stretch>
        </p:blipFill>
        <p:spPr>
          <a:xfrm>
            <a:off x="731520" y="5394960"/>
            <a:ext cx="3291840" cy="467381"/>
          </a:xfrm>
          <a:prstGeom prst="rect">
            <a:avLst/>
          </a:prstGeom>
        </p:spPr>
      </p:pic>
      <p:sp>
        <p:nvSpPr>
          <p:cNvPr id="10" name="Rounded Rectangle 9"/>
          <p:cNvSpPr/>
          <p:nvPr/>
        </p:nvSpPr>
        <p:spPr>
          <a:xfrm>
            <a:off x="8046720" y="1737360"/>
            <a:ext cx="3749039" cy="44805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1" name="TextBox 10"/>
          <p:cNvSpPr txBox="1"/>
          <p:nvPr/>
        </p:nvSpPr>
        <p:spPr>
          <a:xfrm>
            <a:off x="8183879" y="1874519"/>
            <a:ext cx="3566160" cy="365760"/>
          </a:xfrm>
          <a:prstGeom prst="rect">
            <a:avLst/>
          </a:prstGeom>
          <a:noFill/>
        </p:spPr>
        <p:txBody>
          <a:bodyPr wrap="square" lIns="45720" tIns="27432" rIns="45720" bIns="27432" anchor="t">
            <a:spAutoFit/>
          </a:bodyPr>
          <a:lstStyle/>
          <a:p>
            <a:pPr algn="l"/>
            <a:r>
              <a:rPr sz="1200" b="1" i="0">
                <a:solidFill>
                  <a:srgbClr val="1E2761"/>
                </a:solidFill>
                <a:latin typeface="Calibri"/>
              </a:rPr>
              <a:t>MERGED TASK POOL</a:t>
            </a:r>
          </a:p>
        </p:txBody>
      </p:sp>
      <p:sp>
        <p:nvSpPr>
          <p:cNvPr id="12" name="TextBox 11"/>
          <p:cNvSpPr txBox="1"/>
          <p:nvPr/>
        </p:nvSpPr>
        <p:spPr>
          <a:xfrm>
            <a:off x="8183879" y="2331720"/>
            <a:ext cx="1645920" cy="320040"/>
          </a:xfrm>
          <a:prstGeom prst="rect">
            <a:avLst/>
          </a:prstGeom>
          <a:noFill/>
        </p:spPr>
        <p:txBody>
          <a:bodyPr wrap="square" lIns="45720" tIns="27432" rIns="45720" bIns="27432" anchor="t">
            <a:spAutoFit/>
          </a:bodyPr>
          <a:lstStyle/>
          <a:p>
            <a:pPr algn="l"/>
            <a:r>
              <a:rPr sz="1300" b="0" i="0">
                <a:solidFill>
                  <a:srgbClr val="1E2761"/>
                </a:solidFill>
                <a:latin typeface="Calibri"/>
              </a:rPr>
              <a:t>Tox21</a:t>
            </a:r>
          </a:p>
        </p:txBody>
      </p:sp>
      <p:sp>
        <p:nvSpPr>
          <p:cNvPr id="13" name="TextBox 12"/>
          <p:cNvSpPr txBox="1"/>
          <p:nvPr/>
        </p:nvSpPr>
        <p:spPr>
          <a:xfrm>
            <a:off x="9784080" y="2331720"/>
            <a:ext cx="2103120" cy="320040"/>
          </a:xfrm>
          <a:prstGeom prst="rect">
            <a:avLst/>
          </a:prstGeom>
          <a:noFill/>
        </p:spPr>
        <p:txBody>
          <a:bodyPr wrap="square" lIns="45720" tIns="27432" rIns="45720" bIns="27432" anchor="t">
            <a:spAutoFit/>
          </a:bodyPr>
          <a:lstStyle/>
          <a:p>
            <a:pPr algn="l"/>
            <a:r>
              <a:rPr sz="1300" b="0" i="0">
                <a:solidFill>
                  <a:srgbClr val="36454F"/>
                </a:solidFill>
                <a:latin typeface="Calibri"/>
              </a:rPr>
              <a:t>12</a:t>
            </a:r>
          </a:p>
        </p:txBody>
      </p:sp>
      <p:sp>
        <p:nvSpPr>
          <p:cNvPr id="14" name="TextBox 13"/>
          <p:cNvSpPr txBox="1"/>
          <p:nvPr/>
        </p:nvSpPr>
        <p:spPr>
          <a:xfrm>
            <a:off x="8183879" y="2788920"/>
            <a:ext cx="1645920" cy="320040"/>
          </a:xfrm>
          <a:prstGeom prst="rect">
            <a:avLst/>
          </a:prstGeom>
          <a:noFill/>
        </p:spPr>
        <p:txBody>
          <a:bodyPr wrap="square" lIns="45720" tIns="27432" rIns="45720" bIns="27432" anchor="t">
            <a:spAutoFit/>
          </a:bodyPr>
          <a:lstStyle/>
          <a:p>
            <a:pPr algn="l"/>
            <a:r>
              <a:rPr sz="1300" b="0" i="0">
                <a:solidFill>
                  <a:srgbClr val="1E2761"/>
                </a:solidFill>
                <a:latin typeface="Calibri"/>
              </a:rPr>
              <a:t>ToxCast</a:t>
            </a:r>
          </a:p>
        </p:txBody>
      </p:sp>
      <p:sp>
        <p:nvSpPr>
          <p:cNvPr id="15" name="TextBox 14"/>
          <p:cNvSpPr txBox="1"/>
          <p:nvPr/>
        </p:nvSpPr>
        <p:spPr>
          <a:xfrm>
            <a:off x="9784080" y="2788920"/>
            <a:ext cx="2103120" cy="320040"/>
          </a:xfrm>
          <a:prstGeom prst="rect">
            <a:avLst/>
          </a:prstGeom>
          <a:noFill/>
        </p:spPr>
        <p:txBody>
          <a:bodyPr wrap="square" lIns="45720" tIns="27432" rIns="45720" bIns="27432" anchor="t">
            <a:spAutoFit/>
          </a:bodyPr>
          <a:lstStyle/>
          <a:p>
            <a:pPr algn="l"/>
            <a:r>
              <a:rPr sz="1300" b="0" i="0">
                <a:solidFill>
                  <a:srgbClr val="36454F"/>
                </a:solidFill>
                <a:latin typeface="Calibri"/>
              </a:rPr>
              <a:t>617</a:t>
            </a:r>
          </a:p>
        </p:txBody>
      </p:sp>
      <p:sp>
        <p:nvSpPr>
          <p:cNvPr id="16" name="TextBox 15"/>
          <p:cNvSpPr txBox="1"/>
          <p:nvPr/>
        </p:nvSpPr>
        <p:spPr>
          <a:xfrm>
            <a:off x="8183879" y="3246120"/>
            <a:ext cx="1645920" cy="320040"/>
          </a:xfrm>
          <a:prstGeom prst="rect">
            <a:avLst/>
          </a:prstGeom>
          <a:noFill/>
        </p:spPr>
        <p:txBody>
          <a:bodyPr wrap="square" lIns="45720" tIns="27432" rIns="45720" bIns="27432" anchor="t">
            <a:spAutoFit/>
          </a:bodyPr>
          <a:lstStyle/>
          <a:p>
            <a:pPr algn="l"/>
            <a:r>
              <a:rPr sz="1300" b="0" i="0">
                <a:solidFill>
                  <a:srgbClr val="1E2761"/>
                </a:solidFill>
                <a:latin typeface="Calibri"/>
              </a:rPr>
              <a:t>MUV</a:t>
            </a:r>
          </a:p>
        </p:txBody>
      </p:sp>
      <p:sp>
        <p:nvSpPr>
          <p:cNvPr id="17" name="TextBox 16"/>
          <p:cNvSpPr txBox="1"/>
          <p:nvPr/>
        </p:nvSpPr>
        <p:spPr>
          <a:xfrm>
            <a:off x="9784080" y="3246120"/>
            <a:ext cx="2103120" cy="320040"/>
          </a:xfrm>
          <a:prstGeom prst="rect">
            <a:avLst/>
          </a:prstGeom>
          <a:noFill/>
        </p:spPr>
        <p:txBody>
          <a:bodyPr wrap="square" lIns="45720" tIns="27432" rIns="45720" bIns="27432" anchor="t">
            <a:spAutoFit/>
          </a:bodyPr>
          <a:lstStyle/>
          <a:p>
            <a:pPr algn="l"/>
            <a:r>
              <a:rPr sz="1300" b="0" i="0">
                <a:solidFill>
                  <a:srgbClr val="36454F"/>
                </a:solidFill>
                <a:latin typeface="Calibri"/>
              </a:rPr>
              <a:t>17</a:t>
            </a:r>
          </a:p>
        </p:txBody>
      </p:sp>
      <p:sp>
        <p:nvSpPr>
          <p:cNvPr id="18" name="TextBox 17"/>
          <p:cNvSpPr txBox="1"/>
          <p:nvPr/>
        </p:nvSpPr>
        <p:spPr>
          <a:xfrm>
            <a:off x="8183879" y="3703320"/>
            <a:ext cx="1645920" cy="320040"/>
          </a:xfrm>
          <a:prstGeom prst="rect">
            <a:avLst/>
          </a:prstGeom>
          <a:noFill/>
        </p:spPr>
        <p:txBody>
          <a:bodyPr wrap="square" lIns="45720" tIns="27432" rIns="45720" bIns="27432" anchor="t">
            <a:spAutoFit/>
          </a:bodyPr>
          <a:lstStyle/>
          <a:p>
            <a:pPr algn="l"/>
            <a:r>
              <a:rPr sz="1300" b="0" i="0">
                <a:solidFill>
                  <a:srgbClr val="1E2761"/>
                </a:solidFill>
                <a:latin typeface="Calibri"/>
              </a:rPr>
              <a:t>SIDER</a:t>
            </a:r>
          </a:p>
        </p:txBody>
      </p:sp>
      <p:sp>
        <p:nvSpPr>
          <p:cNvPr id="19" name="TextBox 18"/>
          <p:cNvSpPr txBox="1"/>
          <p:nvPr/>
        </p:nvSpPr>
        <p:spPr>
          <a:xfrm>
            <a:off x="9784080" y="3703320"/>
            <a:ext cx="2103120" cy="320040"/>
          </a:xfrm>
          <a:prstGeom prst="rect">
            <a:avLst/>
          </a:prstGeom>
          <a:noFill/>
        </p:spPr>
        <p:txBody>
          <a:bodyPr wrap="square" lIns="45720" tIns="27432" rIns="45720" bIns="27432" anchor="t">
            <a:spAutoFit/>
          </a:bodyPr>
          <a:lstStyle/>
          <a:p>
            <a:pPr algn="l"/>
            <a:r>
              <a:rPr sz="1300" b="0" i="0">
                <a:solidFill>
                  <a:srgbClr val="36454F"/>
                </a:solidFill>
                <a:latin typeface="Calibri"/>
              </a:rPr>
              <a:t>27</a:t>
            </a:r>
          </a:p>
        </p:txBody>
      </p:sp>
      <p:sp>
        <p:nvSpPr>
          <p:cNvPr id="20" name="TextBox 19"/>
          <p:cNvSpPr txBox="1"/>
          <p:nvPr/>
        </p:nvSpPr>
        <p:spPr>
          <a:xfrm>
            <a:off x="8183879" y="4160520"/>
            <a:ext cx="1645920" cy="320040"/>
          </a:xfrm>
          <a:prstGeom prst="rect">
            <a:avLst/>
          </a:prstGeom>
          <a:noFill/>
        </p:spPr>
        <p:txBody>
          <a:bodyPr wrap="square" lIns="45720" tIns="27432" rIns="45720" bIns="27432" anchor="t">
            <a:spAutoFit/>
          </a:bodyPr>
          <a:lstStyle/>
          <a:p>
            <a:pPr algn="l"/>
            <a:r>
              <a:rPr sz="1300" b="0" i="0">
                <a:solidFill>
                  <a:srgbClr val="1E2761"/>
                </a:solidFill>
                <a:latin typeface="Calibri"/>
              </a:rPr>
              <a:t>—</a:t>
            </a:r>
          </a:p>
        </p:txBody>
      </p:sp>
      <p:sp>
        <p:nvSpPr>
          <p:cNvPr id="21" name="TextBox 20"/>
          <p:cNvSpPr txBox="1"/>
          <p:nvPr/>
        </p:nvSpPr>
        <p:spPr>
          <a:xfrm>
            <a:off x="9784080" y="4160520"/>
            <a:ext cx="2103120" cy="320040"/>
          </a:xfrm>
          <a:prstGeom prst="rect">
            <a:avLst/>
          </a:prstGeom>
          <a:noFill/>
        </p:spPr>
        <p:txBody>
          <a:bodyPr wrap="square" lIns="45720" tIns="27432" rIns="45720" bIns="27432" anchor="t">
            <a:spAutoFit/>
          </a:bodyPr>
          <a:lstStyle/>
          <a:p>
            <a:pPr algn="l"/>
            <a:r>
              <a:rPr sz="1300" b="0" i="0">
                <a:solidFill>
                  <a:srgbClr val="36454F"/>
                </a:solidFill>
                <a:latin typeface="Calibri"/>
              </a:rPr>
              <a:t>—</a:t>
            </a:r>
          </a:p>
        </p:txBody>
      </p:sp>
      <p:sp>
        <p:nvSpPr>
          <p:cNvPr id="22" name="TextBox 21"/>
          <p:cNvSpPr txBox="1"/>
          <p:nvPr/>
        </p:nvSpPr>
        <p:spPr>
          <a:xfrm>
            <a:off x="8183879" y="4617720"/>
            <a:ext cx="1645920" cy="320040"/>
          </a:xfrm>
          <a:prstGeom prst="rect">
            <a:avLst/>
          </a:prstGeom>
          <a:noFill/>
        </p:spPr>
        <p:txBody>
          <a:bodyPr wrap="square" lIns="45720" tIns="27432" rIns="45720" bIns="27432" anchor="t">
            <a:spAutoFit/>
          </a:bodyPr>
          <a:lstStyle/>
          <a:p>
            <a:pPr algn="l"/>
            <a:r>
              <a:rPr sz="1300" b="1" i="0">
                <a:solidFill>
                  <a:srgbClr val="1E2761"/>
                </a:solidFill>
                <a:latin typeface="Calibri"/>
              </a:rPr>
              <a:t>Total</a:t>
            </a:r>
          </a:p>
        </p:txBody>
      </p:sp>
      <p:sp>
        <p:nvSpPr>
          <p:cNvPr id="23" name="TextBox 22"/>
          <p:cNvSpPr txBox="1"/>
          <p:nvPr/>
        </p:nvSpPr>
        <p:spPr>
          <a:xfrm>
            <a:off x="9784080" y="4617720"/>
            <a:ext cx="2103120" cy="320040"/>
          </a:xfrm>
          <a:prstGeom prst="rect">
            <a:avLst/>
          </a:prstGeom>
          <a:noFill/>
        </p:spPr>
        <p:txBody>
          <a:bodyPr wrap="square" lIns="45720" tIns="27432" rIns="45720" bIns="27432" anchor="t">
            <a:spAutoFit/>
          </a:bodyPr>
          <a:lstStyle/>
          <a:p>
            <a:pPr algn="l"/>
            <a:r>
              <a:rPr sz="1300" b="1" i="0">
                <a:solidFill>
                  <a:srgbClr val="36454F"/>
                </a:solidFill>
                <a:latin typeface="Calibri"/>
              </a:rPr>
              <a:t>673</a:t>
            </a:r>
          </a:p>
        </p:txBody>
      </p:sp>
      <p:sp>
        <p:nvSpPr>
          <p:cNvPr id="24" name="TextBox 23"/>
          <p:cNvSpPr txBox="1"/>
          <p:nvPr/>
        </p:nvSpPr>
        <p:spPr>
          <a:xfrm>
            <a:off x="8183879" y="5074920"/>
            <a:ext cx="1645920" cy="320040"/>
          </a:xfrm>
          <a:prstGeom prst="rect">
            <a:avLst/>
          </a:prstGeom>
          <a:noFill/>
        </p:spPr>
        <p:txBody>
          <a:bodyPr wrap="square" lIns="45720" tIns="27432" rIns="45720" bIns="27432" anchor="t">
            <a:spAutoFit/>
          </a:bodyPr>
          <a:lstStyle/>
          <a:p>
            <a:pPr algn="l"/>
            <a:r>
              <a:rPr sz="1300" b="1" i="0">
                <a:solidFill>
                  <a:srgbClr val="1E2761"/>
                </a:solidFill>
                <a:latin typeface="Calibri"/>
              </a:rPr>
              <a:t>Split</a:t>
            </a:r>
          </a:p>
        </p:txBody>
      </p:sp>
      <p:sp>
        <p:nvSpPr>
          <p:cNvPr id="25" name="TextBox 24"/>
          <p:cNvSpPr txBox="1"/>
          <p:nvPr/>
        </p:nvSpPr>
        <p:spPr>
          <a:xfrm>
            <a:off x="9784080" y="5074920"/>
            <a:ext cx="2103120" cy="320040"/>
          </a:xfrm>
          <a:prstGeom prst="rect">
            <a:avLst/>
          </a:prstGeom>
          <a:noFill/>
        </p:spPr>
        <p:txBody>
          <a:bodyPr wrap="square" lIns="45720" tIns="27432" rIns="45720" bIns="27432" anchor="t">
            <a:spAutoFit/>
          </a:bodyPr>
          <a:lstStyle/>
          <a:p>
            <a:pPr algn="l"/>
            <a:r>
              <a:rPr sz="1300" b="1" i="0">
                <a:solidFill>
                  <a:srgbClr val="36454F"/>
                </a:solidFill>
                <a:latin typeface="Calibri"/>
              </a:rPr>
              <a:t>405 / 134 / 134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APPROACH</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Baselines — ProtoNet &amp; FOMAML</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4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Rounded Rectangle 6"/>
          <p:cNvSpPr/>
          <p:nvPr/>
        </p:nvSpPr>
        <p:spPr>
          <a:xfrm>
            <a:off x="502920" y="1737360"/>
            <a:ext cx="5486400" cy="457200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8" name="TextBox 7"/>
          <p:cNvSpPr txBox="1"/>
          <p:nvPr/>
        </p:nvSpPr>
        <p:spPr>
          <a:xfrm>
            <a:off x="731520" y="1874519"/>
            <a:ext cx="5486400" cy="365760"/>
          </a:xfrm>
          <a:prstGeom prst="rect">
            <a:avLst/>
          </a:prstGeom>
          <a:noFill/>
        </p:spPr>
        <p:txBody>
          <a:bodyPr wrap="square" lIns="45720" tIns="27432" rIns="45720" bIns="27432" anchor="t">
            <a:spAutoFit/>
          </a:bodyPr>
          <a:lstStyle/>
          <a:p>
            <a:pPr algn="l"/>
            <a:r>
              <a:rPr sz="1600" b="1" i="0">
                <a:solidFill>
                  <a:srgbClr val="1E2761"/>
                </a:solidFill>
                <a:latin typeface="Calibri"/>
              </a:rPr>
              <a:t>Prototypical Network  (metric-based)</a:t>
            </a:r>
          </a:p>
        </p:txBody>
      </p:sp>
      <p:sp>
        <p:nvSpPr>
          <p:cNvPr id="9" name="TextBox 8"/>
          <p:cNvSpPr txBox="1"/>
          <p:nvPr/>
        </p:nvSpPr>
        <p:spPr>
          <a:xfrm>
            <a:off x="731520" y="2331720"/>
            <a:ext cx="5029200" cy="1645920"/>
          </a:xfrm>
          <a:prstGeom prst="rect">
            <a:avLst/>
          </a:prstGeom>
          <a:noFill/>
        </p:spPr>
        <p:txBody>
          <a:bodyPr wrap="square" lIns="45720" rIns="45720">
            <a:spAutoFit/>
          </a:bodyPr>
          <a:lstStyle/>
          <a:p>
            <a:pPr algn="l">
              <a:lnSpc>
                <a:spcPct val="120000"/>
              </a:lnSpc>
              <a:spcAft>
                <a:spcPts val="300"/>
              </a:spcAft>
            </a:pPr>
            <a:r>
              <a:rPr sz="1300" b="1" i="0">
                <a:solidFill>
                  <a:srgbClr val="1E2761"/>
                </a:solidFill>
                <a:latin typeface="Calibri"/>
              </a:rPr>
              <a:t>●  </a:t>
            </a:r>
            <a:r>
              <a:rPr sz="1300" b="0" i="0">
                <a:solidFill>
                  <a:srgbClr val="1E2761"/>
                </a:solidFill>
                <a:latin typeface="Calibri"/>
              </a:rPr>
              <a:t>Prototype = mean support embedding per class.</a:t>
            </a:r>
          </a:p>
          <a:p>
            <a:pPr algn="l">
              <a:lnSpc>
                <a:spcPct val="120000"/>
              </a:lnSpc>
              <a:spcAft>
                <a:spcPts val="300"/>
              </a:spcAft>
            </a:pPr>
            <a:r>
              <a:rPr sz="1300" b="1" i="0">
                <a:solidFill>
                  <a:srgbClr val="1E2761"/>
                </a:solidFill>
                <a:latin typeface="Calibri"/>
              </a:rPr>
              <a:t>●  </a:t>
            </a:r>
            <a:r>
              <a:rPr sz="1300" b="0" i="0">
                <a:solidFill>
                  <a:srgbClr val="1E2761"/>
                </a:solidFill>
                <a:latin typeface="Calibri"/>
              </a:rPr>
              <a:t>Classify query by nearest prototype.</a:t>
            </a:r>
          </a:p>
          <a:p>
            <a:pPr algn="l">
              <a:lnSpc>
                <a:spcPct val="120000"/>
              </a:lnSpc>
              <a:spcAft>
                <a:spcPts val="300"/>
              </a:spcAft>
            </a:pPr>
            <a:r>
              <a:rPr sz="1300" b="1" i="0">
                <a:solidFill>
                  <a:srgbClr val="1E2761"/>
                </a:solidFill>
                <a:latin typeface="Calibri"/>
              </a:rPr>
              <a:t>●  </a:t>
            </a:r>
            <a:r>
              <a:rPr sz="1300" b="0" i="0">
                <a:solidFill>
                  <a:srgbClr val="1E2761"/>
                </a:solidFill>
                <a:latin typeface="Calibri"/>
              </a:rPr>
              <a:t>No persistent per-class parameters.</a:t>
            </a:r>
          </a:p>
        </p:txBody>
      </p:sp>
      <p:pic>
        <p:nvPicPr>
          <p:cNvPr id="10" name="Picture 9" descr="f07_1.png"/>
          <p:cNvPicPr>
            <a:picLocks noChangeAspect="1"/>
          </p:cNvPicPr>
          <p:nvPr/>
        </p:nvPicPr>
        <p:blipFill>
          <a:blip r:embed="rId3"/>
          <a:stretch>
            <a:fillRect/>
          </a:stretch>
        </p:blipFill>
        <p:spPr>
          <a:xfrm>
            <a:off x="822960" y="4069080"/>
            <a:ext cx="3840480" cy="545278"/>
          </a:xfrm>
          <a:prstGeom prst="rect">
            <a:avLst/>
          </a:prstGeom>
        </p:spPr>
      </p:pic>
      <p:pic>
        <p:nvPicPr>
          <p:cNvPr id="11" name="Picture 10" descr="f07_2.png"/>
          <p:cNvPicPr>
            <a:picLocks noChangeAspect="1"/>
          </p:cNvPicPr>
          <p:nvPr/>
        </p:nvPicPr>
        <p:blipFill>
          <a:blip r:embed="rId4"/>
          <a:stretch>
            <a:fillRect/>
          </a:stretch>
        </p:blipFill>
        <p:spPr>
          <a:xfrm>
            <a:off x="822960" y="5120640"/>
            <a:ext cx="4937760" cy="701071"/>
          </a:xfrm>
          <a:prstGeom prst="rect">
            <a:avLst/>
          </a:prstGeom>
        </p:spPr>
      </p:pic>
      <p:sp>
        <p:nvSpPr>
          <p:cNvPr id="12" name="Rounded Rectangle 11"/>
          <p:cNvSpPr/>
          <p:nvPr/>
        </p:nvSpPr>
        <p:spPr>
          <a:xfrm>
            <a:off x="6172200" y="1737360"/>
            <a:ext cx="5486400" cy="45720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3" name="TextBox 12"/>
          <p:cNvSpPr txBox="1"/>
          <p:nvPr/>
        </p:nvSpPr>
        <p:spPr>
          <a:xfrm>
            <a:off x="6400800" y="1874519"/>
            <a:ext cx="5486400" cy="365760"/>
          </a:xfrm>
          <a:prstGeom prst="rect">
            <a:avLst/>
          </a:prstGeom>
          <a:noFill/>
        </p:spPr>
        <p:txBody>
          <a:bodyPr wrap="square" lIns="45720" tIns="27432" rIns="45720" bIns="27432" anchor="t">
            <a:spAutoFit/>
          </a:bodyPr>
          <a:lstStyle/>
          <a:p>
            <a:pPr algn="l"/>
            <a:r>
              <a:rPr sz="1600" b="1" i="0">
                <a:solidFill>
                  <a:srgbClr val="F96167"/>
                </a:solidFill>
                <a:latin typeface="Calibri"/>
              </a:rPr>
              <a:t>FOMAML  (adaptation-based)</a:t>
            </a:r>
          </a:p>
        </p:txBody>
      </p:sp>
      <p:sp>
        <p:nvSpPr>
          <p:cNvPr id="14" name="TextBox 13"/>
          <p:cNvSpPr txBox="1"/>
          <p:nvPr/>
        </p:nvSpPr>
        <p:spPr>
          <a:xfrm>
            <a:off x="6400800" y="2331720"/>
            <a:ext cx="5029200" cy="1645920"/>
          </a:xfrm>
          <a:prstGeom prst="rect">
            <a:avLst/>
          </a:prstGeom>
          <a:noFill/>
        </p:spPr>
        <p:txBody>
          <a:bodyPr wrap="square" lIns="45720" rIns="45720">
            <a:spAutoFit/>
          </a:bodyPr>
          <a:lstStyle/>
          <a:p>
            <a:pPr algn="l">
              <a:lnSpc>
                <a:spcPct val="120000"/>
              </a:lnSpc>
              <a:spcAft>
                <a:spcPts val="300"/>
              </a:spcAft>
            </a:pPr>
            <a:r>
              <a:rPr sz="1300" b="1" i="0">
                <a:solidFill>
                  <a:srgbClr val="1E2761"/>
                </a:solidFill>
                <a:latin typeface="Calibri"/>
              </a:rPr>
              <a:t>●  </a:t>
            </a:r>
            <a:r>
              <a:rPr sz="1300" b="0" i="0">
                <a:solidFill>
                  <a:srgbClr val="36454F"/>
                </a:solidFill>
                <a:latin typeface="Calibri"/>
              </a:rPr>
              <a:t>Learn init θ that adapts in a few SGD steps.</a:t>
            </a:r>
          </a:p>
          <a:p>
            <a:pPr algn="l">
              <a:lnSpc>
                <a:spcPct val="120000"/>
              </a:lnSpc>
              <a:spcAft>
                <a:spcPts val="300"/>
              </a:spcAft>
            </a:pPr>
            <a:r>
              <a:rPr sz="1300" b="1" i="0">
                <a:solidFill>
                  <a:srgbClr val="1E2761"/>
                </a:solidFill>
                <a:latin typeface="Calibri"/>
              </a:rPr>
              <a:t>●  </a:t>
            </a:r>
            <a:r>
              <a:rPr sz="1300" b="0" i="0">
                <a:solidFill>
                  <a:srgbClr val="36454F"/>
                </a:solidFill>
                <a:latin typeface="Calibri"/>
              </a:rPr>
              <a:t>First-order; detach inner loop (PyG-stable).</a:t>
            </a:r>
          </a:p>
          <a:p>
            <a:pPr algn="l">
              <a:lnSpc>
                <a:spcPct val="120000"/>
              </a:lnSpc>
              <a:spcAft>
                <a:spcPts val="300"/>
              </a:spcAft>
            </a:pPr>
            <a:r>
              <a:rPr sz="1300" b="1" i="0">
                <a:solidFill>
                  <a:srgbClr val="1E2761"/>
                </a:solidFill>
                <a:latin typeface="Calibri"/>
              </a:rPr>
              <a:t>●  </a:t>
            </a:r>
            <a:r>
              <a:rPr sz="1300" b="0" i="0">
                <a:solidFill>
                  <a:srgbClr val="36454F"/>
                </a:solidFill>
                <a:latin typeface="Calibri"/>
              </a:rPr>
              <a:t>Meta-gradient from query pass on original θ.</a:t>
            </a:r>
          </a:p>
        </p:txBody>
      </p:sp>
      <p:pic>
        <p:nvPicPr>
          <p:cNvPr id="15" name="Picture 14" descr="f08_1.png"/>
          <p:cNvPicPr>
            <a:picLocks noChangeAspect="1"/>
          </p:cNvPicPr>
          <p:nvPr/>
        </p:nvPicPr>
        <p:blipFill>
          <a:blip r:embed="rId5"/>
          <a:stretch>
            <a:fillRect/>
          </a:stretch>
        </p:blipFill>
        <p:spPr>
          <a:xfrm>
            <a:off x="6492240" y="4069080"/>
            <a:ext cx="4754880" cy="675106"/>
          </a:xfrm>
          <a:prstGeom prst="rect">
            <a:avLst/>
          </a:prstGeom>
        </p:spPr>
      </p:pic>
      <p:pic>
        <p:nvPicPr>
          <p:cNvPr id="16" name="Picture 15" descr="f08_2.png"/>
          <p:cNvPicPr>
            <a:picLocks noChangeAspect="1"/>
          </p:cNvPicPr>
          <p:nvPr/>
        </p:nvPicPr>
        <p:blipFill>
          <a:blip r:embed="rId6"/>
          <a:stretch>
            <a:fillRect/>
          </a:stretch>
        </p:blipFill>
        <p:spPr>
          <a:xfrm>
            <a:off x="6492240" y="5120640"/>
            <a:ext cx="4754880" cy="6751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APPROACH</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GoS v1 — Meta-Graph Pipeline</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5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TextBox 6"/>
          <p:cNvSpPr txBox="1"/>
          <p:nvPr/>
        </p:nvSpPr>
        <p:spPr>
          <a:xfrm>
            <a:off x="502920" y="1645920"/>
            <a:ext cx="11185855" cy="1645920"/>
          </a:xfrm>
          <a:prstGeom prst="rect">
            <a:avLst/>
          </a:prstGeom>
          <a:noFill/>
        </p:spPr>
        <p:txBody>
          <a:bodyPr wrap="square" lIns="45720" rIns="45720">
            <a:spAutoFit/>
          </a:bodyPr>
          <a:lstStyle/>
          <a:p>
            <a:pPr algn="l">
              <a:lnSpc>
                <a:spcPct val="120000"/>
              </a:lnSpc>
              <a:spcAft>
                <a:spcPts val="300"/>
              </a:spcAft>
            </a:pPr>
            <a:r>
              <a:rPr sz="1500" b="1" i="0">
                <a:solidFill>
                  <a:srgbClr val="1E2761"/>
                </a:solidFill>
                <a:latin typeface="Calibri"/>
              </a:rPr>
              <a:t>●  </a:t>
            </a:r>
            <a:r>
              <a:rPr sz="1500" b="0" i="0">
                <a:solidFill>
                  <a:srgbClr val="36454F"/>
                </a:solidFill>
                <a:latin typeface="Calibri"/>
              </a:rPr>
              <a:t>Baselines embed each molecule IN ISOLATION — but within an episode, structurally similar molecules likely share assay activity.</a:t>
            </a:r>
          </a:p>
          <a:p>
            <a:pPr algn="l">
              <a:lnSpc>
                <a:spcPct val="120000"/>
              </a:lnSpc>
              <a:spcAft>
                <a:spcPts val="300"/>
              </a:spcAft>
            </a:pPr>
            <a:r>
              <a:rPr sz="1500" b="1" i="0">
                <a:solidFill>
                  <a:srgbClr val="1E2761"/>
                </a:solidFill>
                <a:latin typeface="Calibri"/>
              </a:rPr>
              <a:t>●  </a:t>
            </a:r>
            <a:r>
              <a:rPr sz="1500" b="0" i="0">
                <a:solidFill>
                  <a:srgbClr val="36454F"/>
                </a:solidFill>
                <a:latin typeface="Calibri"/>
              </a:rPr>
              <a:t>Our idea: build a task-specific META-GRAPH over episode molecules, run a GNN on it — support labels propagate to queries.</a:t>
            </a:r>
          </a:p>
        </p:txBody>
      </p:sp>
      <p:sp>
        <p:nvSpPr>
          <p:cNvPr id="8" name="Rounded Rectangle 7"/>
          <p:cNvSpPr/>
          <p:nvPr/>
        </p:nvSpPr>
        <p:spPr>
          <a:xfrm>
            <a:off x="502920"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Encode</a:t>
            </a:r>
          </a:p>
          <a:p>
            <a:pPr algn="ctr"/>
            <a:r>
              <a:rPr sz="1000" b="0" i="1">
                <a:solidFill>
                  <a:srgbClr val="36454F"/>
                </a:solidFill>
                <a:latin typeface="Calibri"/>
              </a:rPr>
              <a:t>MPNN → {h_i}</a:t>
            </a:r>
          </a:p>
        </p:txBody>
      </p:sp>
      <p:sp>
        <p:nvSpPr>
          <p:cNvPr id="9" name="Oval 8"/>
          <p:cNvSpPr/>
          <p:nvPr/>
        </p:nvSpPr>
        <p:spPr>
          <a:xfrm>
            <a:off x="1069314" y="3634740"/>
            <a:ext cx="502920" cy="502920"/>
          </a:xfrm>
          <a:prstGeom prst="ellipse">
            <a:avLst/>
          </a:prstGeom>
          <a:solidFill>
            <a:srgbClr val="1E2761"/>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1</a:t>
            </a:r>
          </a:p>
        </p:txBody>
      </p:sp>
      <p:sp>
        <p:nvSpPr>
          <p:cNvPr id="10" name="Right Arrow 9"/>
          <p:cNvSpPr/>
          <p:nvPr/>
        </p:nvSpPr>
        <p:spPr>
          <a:xfrm>
            <a:off x="2156917" y="4572000"/>
            <a:ext cx="237744" cy="274320"/>
          </a:xfrm>
          <a:prstGeom prst="rightArrow">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1" name="Rounded Rectangle 10"/>
          <p:cNvSpPr/>
          <p:nvPr/>
        </p:nvSpPr>
        <p:spPr>
          <a:xfrm>
            <a:off x="2412949"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Affinity</a:t>
            </a:r>
          </a:p>
          <a:p>
            <a:pPr algn="ctr"/>
            <a:r>
              <a:rPr sz="1000" b="0" i="1">
                <a:solidFill>
                  <a:srgbClr val="36454F"/>
                </a:solidFill>
                <a:latin typeface="Calibri"/>
              </a:rPr>
              <a:t>W = g(h_i, h_j)</a:t>
            </a:r>
          </a:p>
        </p:txBody>
      </p:sp>
      <p:sp>
        <p:nvSpPr>
          <p:cNvPr id="12" name="Oval 11"/>
          <p:cNvSpPr/>
          <p:nvPr/>
        </p:nvSpPr>
        <p:spPr>
          <a:xfrm>
            <a:off x="2979343" y="3634740"/>
            <a:ext cx="502920" cy="502920"/>
          </a:xfrm>
          <a:prstGeom prst="ellipse">
            <a:avLst/>
          </a:prstGeom>
          <a:solidFill>
            <a:srgbClr val="F96167"/>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2</a:t>
            </a:r>
          </a:p>
        </p:txBody>
      </p:sp>
      <p:sp>
        <p:nvSpPr>
          <p:cNvPr id="13" name="Right Arrow 12"/>
          <p:cNvSpPr/>
          <p:nvPr/>
        </p:nvSpPr>
        <p:spPr>
          <a:xfrm>
            <a:off x="4066946" y="4572000"/>
            <a:ext cx="237744" cy="274320"/>
          </a:xfrm>
          <a:prstGeom prst="rightArrow">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4" name="Rounded Rectangle 13"/>
          <p:cNvSpPr/>
          <p:nvPr/>
        </p:nvSpPr>
        <p:spPr>
          <a:xfrm>
            <a:off x="4322978"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kNN sparsify</a:t>
            </a:r>
          </a:p>
          <a:p>
            <a:pPr algn="ctr"/>
            <a:r>
              <a:rPr sz="1000" b="0" i="1">
                <a:solidFill>
                  <a:srgbClr val="36454F"/>
                </a:solidFill>
                <a:latin typeface="Calibri"/>
              </a:rPr>
              <a:t>top-k edges</a:t>
            </a:r>
          </a:p>
        </p:txBody>
      </p:sp>
      <p:sp>
        <p:nvSpPr>
          <p:cNvPr id="15" name="Oval 14"/>
          <p:cNvSpPr/>
          <p:nvPr/>
        </p:nvSpPr>
        <p:spPr>
          <a:xfrm>
            <a:off x="4889372" y="3634740"/>
            <a:ext cx="502920" cy="502920"/>
          </a:xfrm>
          <a:prstGeom prst="ellipse">
            <a:avLst/>
          </a:prstGeom>
          <a:solidFill>
            <a:srgbClr val="1E2761"/>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3</a:t>
            </a:r>
          </a:p>
        </p:txBody>
      </p:sp>
      <p:sp>
        <p:nvSpPr>
          <p:cNvPr id="16" name="Right Arrow 15"/>
          <p:cNvSpPr/>
          <p:nvPr/>
        </p:nvSpPr>
        <p:spPr>
          <a:xfrm>
            <a:off x="5976975" y="4572000"/>
            <a:ext cx="237744" cy="274320"/>
          </a:xfrm>
          <a:prstGeom prst="rightArrow">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7" name="Rounded Rectangle 16"/>
          <p:cNvSpPr/>
          <p:nvPr/>
        </p:nvSpPr>
        <p:spPr>
          <a:xfrm>
            <a:off x="6233007"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Inject labels</a:t>
            </a:r>
          </a:p>
          <a:p>
            <a:pPr algn="ctr"/>
            <a:r>
              <a:rPr sz="1000" b="0" i="1">
                <a:solidFill>
                  <a:srgbClr val="36454F"/>
                </a:solidFill>
                <a:latin typeface="Calibri"/>
              </a:rPr>
              <a:t>one-hot support</a:t>
            </a:r>
          </a:p>
        </p:txBody>
      </p:sp>
      <p:sp>
        <p:nvSpPr>
          <p:cNvPr id="18" name="Oval 17"/>
          <p:cNvSpPr/>
          <p:nvPr/>
        </p:nvSpPr>
        <p:spPr>
          <a:xfrm>
            <a:off x="6799402" y="3634740"/>
            <a:ext cx="502920" cy="502920"/>
          </a:xfrm>
          <a:prstGeom prst="ellipse">
            <a:avLst/>
          </a:prstGeom>
          <a:solidFill>
            <a:srgbClr val="F96167"/>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4</a:t>
            </a:r>
          </a:p>
        </p:txBody>
      </p:sp>
      <p:sp>
        <p:nvSpPr>
          <p:cNvPr id="19" name="Right Arrow 18"/>
          <p:cNvSpPr/>
          <p:nvPr/>
        </p:nvSpPr>
        <p:spPr>
          <a:xfrm>
            <a:off x="7887004" y="4572000"/>
            <a:ext cx="237744" cy="274320"/>
          </a:xfrm>
          <a:prstGeom prst="rightArrow">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0" name="Rounded Rectangle 19"/>
          <p:cNvSpPr/>
          <p:nvPr/>
        </p:nvSpPr>
        <p:spPr>
          <a:xfrm>
            <a:off x="8143036"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Meta-GNN</a:t>
            </a:r>
          </a:p>
          <a:p>
            <a:pPr algn="ctr"/>
            <a:r>
              <a:rPr sz="1000" b="0" i="1">
                <a:solidFill>
                  <a:srgbClr val="36454F"/>
                </a:solidFill>
                <a:latin typeface="Calibri"/>
              </a:rPr>
              <a:t>weighted GCN</a:t>
            </a:r>
          </a:p>
        </p:txBody>
      </p:sp>
      <p:sp>
        <p:nvSpPr>
          <p:cNvPr id="21" name="Oval 20"/>
          <p:cNvSpPr/>
          <p:nvPr/>
        </p:nvSpPr>
        <p:spPr>
          <a:xfrm>
            <a:off x="8709431" y="3634740"/>
            <a:ext cx="502920" cy="502920"/>
          </a:xfrm>
          <a:prstGeom prst="ellipse">
            <a:avLst/>
          </a:prstGeom>
          <a:solidFill>
            <a:srgbClr val="1E2761"/>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5</a:t>
            </a:r>
          </a:p>
        </p:txBody>
      </p:sp>
      <p:sp>
        <p:nvSpPr>
          <p:cNvPr id="22" name="Right Arrow 21"/>
          <p:cNvSpPr/>
          <p:nvPr/>
        </p:nvSpPr>
        <p:spPr>
          <a:xfrm>
            <a:off x="9797033" y="4572000"/>
            <a:ext cx="237744" cy="274320"/>
          </a:xfrm>
          <a:prstGeom prst="rightArrow">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3" name="Rounded Rectangle 22"/>
          <p:cNvSpPr/>
          <p:nvPr/>
        </p:nvSpPr>
        <p:spPr>
          <a:xfrm>
            <a:off x="10053065" y="3886200"/>
            <a:ext cx="1635709" cy="19659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i="0">
                <a:solidFill>
                  <a:srgbClr val="1E2761"/>
                </a:solidFill>
                <a:latin typeface="Calibri"/>
              </a:rPr>
              <a:t>
Prototype head</a:t>
            </a:r>
          </a:p>
          <a:p>
            <a:pPr algn="ctr"/>
            <a:r>
              <a:rPr sz="1000" b="0" i="1">
                <a:solidFill>
                  <a:srgbClr val="36454F"/>
                </a:solidFill>
                <a:latin typeface="Calibri"/>
              </a:rPr>
              <a:t>d(z_q, c_n)</a:t>
            </a:r>
          </a:p>
        </p:txBody>
      </p:sp>
      <p:sp>
        <p:nvSpPr>
          <p:cNvPr id="24" name="Oval 23"/>
          <p:cNvSpPr/>
          <p:nvPr/>
        </p:nvSpPr>
        <p:spPr>
          <a:xfrm>
            <a:off x="10619460" y="3634740"/>
            <a:ext cx="502920" cy="502920"/>
          </a:xfrm>
          <a:prstGeom prst="ellipse">
            <a:avLst/>
          </a:prstGeom>
          <a:solidFill>
            <a:srgbClr val="F96167"/>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600" b="1" i="0">
                <a:solidFill>
                  <a:srgbClr val="FFFFFF"/>
                </a:solidFill>
                <a:latin typeface="Calibri"/>
              </a:rPr>
              <a:t>6</a:t>
            </a:r>
          </a:p>
        </p:txBody>
      </p:sp>
      <p:sp>
        <p:nvSpPr>
          <p:cNvPr id="25" name="Rounded Rectangle 24"/>
          <p:cNvSpPr/>
          <p:nvPr/>
        </p:nvSpPr>
        <p:spPr>
          <a:xfrm>
            <a:off x="502920" y="6035040"/>
            <a:ext cx="11185855" cy="5486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i="1">
                <a:solidFill>
                  <a:srgbClr val="1E2761"/>
                </a:solidFill>
                <a:latin typeface="Calibri"/>
              </a:rPr>
              <a:t>All three modules — encoder φ, affinity g, meta-GNN — trained jointly end-to-end with cross-entropy on query predictions.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APPROACH</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GoS v1 — Why It Fell Short</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6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Rounded Rectangle 6"/>
          <p:cNvSpPr/>
          <p:nvPr/>
        </p:nvSpPr>
        <p:spPr>
          <a:xfrm>
            <a:off x="502920" y="1737360"/>
            <a:ext cx="7315200"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8" name="TextBox 7"/>
          <p:cNvSpPr txBox="1"/>
          <p:nvPr/>
        </p:nvSpPr>
        <p:spPr>
          <a:xfrm>
            <a:off x="685800" y="1828800"/>
            <a:ext cx="7132320" cy="365760"/>
          </a:xfrm>
          <a:prstGeom prst="rect">
            <a:avLst/>
          </a:prstGeom>
          <a:noFill/>
        </p:spPr>
        <p:txBody>
          <a:bodyPr wrap="square" lIns="45720" tIns="27432" rIns="45720" bIns="27432" anchor="t">
            <a:spAutoFit/>
          </a:bodyPr>
          <a:lstStyle/>
          <a:p>
            <a:pPr algn="l"/>
            <a:r>
              <a:rPr sz="1200" b="1" i="0">
                <a:solidFill>
                  <a:srgbClr val="F96167"/>
                </a:solidFill>
                <a:latin typeface="Calibri"/>
              </a:rPr>
              <a:t>THREE OBSERVATIONS CONVERGE ON THE SAME ROOT CAUSE</a:t>
            </a:r>
          </a:p>
        </p:txBody>
      </p:sp>
      <p:sp>
        <p:nvSpPr>
          <p:cNvPr id="9" name="TextBox 8"/>
          <p:cNvSpPr txBox="1"/>
          <p:nvPr/>
        </p:nvSpPr>
        <p:spPr>
          <a:xfrm>
            <a:off x="685800" y="2286000"/>
            <a:ext cx="6949440" cy="2560320"/>
          </a:xfrm>
          <a:prstGeom prst="rect">
            <a:avLst/>
          </a:prstGeom>
          <a:noFill/>
        </p:spPr>
        <p:txBody>
          <a:bodyPr wrap="square" lIns="45720" rIns="45720">
            <a:spAutoFit/>
          </a:bodyPr>
          <a:lstStyle/>
          <a:p>
            <a:pPr algn="l">
              <a:lnSpc>
                <a:spcPct val="120000"/>
              </a:lnSpc>
              <a:spcAft>
                <a:spcPts val="300"/>
              </a:spcAft>
            </a:pPr>
            <a:r>
              <a:rPr sz="1300" b="1" i="0">
                <a:solidFill>
                  <a:srgbClr val="1E2761"/>
                </a:solidFill>
                <a:latin typeface="Calibri"/>
              </a:rPr>
              <a:t>●  </a:t>
            </a:r>
            <a:r>
              <a:rPr sz="1300" b="0" i="0">
                <a:solidFill>
                  <a:srgbClr val="36454F"/>
                </a:solidFill>
                <a:latin typeface="Calibri"/>
              </a:rPr>
              <a:t>Obs. 1 — kNN k = 3 &gt; 5 &gt; 10 &gt; 100 (dense)</a:t>
            </a:r>
          </a:p>
          <a:p>
            <a:pPr algn="l">
              <a:lnSpc>
                <a:spcPct val="120000"/>
              </a:lnSpc>
              <a:spcAft>
                <a:spcPts val="300"/>
              </a:spcAft>
            </a:pPr>
            <a:r>
              <a:rPr sz="1100" b="0" i="0">
                <a:solidFill>
                  <a:srgbClr val="888A90"/>
                </a:solidFill>
                <a:latin typeface="Calibri"/>
              </a:rPr>
              <a:t>–  </a:t>
            </a:r>
            <a:r>
              <a:rPr sz="1100" b="0" i="0">
                <a:solidFill>
                  <a:srgbClr val="36454F"/>
                </a:solidFill>
                <a:latin typeface="Calibri"/>
              </a:rPr>
              <a:t>sparsifying the meta-graph helps; classic GCN over-smoothing signature.</a:t>
            </a:r>
          </a:p>
          <a:p>
            <a:pPr algn="l">
              <a:lnSpc>
                <a:spcPct val="120000"/>
              </a:lnSpc>
              <a:spcAft>
                <a:spcPts val="300"/>
              </a:spcAft>
            </a:pPr>
            <a:r>
              <a:rPr sz="1300" b="1" i="0">
                <a:solidFill>
                  <a:srgbClr val="1E2761"/>
                </a:solidFill>
                <a:latin typeface="Calibri"/>
              </a:rPr>
              <a:t>●  </a:t>
            </a:r>
            <a:r>
              <a:rPr sz="1300" b="0" i="0">
                <a:solidFill>
                  <a:srgbClr val="36454F"/>
                </a:solidFill>
                <a:latin typeface="Calibri"/>
              </a:rPr>
              <a:t>Obs. 2 — ProtoNet 0.716 &gt; GoS v1 0.572 at 5w5s</a:t>
            </a:r>
          </a:p>
          <a:p>
            <a:pPr algn="l">
              <a:lnSpc>
                <a:spcPct val="120000"/>
              </a:lnSpc>
              <a:spcAft>
                <a:spcPts val="300"/>
              </a:spcAft>
            </a:pPr>
            <a:r>
              <a:rPr sz="1100" b="0" i="0">
                <a:solidFill>
                  <a:srgbClr val="888A90"/>
                </a:solidFill>
                <a:latin typeface="Calibri"/>
              </a:rPr>
              <a:t>–  </a:t>
            </a:r>
            <a:r>
              <a:rPr sz="1100" b="0" i="0">
                <a:solidFill>
                  <a:srgbClr val="36454F"/>
                </a:solidFill>
                <a:latin typeface="Calibri"/>
              </a:rPr>
              <a:t>the meta-GNN hurts a representation ProtoNet already classifies well.</a:t>
            </a:r>
          </a:p>
          <a:p>
            <a:pPr algn="l">
              <a:lnSpc>
                <a:spcPct val="120000"/>
              </a:lnSpc>
              <a:spcAft>
                <a:spcPts val="300"/>
              </a:spcAft>
            </a:pPr>
            <a:r>
              <a:rPr sz="1300" b="1" i="0">
                <a:solidFill>
                  <a:srgbClr val="1E2761"/>
                </a:solidFill>
                <a:latin typeface="Calibri"/>
              </a:rPr>
              <a:t>●  </a:t>
            </a:r>
            <a:r>
              <a:rPr sz="1300" b="0" i="0">
                <a:solidFill>
                  <a:srgbClr val="36454F"/>
                </a:solidFill>
                <a:latin typeface="Calibri"/>
              </a:rPr>
              <a:t>Obs. 3 — cosine ≈ bilinear ≈ attention  (Δ &lt; 2 pp)</a:t>
            </a:r>
          </a:p>
          <a:p>
            <a:pPr algn="l">
              <a:lnSpc>
                <a:spcPct val="120000"/>
              </a:lnSpc>
              <a:spcAft>
                <a:spcPts val="300"/>
              </a:spcAft>
            </a:pPr>
            <a:r>
              <a:rPr sz="1100" b="0" i="0">
                <a:solidFill>
                  <a:srgbClr val="888A90"/>
                </a:solidFill>
                <a:latin typeface="Calibri"/>
              </a:rPr>
              <a:t>–  </a:t>
            </a:r>
            <a:r>
              <a:rPr sz="1100" b="0" i="0">
                <a:solidFill>
                  <a:srgbClr val="36454F"/>
                </a:solidFill>
                <a:latin typeface="Calibri"/>
              </a:rPr>
              <a:t>affinity-function expressivity is NOT the bottleneck.</a:t>
            </a:r>
          </a:p>
        </p:txBody>
      </p:sp>
      <p:sp>
        <p:nvSpPr>
          <p:cNvPr id="10" name="Rounded Rectangle 9"/>
          <p:cNvSpPr/>
          <p:nvPr/>
        </p:nvSpPr>
        <p:spPr>
          <a:xfrm>
            <a:off x="8229600" y="1737360"/>
            <a:ext cx="3566160" cy="4572000"/>
          </a:xfrm>
          <a:prstGeom prst="round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7432" rIns="228600" bIns="27432" rtlCol="0" anchor="ctr"/>
          <a:lstStyle/>
          <a:p>
            <a:pPr algn="l"/>
            <a:r>
              <a:rPr sz="1400" b="1" i="0">
                <a:solidFill>
                  <a:srgbClr val="FFFFFF"/>
                </a:solidFill>
                <a:latin typeface="Calibri"/>
              </a:rPr>
              <a:t>ROOT CAUSE</a:t>
            </a:r>
          </a:p>
          <a:p>
            <a:pPr algn="l">
              <a:spcBef>
                <a:spcPts val="1000"/>
              </a:spcBef>
            </a:pPr>
            <a:r>
              <a:rPr sz="1300" b="0" i="1">
                <a:solidFill>
                  <a:srgbClr val="FFFFFF"/>
                </a:solidFill>
                <a:latin typeface="Calibri"/>
              </a:rPr>
              <a:t>The meta-GNN replaces the encoder embedding at prototype time; 2-layer GCN over-smoothing destroys the class separability that was already there.</a:t>
            </a:r>
          </a:p>
        </p:txBody>
      </p:sp>
      <p:sp>
        <p:nvSpPr>
          <p:cNvPr id="11" name="TextBox 10"/>
          <p:cNvSpPr txBox="1"/>
          <p:nvPr/>
        </p:nvSpPr>
        <p:spPr>
          <a:xfrm>
            <a:off x="502920" y="5212080"/>
            <a:ext cx="11185855" cy="1097280"/>
          </a:xfrm>
          <a:prstGeom prst="rect">
            <a:avLst/>
          </a:prstGeom>
          <a:noFill/>
        </p:spPr>
        <p:txBody>
          <a:bodyPr wrap="square" lIns="45720" tIns="27432" rIns="45720" bIns="27432" anchor="t">
            <a:spAutoFit/>
          </a:bodyPr>
          <a:lstStyle/>
          <a:p>
            <a:pPr algn="l"/>
            <a:r>
              <a:rPr sz="1300" b="0" i="1">
                <a:solidFill>
                  <a:srgbClr val="36454F"/>
                </a:solidFill>
                <a:latin typeface="Calibri"/>
              </a:rPr>
              <a:t>Diagnosis = a checklist for v2: need a safety net that protects the encoder signal,  prevent over-smoothing structurally,  and strengthen the encoder itself.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APPROACH</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GoS v2 — Five Modifications</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7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Rounded Rectangle 6"/>
          <p:cNvSpPr/>
          <p:nvPr/>
        </p:nvSpPr>
        <p:spPr>
          <a:xfrm>
            <a:off x="502920" y="1828800"/>
            <a:ext cx="2149388" cy="64008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200" b="1" i="0">
                <a:solidFill>
                  <a:srgbClr val="FFFFFF"/>
                </a:solidFill>
                <a:latin typeface="Calibri"/>
              </a:rPr>
              <a:t>M1</a:t>
            </a:r>
          </a:p>
        </p:txBody>
      </p:sp>
      <p:sp>
        <p:nvSpPr>
          <p:cNvPr id="8" name="Rounded Rectangle 7"/>
          <p:cNvSpPr/>
          <p:nvPr/>
        </p:nvSpPr>
        <p:spPr>
          <a:xfrm>
            <a:off x="502920" y="2532888"/>
            <a:ext cx="2149388"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300" b="1" i="0">
                <a:solidFill>
                  <a:srgbClr val="1E2761"/>
                </a:solidFill>
                <a:latin typeface="Calibri"/>
              </a:rPr>
              <a:t>Residual
prototype</a:t>
            </a:r>
          </a:p>
          <a:p>
            <a:pPr algn="ctr">
              <a:spcBef>
                <a:spcPts val="800"/>
              </a:spcBef>
            </a:pPr>
            <a:r>
              <a:rPr sz="1000" b="0" i="1">
                <a:solidFill>
                  <a:srgbClr val="36454F"/>
                </a:solidFill>
                <a:latin typeface="Calibri"/>
              </a:rPr>
              <a:t>α · c_enc  +  (1-α) · c_gnn,  α ∈ [0,1] learnable</a:t>
            </a:r>
          </a:p>
        </p:txBody>
      </p:sp>
      <p:sp>
        <p:nvSpPr>
          <p:cNvPr id="9" name="Rounded Rectangle 8"/>
          <p:cNvSpPr/>
          <p:nvPr/>
        </p:nvSpPr>
        <p:spPr>
          <a:xfrm>
            <a:off x="2762036" y="1828800"/>
            <a:ext cx="2149388" cy="64008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200" b="1" i="0">
                <a:solidFill>
                  <a:srgbClr val="FFFFFF"/>
                </a:solidFill>
                <a:latin typeface="Calibri"/>
              </a:rPr>
              <a:t>M2</a:t>
            </a:r>
          </a:p>
        </p:txBody>
      </p:sp>
      <p:sp>
        <p:nvSpPr>
          <p:cNvPr id="10" name="Rounded Rectangle 9"/>
          <p:cNvSpPr/>
          <p:nvPr/>
        </p:nvSpPr>
        <p:spPr>
          <a:xfrm>
            <a:off x="2762036" y="2532888"/>
            <a:ext cx="2149388"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300" b="1" i="0">
                <a:solidFill>
                  <a:srgbClr val="1E2761"/>
                </a:solidFill>
                <a:latin typeface="Calibri"/>
              </a:rPr>
              <a:t>Shallower
meta-GNN</a:t>
            </a:r>
          </a:p>
          <a:p>
            <a:pPr algn="ctr">
              <a:spcBef>
                <a:spcPts val="800"/>
              </a:spcBef>
            </a:pPr>
            <a:r>
              <a:rPr sz="1000" b="0" i="1">
                <a:solidFill>
                  <a:srgbClr val="36454F"/>
                </a:solidFill>
                <a:latin typeface="Calibri"/>
              </a:rPr>
              <a:t>1-layer GAT replaces 2-layer GCN</a:t>
            </a:r>
          </a:p>
        </p:txBody>
      </p:sp>
      <p:sp>
        <p:nvSpPr>
          <p:cNvPr id="11" name="Rounded Rectangle 10"/>
          <p:cNvSpPr/>
          <p:nvPr/>
        </p:nvSpPr>
        <p:spPr>
          <a:xfrm>
            <a:off x="5021153" y="1828800"/>
            <a:ext cx="2149388" cy="64008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200" b="1" i="0">
                <a:solidFill>
                  <a:srgbClr val="FFFFFF"/>
                </a:solidFill>
                <a:latin typeface="Calibri"/>
              </a:rPr>
              <a:t>M3</a:t>
            </a:r>
          </a:p>
        </p:txBody>
      </p:sp>
      <p:sp>
        <p:nvSpPr>
          <p:cNvPr id="12" name="Rounded Rectangle 11"/>
          <p:cNvSpPr/>
          <p:nvPr/>
        </p:nvSpPr>
        <p:spPr>
          <a:xfrm>
            <a:off x="5021153" y="2532888"/>
            <a:ext cx="2149388"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300" b="1" i="0">
                <a:solidFill>
                  <a:srgbClr val="1E2761"/>
                </a:solidFill>
                <a:latin typeface="Calibri"/>
              </a:rPr>
              <a:t>Bipartite
messaging</a:t>
            </a:r>
          </a:p>
          <a:p>
            <a:pPr algn="ctr">
              <a:spcBef>
                <a:spcPts val="800"/>
              </a:spcBef>
            </a:pPr>
            <a:r>
              <a:rPr sz="1000" b="0" i="1">
                <a:solidFill>
                  <a:srgbClr val="36454F"/>
                </a:solidFill>
                <a:latin typeface="Calibri"/>
              </a:rPr>
              <a:t>mask query → * edges (no Q→Q noise)</a:t>
            </a:r>
          </a:p>
        </p:txBody>
      </p:sp>
      <p:sp>
        <p:nvSpPr>
          <p:cNvPr id="13" name="Rounded Rectangle 12"/>
          <p:cNvSpPr/>
          <p:nvPr/>
        </p:nvSpPr>
        <p:spPr>
          <a:xfrm>
            <a:off x="7280269" y="1828800"/>
            <a:ext cx="2149388" cy="640080"/>
          </a:xfrm>
          <a:prstGeom prst="round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200" b="1" i="0">
                <a:solidFill>
                  <a:srgbClr val="FFFFFF"/>
                </a:solidFill>
                <a:latin typeface="Calibri"/>
              </a:rPr>
              <a:t>M4</a:t>
            </a:r>
          </a:p>
        </p:txBody>
      </p:sp>
      <p:sp>
        <p:nvSpPr>
          <p:cNvPr id="14" name="Rounded Rectangle 13"/>
          <p:cNvSpPr/>
          <p:nvPr/>
        </p:nvSpPr>
        <p:spPr>
          <a:xfrm>
            <a:off x="7280269" y="2532888"/>
            <a:ext cx="2149388"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300" b="1" i="0">
                <a:solidFill>
                  <a:srgbClr val="1E2761"/>
                </a:solidFill>
                <a:latin typeface="Calibri"/>
              </a:rPr>
              <a:t>Contrastive
aux loss</a:t>
            </a:r>
          </a:p>
          <a:p>
            <a:pPr algn="ctr">
              <a:spcBef>
                <a:spcPts val="800"/>
              </a:spcBef>
            </a:pPr>
            <a:r>
              <a:rPr sz="1000" b="0" i="1">
                <a:solidFill>
                  <a:srgbClr val="36454F"/>
                </a:solidFill>
                <a:latin typeface="Calibri"/>
              </a:rPr>
              <a:t>InfoNCE on support–query pairs</a:t>
            </a:r>
          </a:p>
        </p:txBody>
      </p:sp>
      <p:sp>
        <p:nvSpPr>
          <p:cNvPr id="15" name="Rounded Rectangle 14"/>
          <p:cNvSpPr/>
          <p:nvPr/>
        </p:nvSpPr>
        <p:spPr>
          <a:xfrm>
            <a:off x="9539386" y="1828800"/>
            <a:ext cx="2149388" cy="640080"/>
          </a:xfrm>
          <a:prstGeom prst="round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200" b="1" i="0">
                <a:solidFill>
                  <a:srgbClr val="FFFFFF"/>
                </a:solidFill>
                <a:latin typeface="Calibri"/>
              </a:rPr>
              <a:t>M5</a:t>
            </a:r>
          </a:p>
        </p:txBody>
      </p:sp>
      <p:sp>
        <p:nvSpPr>
          <p:cNvPr id="16" name="Rounded Rectangle 15"/>
          <p:cNvSpPr/>
          <p:nvPr/>
        </p:nvSpPr>
        <p:spPr>
          <a:xfrm>
            <a:off x="9539386" y="2532888"/>
            <a:ext cx="2149388" cy="32004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ctr"/>
            <a:r>
              <a:rPr sz="1300" b="1" i="0">
                <a:solidFill>
                  <a:srgbClr val="1E2761"/>
                </a:solidFill>
                <a:latin typeface="Calibri"/>
              </a:rPr>
              <a:t>SSL
pretraining</a:t>
            </a:r>
          </a:p>
          <a:p>
            <a:pPr algn="ctr">
              <a:spcBef>
                <a:spcPts val="800"/>
              </a:spcBef>
            </a:pPr>
            <a:r>
              <a:rPr sz="1000" b="0" i="1">
                <a:solidFill>
                  <a:srgbClr val="36454F"/>
                </a:solidFill>
                <a:latin typeface="Calibri"/>
              </a:rPr>
              <a:t>MolCLR-style encoder init on 110k mols</a:t>
            </a:r>
          </a:p>
        </p:txBody>
      </p:sp>
      <p:sp>
        <p:nvSpPr>
          <p:cNvPr id="17" name="Rounded Rectangle 16"/>
          <p:cNvSpPr/>
          <p:nvPr/>
        </p:nvSpPr>
        <p:spPr>
          <a:xfrm>
            <a:off x="502920" y="5486400"/>
            <a:ext cx="11185855" cy="91440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27432" rIns="45720" bIns="27432" rtlCol="0" anchor="ctr"/>
          <a:lstStyle/>
          <a:p>
            <a:pPr algn="l"/>
            <a:r>
              <a:rPr sz="1400" b="1" i="0">
                <a:solidFill>
                  <a:srgbClr val="1E2761"/>
                </a:solidFill>
                <a:latin typeface="Calibri"/>
              </a:rPr>
              <a:t>Safety net: </a:t>
            </a:r>
            <a:r>
              <a:rPr sz="1400" b="0" i="1">
                <a:solidFill>
                  <a:srgbClr val="1E2761"/>
                </a:solidFill>
                <a:latin typeface="Calibri"/>
              </a:rPr>
              <a:t>as α → 1, v2 recovers ProtoNet — so v2 is lower-bounded by the strongest baseline; composition of all five modifications is the upside.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RESULTS</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Main Comparison — v2 + SSL beats ProtoNet</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8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pic>
        <p:nvPicPr>
          <p:cNvPr id="7" name="Picture 6" descr="fig_v2_main.png"/>
          <p:cNvPicPr>
            <a:picLocks noChangeAspect="1"/>
          </p:cNvPicPr>
          <p:nvPr/>
        </p:nvPicPr>
        <p:blipFill>
          <a:blip r:embed="rId3"/>
          <a:stretch>
            <a:fillRect/>
          </a:stretch>
        </p:blipFill>
        <p:spPr>
          <a:xfrm>
            <a:off x="502920" y="1691640"/>
            <a:ext cx="7863840" cy="4179423"/>
          </a:xfrm>
          <a:prstGeom prst="rect">
            <a:avLst/>
          </a:prstGeom>
        </p:spPr>
      </p:pic>
      <p:sp>
        <p:nvSpPr>
          <p:cNvPr id="8" name="Rounded Rectangle 7"/>
          <p:cNvSpPr/>
          <p:nvPr/>
        </p:nvSpPr>
        <p:spPr>
          <a:xfrm>
            <a:off x="8549640" y="1737360"/>
            <a:ext cx="3291840" cy="411480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9" name="TextBox 8"/>
          <p:cNvSpPr txBox="1"/>
          <p:nvPr/>
        </p:nvSpPr>
        <p:spPr>
          <a:xfrm>
            <a:off x="8686800" y="1874519"/>
            <a:ext cx="3108960" cy="365760"/>
          </a:xfrm>
          <a:prstGeom prst="rect">
            <a:avLst/>
          </a:prstGeom>
          <a:noFill/>
        </p:spPr>
        <p:txBody>
          <a:bodyPr wrap="square" lIns="45720" tIns="27432" rIns="45720" bIns="27432" anchor="t">
            <a:spAutoFit/>
          </a:bodyPr>
          <a:lstStyle/>
          <a:p>
            <a:pPr algn="l"/>
            <a:r>
              <a:rPr sz="1200" b="1" i="0">
                <a:solidFill>
                  <a:srgbClr val="F96167"/>
                </a:solidFill>
                <a:latin typeface="Calibri"/>
              </a:rPr>
              <a:t>TAKEAWAYS</a:t>
            </a:r>
          </a:p>
        </p:txBody>
      </p:sp>
      <p:sp>
        <p:nvSpPr>
          <p:cNvPr id="10" name="TextBox 9"/>
          <p:cNvSpPr txBox="1"/>
          <p:nvPr/>
        </p:nvSpPr>
        <p:spPr>
          <a:xfrm>
            <a:off x="8686800" y="2331720"/>
            <a:ext cx="3017520" cy="3474720"/>
          </a:xfrm>
          <a:prstGeom prst="rect">
            <a:avLst/>
          </a:prstGeom>
          <a:noFill/>
        </p:spPr>
        <p:txBody>
          <a:bodyPr wrap="square" lIns="45720" rIns="45720">
            <a:spAutoFit/>
          </a:bodyPr>
          <a:lstStyle/>
          <a:p>
            <a:pPr algn="l">
              <a:lnSpc>
                <a:spcPct val="120000"/>
              </a:lnSpc>
              <a:spcAft>
                <a:spcPts val="300"/>
              </a:spcAft>
            </a:pPr>
            <a:r>
              <a:rPr sz="1150" b="1" i="0">
                <a:solidFill>
                  <a:srgbClr val="1E2761"/>
                </a:solidFill>
                <a:latin typeface="Calibri"/>
              </a:rPr>
              <a:t>●  </a:t>
            </a:r>
            <a:r>
              <a:rPr sz="1150" b="0" i="0">
                <a:solidFill>
                  <a:srgbClr val="36454F"/>
                </a:solidFill>
                <a:latin typeface="Calibri"/>
              </a:rPr>
              <a:t>v2 + SSL beats ProtoNet on every config.</a:t>
            </a:r>
          </a:p>
          <a:p>
            <a:pPr algn="l">
              <a:lnSpc>
                <a:spcPct val="120000"/>
              </a:lnSpc>
              <a:spcAft>
                <a:spcPts val="300"/>
              </a:spcAft>
            </a:pPr>
            <a:r>
              <a:rPr sz="950" b="0" i="0">
                <a:solidFill>
                  <a:srgbClr val="888A90"/>
                </a:solidFill>
                <a:latin typeface="Calibri"/>
              </a:rPr>
              <a:t>–  </a:t>
            </a:r>
            <a:r>
              <a:rPr sz="950" b="0" i="0">
                <a:solidFill>
                  <a:srgbClr val="36454F"/>
                </a:solidFill>
                <a:latin typeface="Calibri"/>
              </a:rPr>
              <a:t>5w1s:  0.603 vs 0.586  (+1.7 pp)</a:t>
            </a:r>
          </a:p>
          <a:p>
            <a:pPr algn="l">
              <a:lnSpc>
                <a:spcPct val="120000"/>
              </a:lnSpc>
              <a:spcAft>
                <a:spcPts val="300"/>
              </a:spcAft>
            </a:pPr>
            <a:r>
              <a:rPr sz="950" b="0" i="0">
                <a:solidFill>
                  <a:srgbClr val="888A90"/>
                </a:solidFill>
                <a:latin typeface="Calibri"/>
              </a:rPr>
              <a:t>–  </a:t>
            </a:r>
            <a:r>
              <a:rPr sz="950" b="0" i="0">
                <a:solidFill>
                  <a:srgbClr val="36454F"/>
                </a:solidFill>
                <a:latin typeface="Calibri"/>
              </a:rPr>
              <a:t>5w5s:  0.728 vs 0.716  (+1.2 pp)</a:t>
            </a:r>
          </a:p>
          <a:p>
            <a:pPr algn="l">
              <a:lnSpc>
                <a:spcPct val="120000"/>
              </a:lnSpc>
              <a:spcAft>
                <a:spcPts val="300"/>
              </a:spcAft>
            </a:pPr>
            <a:r>
              <a:rPr sz="950" b="0" i="0">
                <a:solidFill>
                  <a:srgbClr val="888A90"/>
                </a:solidFill>
                <a:latin typeface="Calibri"/>
              </a:rPr>
              <a:t>–  </a:t>
            </a:r>
            <a:r>
              <a:rPr sz="950" b="0" i="0">
                <a:solidFill>
                  <a:srgbClr val="36454F"/>
                </a:solidFill>
                <a:latin typeface="Calibri"/>
              </a:rPr>
              <a:t>10w5s: 0.712 vs 0.700  (+1.2 pp)</a:t>
            </a:r>
          </a:p>
          <a:p>
            <a:pPr algn="l">
              <a:lnSpc>
                <a:spcPct val="120000"/>
              </a:lnSpc>
              <a:spcAft>
                <a:spcPts val="300"/>
              </a:spcAft>
            </a:pPr>
            <a:r>
              <a:rPr sz="1150" b="1" i="0">
                <a:solidFill>
                  <a:srgbClr val="1E2761"/>
                </a:solidFill>
                <a:latin typeface="Calibri"/>
              </a:rPr>
              <a:t>●  </a:t>
            </a:r>
            <a:r>
              <a:rPr sz="1150" b="0" i="0">
                <a:solidFill>
                  <a:srgbClr val="36454F"/>
                </a:solidFill>
                <a:latin typeface="Calibri"/>
              </a:rPr>
              <a:t>SSL alone: +2.2 pp on v2.</a:t>
            </a:r>
          </a:p>
          <a:p>
            <a:pPr algn="l">
              <a:lnSpc>
                <a:spcPct val="120000"/>
              </a:lnSpc>
              <a:spcAft>
                <a:spcPts val="300"/>
              </a:spcAft>
            </a:pPr>
            <a:r>
              <a:rPr sz="1150" b="1" i="0">
                <a:solidFill>
                  <a:srgbClr val="1E2761"/>
                </a:solidFill>
                <a:latin typeface="Calibri"/>
              </a:rPr>
              <a:t>●  </a:t>
            </a:r>
            <a:r>
              <a:rPr sz="1150" b="0" i="0">
                <a:solidFill>
                  <a:srgbClr val="36454F"/>
                </a:solidFill>
                <a:latin typeface="Calibri"/>
              </a:rPr>
              <a:t>MAML stays near chance.</a:t>
            </a:r>
          </a:p>
        </p:txBody>
      </p:sp>
      <p:sp>
        <p:nvSpPr>
          <p:cNvPr id="11" name="TextBox 10"/>
          <p:cNvSpPr txBox="1"/>
          <p:nvPr/>
        </p:nvSpPr>
        <p:spPr>
          <a:xfrm>
            <a:off x="502920" y="6035040"/>
            <a:ext cx="11185855" cy="365760"/>
          </a:xfrm>
          <a:prstGeom prst="rect">
            <a:avLst/>
          </a:prstGeom>
          <a:noFill/>
        </p:spPr>
        <p:txBody>
          <a:bodyPr wrap="square" lIns="45720" tIns="27432" rIns="45720" bIns="27432" anchor="t">
            <a:spAutoFit/>
          </a:bodyPr>
          <a:lstStyle/>
          <a:p>
            <a:pPr algn="ctr"/>
            <a:r>
              <a:rPr sz="1100" b="0" i="1">
                <a:solidFill>
                  <a:srgbClr val="888A90"/>
                </a:solidFill>
                <a:latin typeface="Calibri"/>
              </a:rPr>
              <a:t>Merged pool (Tox21 + ToxCast + MUV + SIDER, 673 tasks, 405 / 134 / 134 split).  Meta-val AUC at best checkpoint.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RESULTS</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Ablations A1 &amp; A2 — Residual  +  Depth × Type</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9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pic>
        <p:nvPicPr>
          <p:cNvPr id="7" name="Picture 6" descr="fig_v2_A1.png"/>
          <p:cNvPicPr>
            <a:picLocks noChangeAspect="1"/>
          </p:cNvPicPr>
          <p:nvPr/>
        </p:nvPicPr>
        <p:blipFill>
          <a:blip r:embed="rId3"/>
          <a:stretch>
            <a:fillRect/>
          </a:stretch>
        </p:blipFill>
        <p:spPr>
          <a:xfrm>
            <a:off x="457200" y="1691640"/>
            <a:ext cx="5760720" cy="3906023"/>
          </a:xfrm>
          <a:prstGeom prst="rect">
            <a:avLst/>
          </a:prstGeom>
        </p:spPr>
      </p:pic>
      <p:pic>
        <p:nvPicPr>
          <p:cNvPr id="8" name="Picture 7" descr="fig_v2_A2.png"/>
          <p:cNvPicPr>
            <a:picLocks noChangeAspect="1"/>
          </p:cNvPicPr>
          <p:nvPr/>
        </p:nvPicPr>
        <p:blipFill>
          <a:blip r:embed="rId4"/>
          <a:stretch>
            <a:fillRect/>
          </a:stretch>
        </p:blipFill>
        <p:spPr>
          <a:xfrm>
            <a:off x="6309360" y="1691640"/>
            <a:ext cx="5760720" cy="3838739"/>
          </a:xfrm>
          <a:prstGeom prst="rect">
            <a:avLst/>
          </a:prstGeom>
        </p:spPr>
      </p:pic>
      <p:sp>
        <p:nvSpPr>
          <p:cNvPr id="9" name="Rounded Rectangle 8"/>
          <p:cNvSpPr/>
          <p:nvPr/>
        </p:nvSpPr>
        <p:spPr>
          <a:xfrm>
            <a:off x="502920" y="5486400"/>
            <a:ext cx="11185855" cy="10058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0" name="TextBox 9"/>
          <p:cNvSpPr txBox="1"/>
          <p:nvPr/>
        </p:nvSpPr>
        <p:spPr>
          <a:xfrm>
            <a:off x="731520" y="5577840"/>
            <a:ext cx="11185855" cy="365760"/>
          </a:xfrm>
          <a:prstGeom prst="rect">
            <a:avLst/>
          </a:prstGeom>
          <a:noFill/>
        </p:spPr>
        <p:txBody>
          <a:bodyPr wrap="square" lIns="45720" tIns="27432" rIns="45720" bIns="27432" anchor="t">
            <a:spAutoFit/>
          </a:bodyPr>
          <a:lstStyle/>
          <a:p>
            <a:pPr algn="l"/>
            <a:r>
              <a:rPr sz="1200" b="1" i="0">
                <a:solidFill>
                  <a:srgbClr val="F96167"/>
                </a:solidFill>
                <a:latin typeface="Calibri"/>
              </a:rPr>
              <a:t>KEY FINDINGS</a:t>
            </a:r>
          </a:p>
        </p:txBody>
      </p:sp>
      <p:sp>
        <p:nvSpPr>
          <p:cNvPr id="11" name="TextBox 10"/>
          <p:cNvSpPr txBox="1"/>
          <p:nvPr/>
        </p:nvSpPr>
        <p:spPr>
          <a:xfrm>
            <a:off x="731520" y="5943600"/>
            <a:ext cx="10728655" cy="548640"/>
          </a:xfrm>
          <a:prstGeom prst="rect">
            <a:avLst/>
          </a:prstGeom>
          <a:noFill/>
        </p:spPr>
        <p:txBody>
          <a:bodyPr wrap="square" lIns="45720" tIns="27432" rIns="45720" bIns="27432" anchor="t">
            <a:spAutoFit/>
          </a:bodyPr>
          <a:lstStyle/>
          <a:p>
            <a:pPr algn="l"/>
            <a:r>
              <a:rPr sz="1200" b="0" i="1">
                <a:solidFill>
                  <a:srgbClr val="36454F"/>
                </a:solidFill>
                <a:latin typeface="Calibri"/>
              </a:rPr>
              <a:t>A1:  α = 0 collapses to 0.500 — residual is essential;  any α ≥ 0.3 works.    A2:  GAT L = 1 wins — confirms the over-smoothing diagnosis.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RESULTS</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Ablations A3 · A4 · A5 — Masking, λ, SSL</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10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pic>
        <p:nvPicPr>
          <p:cNvPr id="7" name="Picture 6" descr="fig_v2_A3.png"/>
          <p:cNvPicPr>
            <a:picLocks noChangeAspect="1"/>
          </p:cNvPicPr>
          <p:nvPr/>
        </p:nvPicPr>
        <p:blipFill>
          <a:blip r:embed="rId3"/>
          <a:stretch>
            <a:fillRect/>
          </a:stretch>
        </p:blipFill>
        <p:spPr>
          <a:xfrm>
            <a:off x="137160" y="1691640"/>
            <a:ext cx="4023360" cy="2538766"/>
          </a:xfrm>
          <a:prstGeom prst="rect">
            <a:avLst/>
          </a:prstGeom>
        </p:spPr>
      </p:pic>
      <p:pic>
        <p:nvPicPr>
          <p:cNvPr id="8" name="Picture 7" descr="fig_v2_A4.png"/>
          <p:cNvPicPr>
            <a:picLocks noChangeAspect="1"/>
          </p:cNvPicPr>
          <p:nvPr/>
        </p:nvPicPr>
        <p:blipFill>
          <a:blip r:embed="rId4"/>
          <a:stretch>
            <a:fillRect/>
          </a:stretch>
        </p:blipFill>
        <p:spPr>
          <a:xfrm>
            <a:off x="4206240" y="1691640"/>
            <a:ext cx="4023360" cy="2619282"/>
          </a:xfrm>
          <a:prstGeom prst="rect">
            <a:avLst/>
          </a:prstGeom>
        </p:spPr>
      </p:pic>
      <p:pic>
        <p:nvPicPr>
          <p:cNvPr id="9" name="Picture 8" descr="fig_v2_A5.png"/>
          <p:cNvPicPr>
            <a:picLocks noChangeAspect="1"/>
          </p:cNvPicPr>
          <p:nvPr/>
        </p:nvPicPr>
        <p:blipFill>
          <a:blip r:embed="rId5"/>
          <a:stretch>
            <a:fillRect/>
          </a:stretch>
        </p:blipFill>
        <p:spPr>
          <a:xfrm>
            <a:off x="8275320" y="1691640"/>
            <a:ext cx="4023360" cy="2525411"/>
          </a:xfrm>
          <a:prstGeom prst="rect">
            <a:avLst/>
          </a:prstGeom>
        </p:spPr>
      </p:pic>
      <p:sp>
        <p:nvSpPr>
          <p:cNvPr id="10" name="Rounded Rectangle 9"/>
          <p:cNvSpPr/>
          <p:nvPr/>
        </p:nvSpPr>
        <p:spPr>
          <a:xfrm>
            <a:off x="502920" y="5486400"/>
            <a:ext cx="11185855" cy="10058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1" name="TextBox 10"/>
          <p:cNvSpPr txBox="1"/>
          <p:nvPr/>
        </p:nvSpPr>
        <p:spPr>
          <a:xfrm>
            <a:off x="731520" y="5577840"/>
            <a:ext cx="11185855" cy="365760"/>
          </a:xfrm>
          <a:prstGeom prst="rect">
            <a:avLst/>
          </a:prstGeom>
          <a:noFill/>
        </p:spPr>
        <p:txBody>
          <a:bodyPr wrap="square" lIns="45720" tIns="27432" rIns="45720" bIns="27432" anchor="t">
            <a:spAutoFit/>
          </a:bodyPr>
          <a:lstStyle/>
          <a:p>
            <a:pPr algn="l"/>
            <a:r>
              <a:rPr sz="1200" b="1" i="0">
                <a:solidFill>
                  <a:srgbClr val="F96167"/>
                </a:solidFill>
                <a:latin typeface="Calibri"/>
              </a:rPr>
              <a:t>KEY FINDINGS</a:t>
            </a:r>
          </a:p>
        </p:txBody>
      </p:sp>
      <p:sp>
        <p:nvSpPr>
          <p:cNvPr id="12" name="TextBox 11"/>
          <p:cNvSpPr txBox="1"/>
          <p:nvPr/>
        </p:nvSpPr>
        <p:spPr>
          <a:xfrm>
            <a:off x="731520" y="5943600"/>
            <a:ext cx="10728655" cy="548640"/>
          </a:xfrm>
          <a:prstGeom prst="rect">
            <a:avLst/>
          </a:prstGeom>
          <a:noFill/>
        </p:spPr>
        <p:txBody>
          <a:bodyPr wrap="square" lIns="45720" tIns="27432" rIns="45720" bIns="27432" anchor="t">
            <a:spAutoFit/>
          </a:bodyPr>
          <a:lstStyle/>
          <a:p>
            <a:pPr algn="l"/>
            <a:r>
              <a:rPr sz="1200" b="0" i="1">
                <a:solidFill>
                  <a:srgbClr val="36454F"/>
                </a:solidFill>
                <a:latin typeface="Calibri"/>
              </a:rPr>
              <a:t>A3:  bipartite masking +0.6 pp.    A4:  a tiny λ = 0.1 contrastive loss is enough.    A5:  SSL fine-tune +2.2 pp,  but freezing the encoder is catastrophic (−10 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WRAP-UP</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Takeaways &amp; Future Work</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11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TextBox 6"/>
          <p:cNvSpPr txBox="1"/>
          <p:nvPr/>
        </p:nvSpPr>
        <p:spPr>
          <a:xfrm>
            <a:off x="502920" y="1737360"/>
            <a:ext cx="11185855" cy="4846320"/>
          </a:xfrm>
          <a:prstGeom prst="rect">
            <a:avLst/>
          </a:prstGeom>
          <a:noFill/>
        </p:spPr>
        <p:txBody>
          <a:bodyPr wrap="square" lIns="45720" rIns="45720">
            <a:spAutoFit/>
          </a:bodyPr>
          <a:lstStyle/>
          <a:p>
            <a:pPr algn="l">
              <a:lnSpc>
                <a:spcPct val="120000"/>
              </a:lnSpc>
              <a:spcAft>
                <a:spcPts val="300"/>
              </a:spcAft>
            </a:pPr>
            <a:r>
              <a:rPr sz="1400" b="1" i="0">
                <a:solidFill>
                  <a:srgbClr val="1E2761"/>
                </a:solidFill>
                <a:latin typeface="Calibri"/>
              </a:rPr>
              <a:t>●  </a:t>
            </a:r>
            <a:r>
              <a:rPr sz="1400" b="0" i="0">
                <a:solidFill>
                  <a:srgbClr val="36454F"/>
                </a:solidFill>
                <a:latin typeface="Calibri"/>
              </a:rPr>
              <a:t>Few-shot molecular classification has real motivation (label scarcity in bioassays).</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ProtoNet is a surprisingly strong baseline — starting from a clean metric method saves a lot of pain.</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GoS v1 beat MAML but lost to ProtoNet; GCN over-smoothing was the root cause.</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GoS v2 (residual prototype + 1-layer GAT + bipartite masking + contrastive loss + SSL)</a:t>
            </a:r>
          </a:p>
          <a:p>
            <a:pPr algn="l">
              <a:lnSpc>
                <a:spcPct val="120000"/>
              </a:lnSpc>
              <a:spcAft>
                <a:spcPts val="300"/>
              </a:spcAft>
            </a:pPr>
            <a:r>
              <a:rPr sz="1200" b="0" i="0">
                <a:solidFill>
                  <a:srgbClr val="888A90"/>
                </a:solidFill>
                <a:latin typeface="Calibri"/>
              </a:rPr>
              <a:t>–  </a:t>
            </a:r>
            <a:r>
              <a:rPr sz="1200" b="0" i="0">
                <a:solidFill>
                  <a:srgbClr val="36454F"/>
                </a:solidFill>
                <a:latin typeface="Calibri"/>
              </a:rPr>
              <a:t>beats ProtoNet on 5w1s / 5w5s / 10w5s by +1.2 to +1.7 pp.</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Biggest two levers: M1 residual prototype (safety net) and M5 SSL pretraining (+2.2 pp).</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Transferable lessons:</a:t>
            </a:r>
          </a:p>
          <a:p>
            <a:pPr algn="l">
              <a:lnSpc>
                <a:spcPct val="120000"/>
              </a:lnSpc>
              <a:spcAft>
                <a:spcPts val="300"/>
              </a:spcAft>
            </a:pPr>
            <a:r>
              <a:rPr sz="1200" b="0" i="0">
                <a:solidFill>
                  <a:srgbClr val="888A90"/>
                </a:solidFill>
                <a:latin typeface="Calibri"/>
              </a:rPr>
              <a:t>–  </a:t>
            </a:r>
            <a:r>
              <a:rPr sz="1200" b="0" i="0">
                <a:solidFill>
                  <a:srgbClr val="36454F"/>
                </a:solidFill>
                <a:latin typeface="Calibri"/>
              </a:rPr>
              <a:t>sparsification &gt; affinity expressivity for task-level meta-graphs,</a:t>
            </a:r>
          </a:p>
          <a:p>
            <a:pPr algn="l">
              <a:lnSpc>
                <a:spcPct val="120000"/>
              </a:lnSpc>
              <a:spcAft>
                <a:spcPts val="300"/>
              </a:spcAft>
            </a:pPr>
            <a:r>
              <a:rPr sz="1200" b="0" i="0">
                <a:solidFill>
                  <a:srgbClr val="888A90"/>
                </a:solidFill>
                <a:latin typeface="Calibri"/>
              </a:rPr>
              <a:t>–  </a:t>
            </a:r>
            <a:r>
              <a:rPr sz="1200" b="0" i="0">
                <a:solidFill>
                  <a:srgbClr val="36454F"/>
                </a:solidFill>
                <a:latin typeface="Calibri"/>
              </a:rPr>
              <a:t>shared classifier heads collapse under episodic training — use prototype / metric heads,</a:t>
            </a:r>
          </a:p>
          <a:p>
            <a:pPr algn="l">
              <a:lnSpc>
                <a:spcPct val="120000"/>
              </a:lnSpc>
              <a:spcAft>
                <a:spcPts val="300"/>
              </a:spcAft>
            </a:pPr>
            <a:r>
              <a:rPr sz="1200" b="0" i="0">
                <a:solidFill>
                  <a:srgbClr val="888A90"/>
                </a:solidFill>
                <a:latin typeface="Calibri"/>
              </a:rPr>
              <a:t>–  </a:t>
            </a:r>
            <a:r>
              <a:rPr sz="1200" b="0" i="0">
                <a:solidFill>
                  <a:srgbClr val="36454F"/>
                </a:solidFill>
                <a:latin typeface="Calibri"/>
              </a:rPr>
              <a:t>when the baseline is already 0.70, the bottleneck is usually the encoder.</a:t>
            </a:r>
          </a:p>
          <a:p>
            <a:pPr algn="l">
              <a:lnSpc>
                <a:spcPct val="120000"/>
              </a:lnSpc>
              <a:spcAft>
                <a:spcPts val="300"/>
              </a:spcAft>
            </a:pPr>
            <a:r>
              <a:rPr sz="1400" b="1" i="0">
                <a:solidFill>
                  <a:srgbClr val="1E2761"/>
                </a:solidFill>
                <a:latin typeface="Calibri"/>
              </a:rPr>
              <a:t>●  </a:t>
            </a:r>
            <a:r>
              <a:rPr sz="1400" b="0" i="0">
                <a:solidFill>
                  <a:srgbClr val="36454F"/>
                </a:solidFill>
                <a:latin typeface="Calibri"/>
              </a:rPr>
              <a:t>Future work: contrastive-only objective,  text-augmented encoder,  cross-assay meta-transfer.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2834640"/>
            <a:ext cx="12191695" cy="10972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TextBox 2"/>
          <p:cNvSpPr txBox="1"/>
          <p:nvPr/>
        </p:nvSpPr>
        <p:spPr>
          <a:xfrm>
            <a:off x="502920" y="2011680"/>
            <a:ext cx="11185855" cy="1097280"/>
          </a:xfrm>
          <a:prstGeom prst="rect">
            <a:avLst/>
          </a:prstGeom>
          <a:noFill/>
        </p:spPr>
        <p:txBody>
          <a:bodyPr wrap="square" lIns="45720" tIns="27432" rIns="45720" bIns="27432" anchor="t">
            <a:spAutoFit/>
          </a:bodyPr>
          <a:lstStyle/>
          <a:p>
            <a:pPr algn="ctr"/>
            <a:r>
              <a:rPr sz="6800" b="1" i="0">
                <a:solidFill>
                  <a:srgbClr val="FFFFFF"/>
                </a:solidFill>
                <a:latin typeface="Calibri"/>
              </a:rPr>
              <a:t>Thank you.</a:t>
            </a:r>
          </a:p>
        </p:txBody>
      </p:sp>
      <p:sp>
        <p:nvSpPr>
          <p:cNvPr id="4" name="TextBox 3"/>
          <p:cNvSpPr txBox="1"/>
          <p:nvPr/>
        </p:nvSpPr>
        <p:spPr>
          <a:xfrm>
            <a:off x="502920" y="3337560"/>
            <a:ext cx="11185855" cy="548640"/>
          </a:xfrm>
          <a:prstGeom prst="rect">
            <a:avLst/>
          </a:prstGeom>
          <a:noFill/>
        </p:spPr>
        <p:txBody>
          <a:bodyPr wrap="square" lIns="45720" tIns="27432" rIns="45720" bIns="27432" anchor="t">
            <a:spAutoFit/>
          </a:bodyPr>
          <a:lstStyle/>
          <a:p>
            <a:pPr algn="ctr"/>
            <a:r>
              <a:rPr sz="2800" b="0" i="1">
                <a:solidFill>
                  <a:srgbClr val="CADCFC"/>
                </a:solidFill>
                <a:latin typeface="Calibri"/>
              </a:rPr>
              <a:t>Questions?</a:t>
            </a:r>
          </a:p>
        </p:txBody>
      </p:sp>
      <p:sp>
        <p:nvSpPr>
          <p:cNvPr id="5" name="TextBox 4"/>
          <p:cNvSpPr txBox="1"/>
          <p:nvPr/>
        </p:nvSpPr>
        <p:spPr>
          <a:xfrm>
            <a:off x="502920" y="4389120"/>
            <a:ext cx="11185855" cy="457200"/>
          </a:xfrm>
          <a:prstGeom prst="rect">
            <a:avLst/>
          </a:prstGeom>
          <a:noFill/>
        </p:spPr>
        <p:txBody>
          <a:bodyPr wrap="square" lIns="45720" tIns="27432" rIns="45720" bIns="27432" anchor="t">
            <a:spAutoFit/>
          </a:bodyPr>
          <a:lstStyle/>
          <a:p>
            <a:pPr algn="ctr"/>
            <a:r>
              <a:rPr sz="1800" b="0" i="0">
                <a:solidFill>
                  <a:srgbClr val="FFFFFF"/>
                </a:solidFill>
                <a:latin typeface="Calibri"/>
              </a:rPr>
              <a:t>Code:  github.com/BDeMo/proj-mol</a:t>
            </a:r>
          </a:p>
        </p:txBody>
      </p:sp>
      <p:sp>
        <p:nvSpPr>
          <p:cNvPr id="6" name="TextBox 5"/>
          <p:cNvSpPr txBox="1"/>
          <p:nvPr/>
        </p:nvSpPr>
        <p:spPr>
          <a:xfrm>
            <a:off x="502920" y="4937760"/>
            <a:ext cx="11185855" cy="457200"/>
          </a:xfrm>
          <a:prstGeom prst="rect">
            <a:avLst/>
          </a:prstGeom>
          <a:noFill/>
        </p:spPr>
        <p:txBody>
          <a:bodyPr wrap="square" lIns="45720" tIns="27432" rIns="45720" bIns="27432" anchor="t">
            <a:spAutoFit/>
          </a:bodyPr>
          <a:lstStyle/>
          <a:p>
            <a:pPr algn="ctr"/>
            <a:r>
              <a:rPr sz="1300" b="0" i="0">
                <a:solidFill>
                  <a:srgbClr val="CADCFC"/>
                </a:solidFill>
                <a:latin typeface="Calibri"/>
              </a:rPr>
              <a:t>Team: Wenbo Huang · Junchi Yan · Yiqun Yin · Xinyue Xu · Mingjia Shi</a:t>
            </a:r>
          </a:p>
        </p:txBody>
      </p:sp>
      <p:sp>
        <p:nvSpPr>
          <p:cNvPr id="7" name="TextBox 6"/>
          <p:cNvSpPr txBox="1"/>
          <p:nvPr/>
        </p:nvSpPr>
        <p:spPr>
          <a:xfrm>
            <a:off x="502920" y="5394960"/>
            <a:ext cx="11185855" cy="457200"/>
          </a:xfrm>
          <a:prstGeom prst="rect">
            <a:avLst/>
          </a:prstGeom>
          <a:noFill/>
        </p:spPr>
        <p:txBody>
          <a:bodyPr wrap="square" lIns="45720" tIns="27432" rIns="45720" bIns="27432" anchor="t">
            <a:spAutoFit/>
          </a:bodyPr>
          <a:lstStyle/>
          <a:p>
            <a:pPr algn="ctr"/>
            <a:r>
              <a:rPr sz="1400" b="0" i="1">
                <a:solidFill>
                  <a:srgbClr val="CADCFC"/>
                </a:solidFill>
                <a:latin typeface="Calibri"/>
              </a:rPr>
              <a:t>Mingjia Shi  ·  University of Virginia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 name="Rounded Rectangle 2"/>
          <p:cNvSpPr/>
          <p:nvPr/>
        </p:nvSpPr>
        <p:spPr>
          <a:xfrm>
            <a:off x="502920" y="320040"/>
            <a:ext cx="1828800" cy="32004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i="0">
                <a:solidFill>
                  <a:srgbClr val="1E2761"/>
                </a:solidFill>
                <a:latin typeface="Calibri"/>
              </a:rPr>
              <a:t>REFERENCES</a:t>
            </a:r>
          </a:p>
        </p:txBody>
      </p:sp>
      <p:sp>
        <p:nvSpPr>
          <p:cNvPr id="4" name="TextBox 3"/>
          <p:cNvSpPr txBox="1"/>
          <p:nvPr/>
        </p:nvSpPr>
        <p:spPr>
          <a:xfrm>
            <a:off x="502920" y="777240"/>
            <a:ext cx="11185855" cy="685800"/>
          </a:xfrm>
          <a:prstGeom prst="rect">
            <a:avLst/>
          </a:prstGeom>
          <a:noFill/>
        </p:spPr>
        <p:txBody>
          <a:bodyPr wrap="square" lIns="45720" tIns="27432" rIns="45720" bIns="27432" anchor="t">
            <a:spAutoFit/>
          </a:bodyPr>
          <a:lstStyle/>
          <a:p>
            <a:pPr algn="l"/>
            <a:r>
              <a:rPr sz="2600" b="1" i="0">
                <a:solidFill>
                  <a:srgbClr val="1E2761"/>
                </a:solidFill>
                <a:latin typeface="Calibri"/>
              </a:rPr>
              <a:t>References</a:t>
            </a:r>
          </a:p>
        </p:txBody>
      </p:sp>
      <p:sp>
        <p:nvSpPr>
          <p:cNvPr id="5" name="TextBox 4"/>
          <p:cNvSpPr txBox="1"/>
          <p:nvPr/>
        </p:nvSpPr>
        <p:spPr>
          <a:xfrm>
            <a:off x="11277295" y="6537960"/>
            <a:ext cx="731520" cy="274320"/>
          </a:xfrm>
          <a:prstGeom prst="rect">
            <a:avLst/>
          </a:prstGeom>
          <a:noFill/>
        </p:spPr>
        <p:txBody>
          <a:bodyPr wrap="square" lIns="45720" tIns="27432" rIns="45720" bIns="27432" anchor="t">
            <a:spAutoFit/>
          </a:bodyPr>
          <a:lstStyle/>
          <a:p>
            <a:pPr algn="r"/>
            <a:r>
              <a:rPr sz="900" b="0" i="0">
                <a:solidFill>
                  <a:srgbClr val="888A90"/>
                </a:solidFill>
                <a:latin typeface="Calibri"/>
              </a:rPr>
              <a:t>13 / 13</a:t>
            </a:r>
          </a:p>
        </p:txBody>
      </p:sp>
      <p:sp>
        <p:nvSpPr>
          <p:cNvPr id="6" name="TextBox 5"/>
          <p:cNvSpPr txBox="1"/>
          <p:nvPr/>
        </p:nvSpPr>
        <p:spPr>
          <a:xfrm>
            <a:off x="502920" y="6537960"/>
            <a:ext cx="5486400" cy="274320"/>
          </a:xfrm>
          <a:prstGeom prst="rect">
            <a:avLst/>
          </a:prstGeom>
          <a:noFill/>
        </p:spPr>
        <p:txBody>
          <a:bodyPr wrap="square" lIns="45720" tIns="27432" rIns="45720" bIns="27432" anchor="t">
            <a:spAutoFit/>
          </a:bodyPr>
          <a:lstStyle/>
          <a:p>
            <a:pPr algn="l"/>
            <a:r>
              <a:rPr sz="900" b="0" i="1">
                <a:solidFill>
                  <a:srgbClr val="888A90"/>
                </a:solidFill>
                <a:latin typeface="Calibri"/>
              </a:rPr>
              <a:t>Graph-of-Shots · Few-Shot Molecular Graph Classification</a:t>
            </a:r>
          </a:p>
        </p:txBody>
      </p:sp>
      <p:sp>
        <p:nvSpPr>
          <p:cNvPr id="7" name="TextBox 6"/>
          <p:cNvSpPr txBox="1"/>
          <p:nvPr/>
        </p:nvSpPr>
        <p:spPr>
          <a:xfrm>
            <a:off x="502920" y="178308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Snell et al., NeurIPS 2017</a:t>
            </a:r>
          </a:p>
        </p:txBody>
      </p:sp>
      <p:sp>
        <p:nvSpPr>
          <p:cNvPr id="8" name="TextBox 7"/>
          <p:cNvSpPr txBox="1"/>
          <p:nvPr/>
        </p:nvSpPr>
        <p:spPr>
          <a:xfrm>
            <a:off x="4069080" y="178308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Prototypical Networks for Few-Shot Learning</a:t>
            </a:r>
          </a:p>
        </p:txBody>
      </p:sp>
      <p:sp>
        <p:nvSpPr>
          <p:cNvPr id="9" name="TextBox 8"/>
          <p:cNvSpPr txBox="1"/>
          <p:nvPr/>
        </p:nvSpPr>
        <p:spPr>
          <a:xfrm>
            <a:off x="502920" y="233172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Finn et al., ICML 2017</a:t>
            </a:r>
          </a:p>
        </p:txBody>
      </p:sp>
      <p:sp>
        <p:nvSpPr>
          <p:cNvPr id="10" name="TextBox 9"/>
          <p:cNvSpPr txBox="1"/>
          <p:nvPr/>
        </p:nvSpPr>
        <p:spPr>
          <a:xfrm>
            <a:off x="4069080" y="233172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Model-Agnostic Meta-Learning for Fast Adaptation of Deep Networks</a:t>
            </a:r>
          </a:p>
        </p:txBody>
      </p:sp>
      <p:sp>
        <p:nvSpPr>
          <p:cNvPr id="11" name="TextBox 10"/>
          <p:cNvSpPr txBox="1"/>
          <p:nvPr/>
        </p:nvSpPr>
        <p:spPr>
          <a:xfrm>
            <a:off x="502920" y="288036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Hu et al., ICLR 2020</a:t>
            </a:r>
          </a:p>
        </p:txBody>
      </p:sp>
      <p:sp>
        <p:nvSpPr>
          <p:cNvPr id="12" name="TextBox 11"/>
          <p:cNvSpPr txBox="1"/>
          <p:nvPr/>
        </p:nvSpPr>
        <p:spPr>
          <a:xfrm>
            <a:off x="4069080" y="288036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Strategies for Pre-training Graph Neural Networks  (GIN, GINE)</a:t>
            </a:r>
          </a:p>
        </p:txBody>
      </p:sp>
      <p:sp>
        <p:nvSpPr>
          <p:cNvPr id="13" name="TextBox 12"/>
          <p:cNvSpPr txBox="1"/>
          <p:nvPr/>
        </p:nvSpPr>
        <p:spPr>
          <a:xfrm>
            <a:off x="502920" y="342900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Wu et al., Chem. Sci. 2018</a:t>
            </a:r>
          </a:p>
        </p:txBody>
      </p:sp>
      <p:sp>
        <p:nvSpPr>
          <p:cNvPr id="14" name="TextBox 13"/>
          <p:cNvSpPr txBox="1"/>
          <p:nvPr/>
        </p:nvSpPr>
        <p:spPr>
          <a:xfrm>
            <a:off x="4069080" y="342900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MoleculeNet: A Benchmark for Molecular Machine Learning</a:t>
            </a:r>
          </a:p>
        </p:txBody>
      </p:sp>
      <p:sp>
        <p:nvSpPr>
          <p:cNvPr id="15" name="TextBox 14"/>
          <p:cNvSpPr txBox="1"/>
          <p:nvPr/>
        </p:nvSpPr>
        <p:spPr>
          <a:xfrm>
            <a:off x="502920" y="397764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Wang et al., Nature MI 2022</a:t>
            </a:r>
          </a:p>
        </p:txBody>
      </p:sp>
      <p:sp>
        <p:nvSpPr>
          <p:cNvPr id="16" name="TextBox 15"/>
          <p:cNvSpPr txBox="1"/>
          <p:nvPr/>
        </p:nvSpPr>
        <p:spPr>
          <a:xfrm>
            <a:off x="4069080" y="397764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Molecular Contrastive Learning of Representations via Graph Neural Networks  (MolCLR)</a:t>
            </a:r>
          </a:p>
        </p:txBody>
      </p:sp>
      <p:sp>
        <p:nvSpPr>
          <p:cNvPr id="17" name="TextBox 16"/>
          <p:cNvSpPr txBox="1"/>
          <p:nvPr/>
        </p:nvSpPr>
        <p:spPr>
          <a:xfrm>
            <a:off x="502920" y="452628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Veličković et al., ICLR 2018</a:t>
            </a:r>
          </a:p>
        </p:txBody>
      </p:sp>
      <p:sp>
        <p:nvSpPr>
          <p:cNvPr id="18" name="TextBox 17"/>
          <p:cNvSpPr txBox="1"/>
          <p:nvPr/>
        </p:nvSpPr>
        <p:spPr>
          <a:xfrm>
            <a:off x="4069080" y="452628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Graph Attention Networks  (GAT)</a:t>
            </a:r>
          </a:p>
        </p:txBody>
      </p:sp>
      <p:sp>
        <p:nvSpPr>
          <p:cNvPr id="19" name="TextBox 18"/>
          <p:cNvSpPr txBox="1"/>
          <p:nvPr/>
        </p:nvSpPr>
        <p:spPr>
          <a:xfrm>
            <a:off x="502920" y="5074920"/>
            <a:ext cx="3474720" cy="457200"/>
          </a:xfrm>
          <a:prstGeom prst="rect">
            <a:avLst/>
          </a:prstGeom>
          <a:noFill/>
        </p:spPr>
        <p:txBody>
          <a:bodyPr wrap="square" lIns="45720" tIns="27432" rIns="45720" bIns="27432" anchor="t">
            <a:spAutoFit/>
          </a:bodyPr>
          <a:lstStyle/>
          <a:p>
            <a:pPr algn="l"/>
            <a:r>
              <a:rPr sz="1300" b="1" i="0">
                <a:solidFill>
                  <a:srgbClr val="F96167"/>
                </a:solidFill>
                <a:latin typeface="Calibri"/>
              </a:rPr>
              <a:t>van den Oord et al., 2018</a:t>
            </a:r>
          </a:p>
        </p:txBody>
      </p:sp>
      <p:sp>
        <p:nvSpPr>
          <p:cNvPr id="20" name="TextBox 19"/>
          <p:cNvSpPr txBox="1"/>
          <p:nvPr/>
        </p:nvSpPr>
        <p:spPr>
          <a:xfrm>
            <a:off x="4069080" y="5074920"/>
            <a:ext cx="7528255" cy="457200"/>
          </a:xfrm>
          <a:prstGeom prst="rect">
            <a:avLst/>
          </a:prstGeom>
          <a:noFill/>
        </p:spPr>
        <p:txBody>
          <a:bodyPr wrap="square" lIns="45720" tIns="27432" rIns="45720" bIns="27432" anchor="t">
            <a:spAutoFit/>
          </a:bodyPr>
          <a:lstStyle/>
          <a:p>
            <a:pPr algn="l"/>
            <a:r>
              <a:rPr sz="1300" b="0" i="1">
                <a:solidFill>
                  <a:srgbClr val="36454F"/>
                </a:solidFill>
                <a:latin typeface="Calibri"/>
              </a:rPr>
              <a:t>Representation Learning with Contrastive Predictive Coding  (InfoNCE)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3056</Words>
  <Application>Microsoft Office PowerPoint</Application>
  <PresentationFormat>宽屏</PresentationFormat>
  <Paragraphs>193</Paragraphs>
  <Slides>13</Slides>
  <Notes>13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 Mingjia (nzh3ru)</cp:lastModifiedBy>
  <cp:revision>1</cp:revision>
  <dcterms:created xsi:type="dcterms:W3CDTF">2013-01-27T09:14:16Z</dcterms:created>
  <dcterms:modified xsi:type="dcterms:W3CDTF">2026-04-22T01:17:48Z</dcterms:modified>
  <cp:category/>
</cp:coreProperties>
</file>