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min + 2–3 min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COURSE PROJECT · SPRING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54480"/>
            <a:ext cx="11185855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Graph-of-Shots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63240"/>
            <a:ext cx="11185855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Few-Shot Molecular Graph Classification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2976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Team: Wenbo Huang · Junchi Yan · Yiqun Yin · Xinyue Xu · Mingjia Shi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006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Speaker: Mingjia Shi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2578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6895" y="630936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Calibri"/>
              </a:rPr>
              <a:t>Few-Shot Graph 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Why Few-Shot Molecular Learning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7315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Molecular property prediction is bottlenecked by label scarcity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screening assays typically have only 10² – 10³ labeled molecules, many missing.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Standard supervised GNNs overfit on small data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and fail to generalize across new assays.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Biology is inherently few-shot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novel drug targets and emerging toxicity endpoints have a handful of tested compounds.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6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600" b="0" i="0">
                <a:solidFill>
                  <a:srgbClr val="36454F"/>
                </a:solidFill>
                <a:latin typeface="Calibri"/>
              </a:rPr>
              <a:t>Our goal: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given K labeled molecules for a brand-new assay, classify the unlabeled rest.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645920"/>
            <a:ext cx="3474720" cy="2011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0" y="173736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TYPICAL ASSAY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194560"/>
            <a:ext cx="3474720" cy="10058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/>
            <a:r>
              <a:rPr sz="4600" b="1" i="0">
                <a:solidFill>
                  <a:srgbClr val="1E2761"/>
                </a:solidFill>
                <a:latin typeface="Calibri"/>
              </a:rPr>
              <a:t>10² – 10³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2461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36454F"/>
                </a:solidFill>
                <a:latin typeface="Calibri"/>
              </a:rPr>
              <a:t>labeled molecules per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3840480"/>
            <a:ext cx="3474720" cy="1828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3977639"/>
            <a:ext cx="3200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MANY MISSING LABELS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4343400"/>
            <a:ext cx="3200400" cy="1188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Multi-task MoleculeNet assays are sparsely labeled — the few-shot setting is the rule, not the exception.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Episodic Formulation &amp; Task Pool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3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713232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Meta-learning: train across many small tasks that simulate few-shot test conditions.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Split at the TASK level (not molecule level), with strict label disjointness.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Episode τ draws N classes × K support + query set.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Configs: 5-way 1-shot · 5-way 5-shot · 10-way 5-shot.</a:t>
            </a:r>
          </a:p>
        </p:txBody>
      </p:sp>
      <p:pic>
        <p:nvPicPr>
          <p:cNvPr id="8" name="Picture 7" descr="f0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480560"/>
            <a:ext cx="4572000" cy="649140"/>
          </a:xfrm>
          <a:prstGeom prst="rect">
            <a:avLst/>
          </a:prstGeom>
        </p:spPr>
      </p:pic>
      <p:pic>
        <p:nvPicPr>
          <p:cNvPr id="9" name="Picture 8" descr="f0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394960"/>
            <a:ext cx="3291840" cy="46738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737360"/>
            <a:ext cx="3749039" cy="44805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1874519"/>
            <a:ext cx="35661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MERGED TASK POOL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331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331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788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ToxCast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788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617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32461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MUV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0" y="32461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033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SIDER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37033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1605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1E2761"/>
                </a:solidFill>
                <a:latin typeface="Calibri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1605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0" i="0">
                <a:solidFill>
                  <a:srgbClr val="36454F"/>
                </a:solidFill>
                <a:latin typeface="Calibri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6177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46177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673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074920"/>
            <a:ext cx="1645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Split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5074920"/>
            <a:ext cx="21031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300" b="1" i="0">
                <a:solidFill>
                  <a:srgbClr val="36454F"/>
                </a:solidFill>
                <a:latin typeface="Calibri"/>
              </a:rPr>
              <a:t>405 / 134 / 134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Baselines — ProtoNet &amp; FOMAML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4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Prototypical Network  (metric-based)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Prototype = mean support embedding per class.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Classify query by nearest prototype.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1E2761"/>
                </a:solidFill>
                <a:latin typeface="Calibri"/>
              </a:rPr>
              <a:t>No persistent per-class parameters.</a:t>
            </a:r>
          </a:p>
        </p:txBody>
      </p:sp>
      <p:pic>
        <p:nvPicPr>
          <p:cNvPr id="10" name="Picture 9" descr="f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069080"/>
            <a:ext cx="3840480" cy="545278"/>
          </a:xfrm>
          <a:prstGeom prst="rect">
            <a:avLst/>
          </a:prstGeom>
        </p:spPr>
      </p:pic>
      <p:pic>
        <p:nvPicPr>
          <p:cNvPr id="11" name="Picture 10" descr="f07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120640"/>
            <a:ext cx="4937760" cy="70107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72200" y="1737360"/>
            <a:ext cx="54864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4864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600" b="1" i="0">
                <a:solidFill>
                  <a:srgbClr val="F96167"/>
                </a:solidFill>
                <a:latin typeface="Calibri"/>
              </a:rPr>
              <a:t>FOMAML  (adaptation-based)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331720"/>
            <a:ext cx="50292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Learn init θ that adapts in a few SGD steps.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First-order; detach inner loop (PyG-stable).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300" b="0" i="0">
                <a:solidFill>
                  <a:srgbClr val="36454F"/>
                </a:solidFill>
                <a:latin typeface="Calibri"/>
              </a:rPr>
              <a:t>Meta-gradient from query pass on original θ.</a:t>
            </a:r>
          </a:p>
        </p:txBody>
      </p:sp>
      <p:pic>
        <p:nvPicPr>
          <p:cNvPr id="15" name="Picture 14" descr="f0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069080"/>
            <a:ext cx="4754880" cy="675106"/>
          </a:xfrm>
          <a:prstGeom prst="rect">
            <a:avLst/>
          </a:prstGeom>
        </p:spPr>
      </p:pic>
      <p:pic>
        <p:nvPicPr>
          <p:cNvPr id="16" name="Picture 15" descr="f0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5120640"/>
            <a:ext cx="4754880" cy="6751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Graph-of-Shots —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5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85855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Baselines embed each molecule IN ISOLATION — but within an episode, structurally similar molecules likely share assay activity.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5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500" b="0" i="0">
                <a:solidFill>
                  <a:srgbClr val="36454F"/>
                </a:solidFill>
                <a:latin typeface="Calibri"/>
              </a:rPr>
              <a:t>Our idea: build a task-specific META-GRAPH over episode molecules and run a GNN on it — support labels propagate to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Encode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MPNN → {h_i}</a:t>
            </a:r>
          </a:p>
        </p:txBody>
      </p:sp>
      <p:sp>
        <p:nvSpPr>
          <p:cNvPr id="9" name="Oval 8"/>
          <p:cNvSpPr/>
          <p:nvPr/>
        </p:nvSpPr>
        <p:spPr>
          <a:xfrm>
            <a:off x="1069314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56917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12949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Affinity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 = g(h_i, h_j)</a:t>
            </a:r>
          </a:p>
        </p:txBody>
      </p:sp>
      <p:sp>
        <p:nvSpPr>
          <p:cNvPr id="12" name="Oval 11"/>
          <p:cNvSpPr/>
          <p:nvPr/>
        </p:nvSpPr>
        <p:spPr>
          <a:xfrm>
            <a:off x="2979343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066946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22978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kNN sparsify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top-k edges</a:t>
            </a:r>
          </a:p>
        </p:txBody>
      </p:sp>
      <p:sp>
        <p:nvSpPr>
          <p:cNvPr id="15" name="Oval 14"/>
          <p:cNvSpPr/>
          <p:nvPr/>
        </p:nvSpPr>
        <p:spPr>
          <a:xfrm>
            <a:off x="4889372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76975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33007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Inject labels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one-hot support</a:t>
            </a:r>
          </a:p>
        </p:txBody>
      </p:sp>
      <p:sp>
        <p:nvSpPr>
          <p:cNvPr id="18" name="Oval 17"/>
          <p:cNvSpPr/>
          <p:nvPr/>
        </p:nvSpPr>
        <p:spPr>
          <a:xfrm>
            <a:off x="6799402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87004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43036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Meta-GNN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weighted GCN</a:t>
            </a:r>
          </a:p>
        </p:txBody>
      </p:sp>
      <p:sp>
        <p:nvSpPr>
          <p:cNvPr id="21" name="Oval 20"/>
          <p:cNvSpPr/>
          <p:nvPr/>
        </p:nvSpPr>
        <p:spPr>
          <a:xfrm>
            <a:off x="8709431" y="3726180"/>
            <a:ext cx="502920" cy="502920"/>
          </a:xfrm>
          <a:prstGeom prst="ellipse">
            <a:avLst/>
          </a:prstGeom>
          <a:solidFill>
            <a:srgbClr val="1E2761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797033" y="4663440"/>
            <a:ext cx="237744" cy="274320"/>
          </a:xfrm>
          <a:prstGeom prst="rightArrow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53065" y="3977640"/>
            <a:ext cx="1635709" cy="196596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
Prototype head</a:t>
            </a:r>
          </a:p>
          <a:p>
            <a:pPr algn="ctr"/>
            <a:r>
              <a:rPr sz="1000" b="0" i="1">
                <a:solidFill>
                  <a:srgbClr val="36454F"/>
                </a:solidFill>
                <a:latin typeface="Calibri"/>
              </a:rPr>
              <a:t>d(z_q, c_n)</a:t>
            </a:r>
          </a:p>
        </p:txBody>
      </p:sp>
      <p:sp>
        <p:nvSpPr>
          <p:cNvPr id="24" name="Oval 23"/>
          <p:cNvSpPr/>
          <p:nvPr/>
        </p:nvSpPr>
        <p:spPr>
          <a:xfrm>
            <a:off x="10619460" y="3726180"/>
            <a:ext cx="502920" cy="502920"/>
          </a:xfrm>
          <a:prstGeom prst="ellipse">
            <a:avLst/>
          </a:prstGeom>
          <a:solidFill>
            <a:srgbClr val="F96167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6126480"/>
            <a:ext cx="11185855" cy="4572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300" b="1" i="1">
                <a:solidFill>
                  <a:srgbClr val="1E2761"/>
                </a:solidFill>
                <a:latin typeface="Calibri"/>
              </a:rPr>
              <a:t>Encoder φ, affinity g, and meta-GNN trained jointly end-to-end.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Method — Encoder, Affinity, Meta-GNN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6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(A) Molecular 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3 × GINEConv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000" b="0" i="0">
                <a:solidFill>
                  <a:srgbClr val="36454F"/>
                </a:solidFill>
                <a:latin typeface="Calibri"/>
              </a:rPr>
              <a:t>BN + ReLU, dropout 0.1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Global mean pool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Linear → d = 128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Edge_attr used (bonds).</a:t>
            </a:r>
          </a:p>
        </p:txBody>
      </p:sp>
      <p:pic>
        <p:nvPicPr>
          <p:cNvPr id="10" name="Picture 9" descr="f1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029200"/>
            <a:ext cx="3291840" cy="43125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25196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(B) Affinity  w_ij = g(h_i, h_j)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46888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cosine</a:t>
            </a:r>
          </a:p>
        </p:txBody>
      </p:sp>
      <p:pic>
        <p:nvPicPr>
          <p:cNvPr id="14" name="Picture 13" descr="f13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2468880"/>
            <a:ext cx="2377440" cy="33755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434840" y="324612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bilinear</a:t>
            </a:r>
          </a:p>
        </p:txBody>
      </p:sp>
      <p:pic>
        <p:nvPicPr>
          <p:cNvPr id="16" name="Picture 15" descr="f13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3246120"/>
            <a:ext cx="2377440" cy="33755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434840" y="4023360"/>
            <a:ext cx="1005840" cy="3200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F96167"/>
                </a:solidFill>
                <a:latin typeface="Calibri"/>
              </a:rPr>
              <a:t>attention</a:t>
            </a:r>
          </a:p>
        </p:txBody>
      </p:sp>
      <p:pic>
        <p:nvPicPr>
          <p:cNvPr id="18" name="Picture 17" descr="f13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4023360"/>
            <a:ext cx="2377440" cy="3411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34840" y="5303520"/>
            <a:ext cx="32918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100" b="0" i="1">
                <a:solidFill>
                  <a:srgbClr val="36454F"/>
                </a:solidFill>
                <a:latin typeface="Calibri"/>
              </a:rPr>
              <a:t>kNN sparsification keeps top-k edges per node; dense graphs over-smooth.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737360"/>
            <a:ext cx="3657600" cy="45720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82880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(C) Meta-GNN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33172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2-layer weighted GCN.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support:  [h_i ; one-hot(y)]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query:    [h_i ; 0]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Labels diffuse along edges.</a:t>
            </a:r>
          </a:p>
        </p:txBody>
      </p:sp>
      <p:pic>
        <p:nvPicPr>
          <p:cNvPr id="23" name="Picture 22" descr="f14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4937760"/>
            <a:ext cx="3291840" cy="46738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Prototype Head &amp; Iterative Refinement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7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PITFALL WE FELL INTO</a:t>
            </a:r>
          </a:p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A shared Linear(d, N-way) head collapses to ~0.50 AUC. Class index '0' means a different assay every episode → contradictory supervision.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1752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Fix: compute prototypes from META-GNN outputs of support nodes.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Classify queries by negative Euclidean distance.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No per-class parameters → episode-agnostic (ProtoNet-style).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Iterative refinement: R rounds of (affinity → kNN → meta-GNN).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Label one-hot re-injected every round.</a:t>
            </a:r>
          </a:p>
        </p:txBody>
      </p:sp>
      <p:pic>
        <p:nvPicPr>
          <p:cNvPr id="9" name="Picture 8" descr="f15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486400"/>
            <a:ext cx="3840480" cy="545278"/>
          </a:xfrm>
          <a:prstGeom prst="rect">
            <a:avLst/>
          </a:prstGeom>
        </p:spPr>
      </p:pic>
      <p:pic>
        <p:nvPicPr>
          <p:cNvPr id="10" name="Picture 9" descr="f15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5486400"/>
            <a:ext cx="3657600" cy="51931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0" y="3017520"/>
            <a:ext cx="3566160" cy="868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Round 1</a:t>
            </a:r>
          </a:p>
          <a:p>
            <a:pPr algn="ctr"/>
            <a:r>
              <a:rPr sz="1100" b="0" i="0">
                <a:solidFill>
                  <a:srgbClr val="1E2761"/>
                </a:solidFill>
                <a:latin typeface="Calibri"/>
              </a:rPr>
              <a:t>affinity → kNN → meta-GNN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875520" y="3904488"/>
            <a:ext cx="274320" cy="237744"/>
          </a:xfrm>
          <a:prstGeom prst="downArrow">
            <a:avLst/>
          </a:prstGeom>
          <a:solidFill>
            <a:srgbClr val="364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4160520"/>
            <a:ext cx="3566160" cy="8686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Round 2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affinity → kNN → meta-GNN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Main Results — v2 + SSL beats ProtoNet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8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7863840" cy="417942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549640" y="1737360"/>
            <a:ext cx="3291840" cy="411480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0" y="1874519"/>
            <a:ext cx="31089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96167"/>
                </a:solidFill>
                <a:latin typeface="Calibri"/>
              </a:rPr>
              <a:t>TAKEAWAYS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331720"/>
            <a:ext cx="301752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v2 + SSL beats ProtoNet on all 3 configs.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5w5s: 0.728 vs 0.716 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10w5s: 0.712 vs 0.700 (+1.2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950" b="0" i="0">
                <a:solidFill>
                  <a:srgbClr val="36454F"/>
                </a:solidFill>
                <a:latin typeface="Calibri"/>
              </a:rPr>
              <a:t>5w1s: 0.603 vs 0.586  (+1.7 pp)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SSL alone gives +1.9 pp over v2-scratch.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150" b="0" i="0">
                <a:solidFill>
                  <a:srgbClr val="36454F"/>
                </a:solidFill>
                <a:latin typeface="Calibri"/>
              </a:rPr>
              <a:t>MAML stays near chance.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Merged pool (Tox21 + ToxCast + MUV + SIDER, 673 tasks, 405 / 134 / 134 split).  Meta-val AUC at best checkpoint.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Ablation Study — A1 through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9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pic>
        <p:nvPicPr>
          <p:cNvPr id="7" name="Picture 6" descr="fig_v2_ab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704320" cy="65214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7220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100" b="0" i="1">
                <a:solidFill>
                  <a:srgbClr val="888A90"/>
                </a:solidFill>
                <a:latin typeface="Calibri"/>
              </a:rPr>
              <a:t>All ablations on 5-way 5-shot, SSL-init encoder.  Each modification contributes independently; M1 + M5 are the biggest levers.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DESIGN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GoS v2 — Diagnosis, Five Modifications,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10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11185855" cy="100584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118585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k-NN k=3 &gt; 5 &gt; 10 &gt; dense → over-smoothing.    ProtoNet 0.716 &gt; GoS v1 0.572 → meta-GNN hurts a good embedding.    Affinity variants differ by &lt; 2 pp → expressivity is not the bottleneck.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Residual
prototype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α c_enc + (1−α) c_gnn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2036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2036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Shallower
meta-GNN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1-layer GAT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1153" y="2926080"/>
            <a:ext cx="2149388" cy="594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1153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Bipartite
messaging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mask query → * edges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80269" y="292608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80269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Contrastive
aux loss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InfoNCE support–query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39386" y="2926080"/>
            <a:ext cx="2149388" cy="594360"/>
          </a:xfrm>
          <a:prstGeom prst="round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39386" y="3584448"/>
            <a:ext cx="2149388" cy="2011680"/>
          </a:xfrm>
          <a:prstGeom prst="round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bIns="27432" wrap="square"/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SSL
pretraining</a:t>
            </a:r>
          </a:p>
          <a:p>
            <a:pPr algn="ctr">
              <a:spcBef>
                <a:spcPts val="600"/>
              </a:spcBef>
            </a:pPr>
            <a:r>
              <a:rPr sz="1000" b="0" i="1">
                <a:solidFill>
                  <a:srgbClr val="36454F"/>
                </a:solidFill>
                <a:latin typeface="Calibri"/>
              </a:rPr>
              <a:t>MolCLR encoder init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760720"/>
            <a:ext cx="11185855" cy="73152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400" b="1" i="1">
                <a:solidFill>
                  <a:srgbClr val="1E2761"/>
                </a:solidFill>
                <a:latin typeface="Calibri"/>
              </a:rPr>
              <a:t>Safety net: α → 1 recovers ProtoNet.  Composed result: ≥ 0.728 at 5w5s  (already beats ProtoNet by +1.2 pp).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320040"/>
            <a:ext cx="1783080" cy="3200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85855" cy="6858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537960"/>
            <a:ext cx="7315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900" b="0" i="0">
                <a:solidFill>
                  <a:srgbClr val="888A90"/>
                </a:solidFill>
                <a:latin typeface="Calibri"/>
              </a:rPr>
              <a:t>11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/>
            <a:r>
              <a:rPr sz="900" b="0" i="1">
                <a:solidFill>
                  <a:srgbClr val="888A90"/>
                </a:solidFill>
                <a:latin typeface="Calibri"/>
              </a:rPr>
              <a:t>Graph-of-Shots · Few-Shot Molecular Graph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Few-shot molecular classification has real label-scarcity motivation.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A clean metric baseline (ProtoNet) is a surprisingly strong start.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v1 beat MAML but trailed ProtoNet — over-smoothing of meta-GNN was the root cause.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GoS v2 (residual prototype + 1-layer GAT + bipartite masking + contrastive loss + SSL)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beats ProtoNet on 5w1s / 5w5s / 10w5s by +1.2 to +1.7 pp.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Largest two levers: M1 residual prototype (safety net) and M5 SSL pretraining (+2.2 pp).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400" b="1" i="0">
                <a:solidFill>
                  <a:srgbClr val="1E2761"/>
                </a:solidFill>
                <a:latin typeface="Calibri"/>
              </a:rPr>
              <a:t>●  </a:t>
            </a:r>
            <a:r>
              <a:rPr sz="1400" b="0" i="0">
                <a:solidFill>
                  <a:srgbClr val="36454F"/>
                </a:solidFill>
                <a:latin typeface="Calibri"/>
              </a:rPr>
              <a:t>What we learned: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sparsification &gt; affinity expressivity for meta-graphs,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shared classifier heads collapse under episodic training,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0" i="0">
                <a:solidFill>
                  <a:srgbClr val="888A90"/>
                </a:solidFill>
                <a:latin typeface="Calibri"/>
              </a:rPr>
              <a:t>–  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when your baseline is already 0.70, the bottleneck is usually the encoder.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12191695" cy="109728"/>
          </a:xfrm>
          <a:prstGeom prst="rect">
            <a:avLst/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27432" bIns="27432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0"/>
            <a:ext cx="11185855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6800" b="1" i="0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0"/>
            <a:ext cx="111858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800" b="0" i="1">
                <a:solidFill>
                  <a:srgbClr val="CADCFC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Code:  github.com/BDeMo/proj-mol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400" b="0" i="1">
                <a:solidFill>
                  <a:srgbClr val="CADCFC"/>
                </a:solidFill>
                <a:latin typeface="Calibri"/>
              </a:rPr>
              <a:t>Mingjia Shi  ·  University of Virginia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