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project: Graph-of-Shots.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Few-shot molecular learning is driven by label scarcity.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Episodic formulation + 673-task merged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baselines: ProtoNet (metric) and FOMAML (adaptation).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+ pipeline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Encoder, affinity, meta-GNN — three building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Prototype head + iterative refinement.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Diagnosis + five modifications +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Affinity vs sparsification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Sample efficiency and training 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v2 ablation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Expected v2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bioassays typically have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itself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only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Episodic Formulation &amp; Task 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 trains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 (not molecule level), with strict label disjointness: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meta-train  ∪  meta-val  ∪  meta-test.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Problem Formulation &amp; GoS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85855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Baselines embed each molecule IN ISOLATION — but within an episode, structurally similar molecules likely share assay activity.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Our answer: construct a task-specific META-GRAPH over the episode's molecules and run a GNN on it, so support labels can propagate to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Encode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MPNN → {h_i}</a:t>
            </a:r>
          </a:p>
        </p:txBody>
      </p:sp>
      <p:sp>
        <p:nvSpPr>
          <p:cNvPr id="9" name="Oval 8"/>
          <p:cNvSpPr/>
          <p:nvPr/>
        </p:nvSpPr>
        <p:spPr>
          <a:xfrm>
            <a:off x="1069314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56917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2949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Affinity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 = g(h_i, h_j)</a:t>
            </a:r>
          </a:p>
        </p:txBody>
      </p:sp>
      <p:sp>
        <p:nvSpPr>
          <p:cNvPr id="12" name="Oval 11"/>
          <p:cNvSpPr/>
          <p:nvPr/>
        </p:nvSpPr>
        <p:spPr>
          <a:xfrm>
            <a:off x="2979343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66946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2978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kNN sparsify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top-k edges</a:t>
            </a:r>
          </a:p>
        </p:txBody>
      </p:sp>
      <p:sp>
        <p:nvSpPr>
          <p:cNvPr id="15" name="Oval 14"/>
          <p:cNvSpPr/>
          <p:nvPr/>
        </p:nvSpPr>
        <p:spPr>
          <a:xfrm>
            <a:off x="4889372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6975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Inject labels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one-hot support</a:t>
            </a:r>
          </a:p>
        </p:txBody>
      </p:sp>
      <p:sp>
        <p:nvSpPr>
          <p:cNvPr id="18" name="Oval 17"/>
          <p:cNvSpPr/>
          <p:nvPr/>
        </p:nvSpPr>
        <p:spPr>
          <a:xfrm>
            <a:off x="6799402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87004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3036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Meta-GNN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weighted GCN</a:t>
            </a:r>
          </a:p>
        </p:txBody>
      </p:sp>
      <p:sp>
        <p:nvSpPr>
          <p:cNvPr id="21" name="Oval 20"/>
          <p:cNvSpPr/>
          <p:nvPr/>
        </p:nvSpPr>
        <p:spPr>
          <a:xfrm>
            <a:off x="8709431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797033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3065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Prototype head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d(z_q, c_n)</a:t>
            </a:r>
          </a:p>
        </p:txBody>
      </p:sp>
      <p:sp>
        <p:nvSpPr>
          <p:cNvPr id="24" name="Oval 23"/>
          <p:cNvSpPr/>
          <p:nvPr/>
        </p:nvSpPr>
        <p:spPr>
          <a:xfrm>
            <a:off x="10619460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6126480"/>
            <a:ext cx="11185855" cy="457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300" b="1" i="1">
                <a:solidFill>
                  <a:srgbClr val="1E2761"/>
                </a:solidFill>
                <a:latin typeface="Calibri"/>
              </a:rPr>
              <a:t>Encoder φ, affinity g, and meta-GNN trained jointly end-to-end.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Method — Encoder, Affinity, Meta-GNN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(A) Molecular 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3 × GINEConv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000" b="0" i="0">
                <a:solidFill>
                  <a:srgbClr val="36454F"/>
                </a:solidFill>
                <a:latin typeface="Calibri"/>
              </a:rPr>
              <a:t>BN + ReLU, dropout 0.1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Global mean pool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Linear → d = 128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Edge_attr used (bonds).</a:t>
            </a:r>
          </a:p>
        </p:txBody>
      </p:sp>
      <p:pic>
        <p:nvPicPr>
          <p:cNvPr id="10" name="Picture 9" descr="f1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0"/>
            <a:ext cx="3291840" cy="43125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(B) Affinity  w_ij = g(h_i, h_j)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6888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cosine</a:t>
            </a:r>
          </a:p>
        </p:txBody>
      </p:sp>
      <p:pic>
        <p:nvPicPr>
          <p:cNvPr id="14" name="Picture 13" descr="f1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468880"/>
            <a:ext cx="2377440" cy="33755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34840" y="324612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bilinear</a:t>
            </a:r>
          </a:p>
        </p:txBody>
      </p:sp>
      <p:pic>
        <p:nvPicPr>
          <p:cNvPr id="16" name="Picture 15" descr="f13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246120"/>
            <a:ext cx="2377440" cy="33755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34840" y="402336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attention</a:t>
            </a:r>
          </a:p>
        </p:txBody>
      </p:sp>
      <p:pic>
        <p:nvPicPr>
          <p:cNvPr id="18" name="Picture 17" descr="f13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023360"/>
            <a:ext cx="2377440" cy="3411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34840" y="530352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k-NN sparsification keeps top-k edges per node; dense graphs over-smooth.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(C) Meta-GNN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2-layer weighted GCN.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support:  [h_i ; one-hot(y)]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query:    [h_i ; 0]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Labels diffuse along edges.</a:t>
            </a:r>
          </a:p>
        </p:txBody>
      </p:sp>
      <p:pic>
        <p:nvPicPr>
          <p:cNvPr id="23" name="Picture 22" descr="f14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4937760"/>
            <a:ext cx="3291840" cy="4673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Prototype Head &amp; 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PITFALL WE FELL INTO</a:t>
            </a:r>
          </a:p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A shared Linear(d, N-way) head collapses to ~0.50 AUC. Class index '0' means a different assay every episode → contradictory supervision.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Fix: compute prototypes from META-GNN outputs of support nodes;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classify queries by negative Euclidean distance.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 per-class parameters → episode-agnostic (same trick ProtoNet uses).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Iterative refinement: R rounds of (affinity → kNN → meta-GNN);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 one-hot re-injected every round.</a:t>
            </a:r>
          </a:p>
        </p:txBody>
      </p:sp>
      <p:pic>
        <p:nvPicPr>
          <p:cNvPr id="9" name="Picture 8" descr="f1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486400"/>
            <a:ext cx="3840480" cy="545278"/>
          </a:xfrm>
          <a:prstGeom prst="rect">
            <a:avLst/>
          </a:prstGeom>
        </p:spPr>
      </p:pic>
      <p:pic>
        <p:nvPicPr>
          <p:cNvPr id="10" name="Picture 9" descr="f1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0"/>
            <a:ext cx="3657600" cy="519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0" y="3017520"/>
            <a:ext cx="3566160" cy="868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Round 1</a:t>
            </a:r>
          </a:p>
          <a:p>
            <a:pPr algn="ctr"/>
            <a:r>
              <a:rPr sz="1100" b="0" i="0">
                <a:solidFill>
                  <a:srgbClr val="1E2761"/>
                </a:solidFill>
                <a:latin typeface="Calibri"/>
              </a:rPr>
              <a:t>affinity → kNN → meta-GNN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875520" y="3904488"/>
            <a:ext cx="274320" cy="237744"/>
          </a:xfrm>
          <a:prstGeom prst="downArrow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4160520"/>
            <a:ext cx="3566160" cy="8686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Round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affinity → kNN → meta-GNN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DESIGN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GoS v2 — Diagnosis &amp; Five Modifications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2801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10728655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kNN k=3 &gt; 5 &gt; 10 &gt; 100 → over-smoothing.  ProtoNet 0.716 &gt; GoS 0.572 → meta-GNN hurts a good embedding.  Affinity variants differ by &lt; 2 pp →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5876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Residual prototype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α c_enc + (1−α) c_gnn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036" y="320040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036" y="385876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Shallower meta-GNN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1-layer GAT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1153" y="320040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1153" y="385876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Bipartite messaging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mask query → *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0269" y="320040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80269" y="385876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Contrastive loss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InfoNCE support–query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9386" y="320040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9386" y="385876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SSL pretraining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MolCLR encoder init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89320"/>
            <a:ext cx="11185855" cy="4114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89320"/>
            <a:ext cx="11185855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200" b="1" i="1">
                <a:solidFill>
                  <a:srgbClr val="1E2761"/>
                </a:solidFill>
                <a:latin typeface="Calibri"/>
              </a:rPr>
              <a:t>Safety net: at α → 1, v2 recovers ProtoNet.  At best, all five modifications compose.  Target ≥ 0.76 at 5w5s.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Main Results — 1000 meta-test episodes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589520" cy="42315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737360"/>
            <a:ext cx="347472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874519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33172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ProtoNet strongest: 0.701 @ 5w5s.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GoS 2nd — +6 pp over MAML.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MAML ~ chance.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GoS does NOT yet beat ProtoNet.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pool: Tox21 + ToxCast + MUV + SIDER, 673 tasks, 405 / 134 / 134 split.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Ablations — affinity &amp; kNN sparsification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3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8229600" cy="375624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737360"/>
            <a:ext cx="292608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874519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331720"/>
            <a:ext cx="27432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Affinity barely matters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bilinear ≈ cosine &gt; attention.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kNN DOES matter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k=3 &gt; 5 &gt; 10 &gt; dense.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Dense → over-smoothing.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Sample Efficiency &amp; Training Dynamics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4_sample_e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760720" cy="3766809"/>
          </a:xfrm>
          <a:prstGeom prst="rect">
            <a:avLst/>
          </a:prstGeom>
        </p:spPr>
      </p:pic>
      <p:pic>
        <p:nvPicPr>
          <p:cNvPr id="8" name="Picture 7" descr="fig1_training_dynam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577840" cy="2210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 i="1">
                <a:solidFill>
                  <a:srgbClr val="36454F"/>
                </a:solidFill>
                <a:latin typeface="Calibri"/>
              </a:rPr>
              <a:t>Both methods scale monotonically with K; ProtoNet scales faster.  GoS triggers early-stopping at lower peaks.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v2 — New Ablation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124712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28800"/>
            <a:ext cx="292608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28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82880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7744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77440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Residual α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3749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α ∈ {0, 0.3, 0.5, 0.7, 1.0}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7180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971800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Meta-GNN depth/type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971800"/>
            <a:ext cx="3749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{1, 2, 3} × {GCN, GAT}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97180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Quantify over-smoothing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6616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661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Edge masking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566160"/>
            <a:ext cx="3749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full / support-only / bipartite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6616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6052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605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160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Contrastive weight 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160520"/>
            <a:ext cx="3749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λ ∈ {0, 0.1, 0.5, 1.0}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16052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Tune M4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5488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75488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SSL pretraining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754880"/>
            <a:ext cx="3749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scratch / SSL / SSL+frozen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75488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All runs: 5-way 5-shot on merged 673-task pool, 1000-episode meta-test.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v2 — Expected Performance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11155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43891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73736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Meta-test ROC-AUC (5w5s)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737360"/>
            <a:ext cx="310896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11155680" cy="5029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ProtoNet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24028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0.701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24028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observed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43200"/>
            <a:ext cx="11155680" cy="5029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4320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GoS v1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74320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0.569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74320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observed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24612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4612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M1 residual prototype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24612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≥ 0.700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24612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safety net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4904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4904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M2 1-layer GAT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74904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+1 – 2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4904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over-smoothing fix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5196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5196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M3 bipartite mask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25196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+1 – 3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25196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noise reduction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75488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M4 contrastive (λ=0.5)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75488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+2 – 3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75488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geometry shaping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257800"/>
            <a:ext cx="42062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M5 SSL pretraining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5257800"/>
            <a:ext cx="365760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+5 – 10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525780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largest expected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69280"/>
            <a:ext cx="11185855" cy="7315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Composed target: ≥ 0.76  (a meaningful margin over ProtoNet)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111858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