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will present our course project for Few-Shot Graph Machine Learning, titled Graph-of-Shots.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bioassay contains only a few hundred to a few thousand labeled molecules, and many of those are missing. Few-shot is the rule, not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Supervised pipeline fails when labels are scarce: overfits and does not transfer. Meta-learning is the natural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Meta-learning trains across tasks to learn a transferable metric / init. At meta-test, K support molecules are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split at the task level with strict disjointness. 673 valid tasks across 110k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Schematic: task pool split, episode sampling, support/query.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ProtoNet: mean-embedding prototypes, no persistent class parameters. This design is crucial for episodic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FOMAML: first-order; simpler and stable with PyG.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Encoder: 3 × GINEConv, same across all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Within an episode, molecule-molecule relations carry signal. Our meta-graph propagates label information across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Six-stage pipeline, trained end-to-end.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GINEConv: the MLP-based message-passing update with edge feature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affinity functions; kNN sparsification is the key hyperparameter.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GCN diffuses support labels to queries; gradients reach the affinity module through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shared Linear head collapses because class indices are arbitrary per episode. Fix: prototype head on meta-GNN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rounds of (affinity → kNN → meta-GNN), with label re-injection each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results: ProtoNet strongest, GoS &gt; MAML, MAML ~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Affinity barely matters; kNN sparsification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ProtoNet scales faster than GoS — the meta-GNN hurts an already-separable embedding.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dynamics, reconstructed from log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Summary. ProtoNet is strong; GoS v1 falls short; v2 is designed to close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Moving to Part II — the v2 design aimed at closing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signals point to the same root cause: over-smoothing destroying a good representation.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modifications overview.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Residual prototype — safety net that lower-bounds GoS by ProtoNet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 replaces GCN to prevent over-smoothing structurally.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 query-originated edges to remove the noise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InfoNCE auxiliary loss sharpens embedding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 pretraining is the heavy hitter.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ablation studies, one per modification.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performance after composing all five modifications.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— questions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bioassays typically have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Biology itself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novel drug targets and emerging toxicity endpoints have only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Goal of this project: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not artificial, it is the rule.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Background: Standard Supervised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d03_supervi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11155680" cy="2123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3192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WHY THIS FAILS IN LOW-LABEL REGIME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8585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(i)  Overfits on the tiny training set — variance dominates.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(ii) Cannot transfer to unseen assays — no notion of a task distribution.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Meta-learning is the natural fix: train across many tasks so the model adapts quickly.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Functions of Episodic Meta-Learning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5394960" cy="438912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394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96167"/>
                </a:solidFill>
                <a:latin typeface="Calibri"/>
              </a:rPr>
              <a:t>Supervised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502920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Fit one task on one dataset.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Retrains for every new assay.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Fails when labels are scarce.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No notion of 'how to learn quickly'.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394960" cy="438912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5394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1E2761"/>
                </a:solidFill>
                <a:latin typeface="Calibri"/>
              </a:rPr>
              <a:t>Episodic Meta-Learning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68880"/>
            <a:ext cx="502920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1E2761"/>
                </a:solidFill>
                <a:latin typeface="Calibri"/>
              </a:rPr>
              <a:t>Train across many small tasks.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1E2761"/>
                </a:solidFill>
                <a:latin typeface="Calibri"/>
              </a:rPr>
              <a:t>Each episode simulates few-shot conditions at train time.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1E2761"/>
                </a:solidFill>
                <a:latin typeface="Calibri"/>
              </a:rPr>
              <a:t>Model learns a transferable metric / initialization.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1E2761"/>
                </a:solidFill>
                <a:latin typeface="Calibri"/>
              </a:rPr>
              <a:t>Meta-test: K support molecules + classify queries — no retraining.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Episodic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713232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Split at the TASK level (not molecule level): meta-train ∪ meta-val ∪ meta-test,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with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Episode τ draws N classes × K support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Configs: 5-way 1-shot · 5-way 5-shot · 10-way 5-shot.</a:t>
            </a:r>
          </a:p>
        </p:txBody>
      </p:sp>
      <p:pic>
        <p:nvPicPr>
          <p:cNvPr id="9" name="Picture 8" descr="f05_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6858000" cy="158634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297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317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27889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2461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37033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 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41605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6177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673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371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507492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Episodic Formulation —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d06_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10881360" cy="385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Baseline 1 — Prototypical Network (metric-based)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8580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Classify query by nearest prototype in embedding space.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No persistent per-class parameters — re-computed every episode.</a:t>
            </a:r>
          </a:p>
        </p:txBody>
      </p:sp>
      <p:pic>
        <p:nvPicPr>
          <p:cNvPr id="9" name="Picture 8" descr="f07_pr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31920"/>
            <a:ext cx="6583680" cy="16267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89520" y="1737360"/>
            <a:ext cx="4206240" cy="36576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7726679" y="1874519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WHY IT WORKS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377440"/>
            <a:ext cx="4023360" cy="2926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1E2761"/>
                </a:solidFill>
                <a:latin typeface="Calibri"/>
              </a:rPr>
              <a:t>Zero persistent class parameters.
The classifier automatically adapts to whichever N assays the episode draws.
Key insight we re-use in GoS.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Baseline 2 — MAML / FOMAML (adaptation-based)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858000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MAML: learn init θ; a few SGD steps on S produce a task-specific model.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Second-order MAML is expensive and unstable through some PyG ops.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We use First-Order MAML (FOMAML):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detach inner loop,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meta-gradient comes from the query pass on original θ.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Simpler, faster, and stable with GINEConv.</a:t>
            </a:r>
          </a:p>
        </p:txBody>
      </p:sp>
      <p:pic>
        <p:nvPicPr>
          <p:cNvPr id="9" name="Picture 8" descr="f08_ma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937760"/>
            <a:ext cx="6583680" cy="1522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Molecular Graph Representation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73152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MoleculeNet graphs use RDKit-derived features: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atom (9-D): atomic number, chirality, charge, aromaticity, degree, #H, etc.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bond (3-D): bond type, conjugation, ring membership.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Encoder φ: 3 × GINEConv → global mean pool → Linear (d = 128).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GINE consumes edge_attr — bond features enter message passing.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Same encoder across all three methods → fair comparison.</a:t>
            </a:r>
          </a:p>
        </p:txBody>
      </p:sp>
      <p:pic>
        <p:nvPicPr>
          <p:cNvPr id="9" name="Picture 8" descr="d09_en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737360"/>
            <a:ext cx="3393127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Problem Formulation — why we need a meta-graph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85855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●  </a:t>
            </a:r>
            <a:r>
              <a:rPr sz="1700">
                <a:solidFill>
                  <a:srgbClr val="36454F"/>
                </a:solidFill>
                <a:latin typeface="Calibri"/>
              </a:rPr>
              <a:t>ProtoNet and MAML embed each molecule IN ISOLATION.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●  </a:t>
            </a:r>
            <a:r>
              <a:rPr sz="1700">
                <a:solidFill>
                  <a:srgbClr val="36454F"/>
                </a:solidFill>
                <a:latin typeface="Calibri"/>
              </a:rPr>
              <a:t>But within one episode, relations between molecules carry strong signal: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888A90"/>
                </a:solidFill>
                <a:latin typeface="Calibri"/>
              </a:rPr>
              <a:t>–  </a:t>
            </a:r>
            <a:r>
              <a:rPr sz="1500">
                <a:solidFill>
                  <a:srgbClr val="36454F"/>
                </a:solidFill>
                <a:latin typeface="Calibri"/>
              </a:rPr>
              <a:t>structurally / chemically similar molecules likely share assay activity.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●  </a:t>
            </a:r>
            <a:r>
              <a:rPr sz="1700">
                <a:solidFill>
                  <a:srgbClr val="36454F"/>
                </a:solidFill>
                <a:latin typeface="Calibri"/>
              </a:rPr>
              <a:t>Key question — can label info propagate from support to query through similarity?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700" b="1">
                <a:solidFill>
                  <a:srgbClr val="1E2761"/>
                </a:solidFill>
                <a:latin typeface="Calibri"/>
              </a:rPr>
              <a:t>●  </a:t>
            </a:r>
            <a:r>
              <a:rPr sz="1700">
                <a:solidFill>
                  <a:srgbClr val="36454F"/>
                </a:solidFill>
                <a:latin typeface="Calibri"/>
              </a:rPr>
              <a:t>Our answer — construct a task-specific META-GRAPH over the episode's molecules,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>
                <a:solidFill>
                  <a:srgbClr val="888A90"/>
                </a:solidFill>
                <a:latin typeface="Calibri"/>
              </a:rPr>
              <a:t>–  </a:t>
            </a:r>
            <a:r>
              <a:rPr sz="1500">
                <a:solidFill>
                  <a:srgbClr val="36454F"/>
                </a:solidFill>
                <a:latin typeface="Calibri"/>
              </a:rPr>
              <a:t>run a GNN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94960"/>
            <a:ext cx="11185855" cy="9144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502920" y="5394960"/>
            <a:ext cx="11185855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1">
                <a:solidFill>
                  <a:srgbClr val="FFFFFF"/>
                </a:solidFill>
                <a:latin typeface="Calibri"/>
              </a:rPr>
              <a:t>Hypothesis:  a meta-graph + label propagation can exceed purely instance-centric baselines.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Graph-of-Shots —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d1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704320" cy="257126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4846320"/>
            <a:ext cx="11185855" cy="1463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685800" y="4983480"/>
            <a:ext cx="1082009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END-TO-END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10820095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1E2761"/>
                </a:solidFill>
                <a:latin typeface="Calibri"/>
              </a:rPr>
              <a:t>Encoder φ, affinity g, and meta-GNN are optimized jointly with cross-entropy on query predictions. No retraining at meta-test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Molecular Encoder (GINEConv)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12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858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Three stacked GINEConv layers, each wrapping an MLP with BN + ReLU.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Dropout 0.1 between layers.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Atom (9-D) and bond (3-D) features projected to shared hidden dim.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Readout: global mean pool → Linear (128 → 128).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SAME encoder across ProtoNet, MAML, and GoS — fair comparison.</a:t>
            </a:r>
          </a:p>
        </p:txBody>
      </p:sp>
      <p:pic>
        <p:nvPicPr>
          <p:cNvPr id="9" name="Picture 8" descr="f12_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937760"/>
            <a:ext cx="9326880" cy="129907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Meta-Graph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13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4008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Three affinity variants for w_ij = g(h_i, h_j).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kNN sparsification: keep k strongest edges per node; symmetrize.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k is a key hyperparameter: k ∈ {3, 5, 10, dense}.</a:t>
            </a:r>
          </a:p>
        </p:txBody>
      </p:sp>
      <p:pic>
        <p:nvPicPr>
          <p:cNvPr id="9" name="Picture 8" descr="f13_aff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7132320" cy="26595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0" y="1737360"/>
            <a:ext cx="402336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7909560" y="1874519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DESIGN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840480" cy="3840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Sparsification suppresses spurious similarities and keeps the meta-graph tractable.
Its effect dominates the choice of affinity function in our ablations.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Meta-GNN Propagation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14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858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Two-layer weighted GCN over the meta-graph.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Initial features: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support: [ h_i ; one-hot(y_i) 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>
                <a:solidFill>
                  <a:srgbClr val="888A90"/>
                </a:solidFill>
                <a:latin typeface="Calibri"/>
              </a:rPr>
              <a:t>–  </a:t>
            </a:r>
            <a:r>
              <a:rPr sz="1400">
                <a:solidFill>
                  <a:srgbClr val="36454F"/>
                </a:solidFill>
                <a:latin typeface="Calibri"/>
              </a:rPr>
              <a:t>query:   [ h_i ; 0 ]    (unknown label)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Labels diffuse from supports to queries along edge weights.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Gradients flow back to the affinity parameters through propagation.</a:t>
            </a:r>
          </a:p>
        </p:txBody>
      </p:sp>
      <p:pic>
        <p:nvPicPr>
          <p:cNvPr id="9" name="Picture 8" descr="f14_metag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5029200"/>
            <a:ext cx="8503920" cy="17780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Prototype-based Classification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15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11185855" cy="11887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72865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PITFALL WE FELL INTO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10728655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 shared Linear(d, N-way) head collapses to ~0.50 AUC. Class index '0' means a different assay every episode → contradictory supervision.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676656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Fix: compute prototypes from META-GNN outputs of support nodes.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Classify queries by negative Euclidean distance.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No per-class parameters → episode-agnostic.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Same head design as ProtoNet, now on meta-GNN-refined features.</a:t>
            </a:r>
          </a:p>
        </p:txBody>
      </p:sp>
      <p:pic>
        <p:nvPicPr>
          <p:cNvPr id="12" name="Picture 11" descr="f15_pro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474720"/>
            <a:ext cx="4389120" cy="11305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Iterative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16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6751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One meta-GNN pass propagates 1–2 hops only.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Iterate R rounds (default R = 2):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re-compute affinity on current features,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re-sparsify with kNN,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re-propagate with a fresh meta-GNN.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Label one-hot re-injected every round → signal does not decay.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Each round has its own parameters → later rounds can specialize.</a:t>
            </a:r>
          </a:p>
        </p:txBody>
      </p:sp>
      <p:pic>
        <p:nvPicPr>
          <p:cNvPr id="9" name="Picture 8" descr="d16_refin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86000"/>
            <a:ext cx="4966636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Main Results — 1000 meta-test episodes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17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fig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589520" cy="423152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1737360"/>
            <a:ext cx="347472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8458200" y="1874519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33172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ProtoNet strongest: 0.701 @ 5w5s.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GoS 2nd — +6pp over MAML.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MAML ~ chance.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GoS does NOT yet beat ProtoNet.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pool: Tox21 + ToxCast + MUV + SIDER, 673 tasks, 405/134/134 split.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Ablation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18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fig3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8229600" cy="37562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737360"/>
            <a:ext cx="292608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9098280" y="1874519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331720"/>
            <a:ext cx="27432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●  </a:t>
            </a:r>
            <a:r>
              <a:rPr sz="1150">
                <a:solidFill>
                  <a:srgbClr val="36454F"/>
                </a:solidFill>
                <a:latin typeface="Calibri"/>
              </a:rPr>
              <a:t>Affinity barely matters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888A90"/>
                </a:solidFill>
                <a:latin typeface="Calibri"/>
              </a:rPr>
              <a:t>–  </a:t>
            </a:r>
            <a:r>
              <a:rPr sz="950">
                <a:solidFill>
                  <a:srgbClr val="36454F"/>
                </a:solidFill>
                <a:latin typeface="Calibri"/>
              </a:rPr>
              <a:t>bilinear ≈ cosine &gt; attention.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●  </a:t>
            </a:r>
            <a:r>
              <a:rPr sz="1150">
                <a:solidFill>
                  <a:srgbClr val="36454F"/>
                </a:solidFill>
                <a:latin typeface="Calibri"/>
              </a:rPr>
              <a:t>kNN DOES matter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888A90"/>
                </a:solidFill>
                <a:latin typeface="Calibri"/>
              </a:rPr>
              <a:t>–  </a:t>
            </a:r>
            <a:r>
              <a:rPr sz="950">
                <a:solidFill>
                  <a:srgbClr val="36454F"/>
                </a:solidFill>
                <a:latin typeface="Calibri"/>
              </a:rPr>
              <a:t>k=3 &gt; 5 &gt; 10 &gt; dense.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1E2761"/>
                </a:solidFill>
                <a:latin typeface="Calibri"/>
              </a:rPr>
              <a:t>●  </a:t>
            </a:r>
            <a:r>
              <a:rPr sz="1150">
                <a:solidFill>
                  <a:srgbClr val="36454F"/>
                </a:solidFill>
                <a:latin typeface="Calibri"/>
              </a:rPr>
              <a:t>Dense → over-smoothing.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Sample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19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fig4_sample_e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858000" cy="44842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402336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7909560" y="1874519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331720"/>
            <a:ext cx="3749039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Both scale monotonically with K.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ProtoNet scales FASTER than GoS.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Gap widens with more supervision.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761"/>
                </a:solidFill>
                <a:latin typeface="Calibri"/>
              </a:rPr>
              <a:t>●  </a:t>
            </a:r>
            <a:r>
              <a:rPr sz="1200">
                <a:solidFill>
                  <a:srgbClr val="36454F"/>
                </a:solidFill>
                <a:latin typeface="Calibri"/>
              </a:rPr>
              <a:t>Diagnosis: meta-GNN hurts an already-separable embedding.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Training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20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8" name="Picture 7" descr="fig1_training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247120" cy="44567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Summary visualization reconstructed from log peak + early-stop episode.  ▼ = best checkpoint.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 ·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Part I —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21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85855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●  </a:t>
            </a:r>
            <a:r>
              <a:rPr sz="1800">
                <a:solidFill>
                  <a:srgbClr val="36454F"/>
                </a:solidFill>
                <a:latin typeface="Calibri"/>
              </a:rPr>
              <a:t>ProtoNet is a surprisingly strong benchmark on merged MoleculeNet.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●  </a:t>
            </a:r>
            <a:r>
              <a:rPr sz="1800">
                <a:solidFill>
                  <a:srgbClr val="36454F"/>
                </a:solidFill>
                <a:latin typeface="Calibri"/>
              </a:rPr>
              <a:t>GoS v1 is consistently above MAML but falls short of ProtoNet (~13 pp at 5w5s).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●  </a:t>
            </a:r>
            <a:r>
              <a:rPr sz="1800">
                <a:solidFill>
                  <a:srgbClr val="36454F"/>
                </a:solidFill>
                <a:latin typeface="Calibri"/>
              </a:rPr>
              <a:t>Dense meta-graphs over-smooth — sparsification at k=3 wins.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E2761"/>
                </a:solidFill>
                <a:latin typeface="Calibri"/>
              </a:rPr>
              <a:t>●  </a:t>
            </a:r>
            <a:r>
              <a:rPr sz="1800">
                <a:solidFill>
                  <a:srgbClr val="36454F"/>
                </a:solidFill>
                <a:latin typeface="Calibri"/>
              </a:rPr>
              <a:t>Shared classifier heads collapse in episodic training — prototype heads are the safe default.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0">
                <a:solidFill>
                  <a:srgbClr val="888A90"/>
                </a:solidFill>
                <a:latin typeface="Calibri"/>
              </a:rPr>
              <a:t>–  </a:t>
            </a:r>
            <a:r>
              <a:rPr sz="1600">
                <a:solidFill>
                  <a:srgbClr val="36454F"/>
                </a:solidFill>
                <a:latin typeface="Calibri"/>
              </a:rPr>
              <a:t>→ all five of our v2 modifications target these diagnosed failure modes.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0"/>
            <a:ext cx="11185855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200" b="1" i="0">
                <a:solidFill>
                  <a:srgbClr val="CADCFC"/>
                </a:solidFill>
                <a:latin typeface="Calibri"/>
              </a:rPr>
              <a:t>Part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0"/>
            <a:ext cx="11185855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Graph-of-Shots v2 — Closing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0"/>
            <a:ext cx="1118585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1">
                <a:solidFill>
                  <a:srgbClr val="CADCFC"/>
                </a:solidFill>
                <a:latin typeface="Calibri"/>
              </a:rPr>
              <a:t>Diagnosis  ·  Five modifications  ·  Five new ablations  ·  Roadmap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Diagnosis — Why GoS v1 Loses to ProtoNet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23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85855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Obs. 1:  kNN k=3 &gt; k=5 &gt; k=10 &gt; k=100 → GCN over-smoothing.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Obs. 2:  ProtoNet val 0.716 vs GoS 0.572 → meta-GNN HURTS a representation ProtoNet already classifies.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●  </a:t>
            </a:r>
            <a:r>
              <a:rPr sz="1600">
                <a:solidFill>
                  <a:srgbClr val="36454F"/>
                </a:solidFill>
                <a:latin typeface="Calibri"/>
              </a:rPr>
              <a:t>Obs. 3:  affinity variants differ by &lt; 2 pp → expressivity of g() is NOT the bottleneck.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72000"/>
            <a:ext cx="11185855" cy="16459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1063721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10637215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  <a:latin typeface="Calibri"/>
              </a:rPr>
              <a:t>The meta-GNN replaces the encoder embedding at prototype time; over-smoothing destroys the class separability that was already there.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GoS v2 —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24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2127443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127443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2127443" cy="23774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036003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Residual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2036003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c_n = α·c_enc + (1−α)·c_gnn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7523" y="1828800"/>
            <a:ext cx="2127443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2767523" y="1828800"/>
            <a:ext cx="2127443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7523" y="2560320"/>
            <a:ext cx="2127443" cy="23774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813243" y="2651760"/>
            <a:ext cx="2036003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Shallower meta-GNN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3243" y="3291840"/>
            <a:ext cx="2036003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1-layer GAT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32126" y="1828800"/>
            <a:ext cx="2127443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5032126" y="1828800"/>
            <a:ext cx="2127443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2126" y="2560320"/>
            <a:ext cx="2127443" cy="23774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1" name="TextBox 20"/>
          <p:cNvSpPr txBox="1"/>
          <p:nvPr/>
        </p:nvSpPr>
        <p:spPr>
          <a:xfrm>
            <a:off x="5077846" y="2651760"/>
            <a:ext cx="2036003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Bipartite messaging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7846" y="3291840"/>
            <a:ext cx="2036003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mask query→* edges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6729" y="1828800"/>
            <a:ext cx="2127443" cy="64008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7296729" y="1828800"/>
            <a:ext cx="2127443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96729" y="2560320"/>
            <a:ext cx="2127443" cy="23774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7342449" y="2651760"/>
            <a:ext cx="2036003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Contrastive aux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449" y="3291840"/>
            <a:ext cx="2036003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InfoNCE on sup–query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61332" y="1828800"/>
            <a:ext cx="2127443" cy="64008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9561332" y="1828800"/>
            <a:ext cx="2127443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61332" y="2560320"/>
            <a:ext cx="2127443" cy="23774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1" name="TextBox 30"/>
          <p:cNvSpPr txBox="1"/>
          <p:nvPr/>
        </p:nvSpPr>
        <p:spPr>
          <a:xfrm>
            <a:off x="9607052" y="2651760"/>
            <a:ext cx="2036003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SSL pretraining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7052" y="3291840"/>
            <a:ext cx="2036003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MolCLR encoder init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120640"/>
            <a:ext cx="11185855" cy="10972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685800" y="5257800"/>
            <a:ext cx="10820095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0" i="1">
                <a:solidFill>
                  <a:srgbClr val="1E2761"/>
                </a:solidFill>
                <a:latin typeface="Calibri"/>
              </a:rPr>
              <a:t>Safety net: at worst (α → 1), v2 recovers ProtoNet. At best, all five modifications compose. Each targets a diagnosed failure mode.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M1 — Residual Prototypes (safety 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25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58368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Compute TWO prototype sets per episode: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c_n^(enc) — from raw encoder embeddings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c_n^(gnn) — from meta-GNN refined features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Mix with a learnable α (init 0.7):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α → 1  recovers ProtoNet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α → 0  recovers GoS v1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Ablation A1: sweep α ∈ {0, 0.3, 0.5, 0.7, 1.0}.</a:t>
            </a:r>
          </a:p>
        </p:txBody>
      </p:sp>
      <p:pic>
        <p:nvPicPr>
          <p:cNvPr id="9" name="Picture 8" descr="f25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03120"/>
            <a:ext cx="4389120" cy="132116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M2 — Shallower Attention Meta-GNN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26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58368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Replace 2-layer weighted GCN with 1-layer graph attention.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Why: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attention is self-normalising → sub-linear over-smoothing.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one layer reaches every support from any query (~40 nodes / episode).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Affinity weight injected as log-bias into attention logits.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Ablation A2: {1, 2, 3} layers × {GCN, GAT}.</a:t>
            </a:r>
          </a:p>
        </p:txBody>
      </p:sp>
      <p:pic>
        <p:nvPicPr>
          <p:cNvPr id="9" name="Picture 8" descr="f26_g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03120"/>
            <a:ext cx="4389120" cy="8952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M3 — Bipartite Message Passing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27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58368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Insight: query nodes carry no label → messages BETWEEN queries are noise.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Mask edges to restrict flow: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support → support : kept  (refine each other)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support → query   : kept  (label diffusion)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query   → support : removed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888A90"/>
                </a:solidFill>
                <a:latin typeface="Calibri"/>
              </a:rPr>
              <a:t>–  </a:t>
            </a:r>
            <a:r>
              <a:rPr sz="1300">
                <a:solidFill>
                  <a:srgbClr val="36454F"/>
                </a:solidFill>
                <a:latin typeface="Calibri"/>
              </a:rPr>
              <a:t>query   → query   : removed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Ablation A3: full vs. support-only vs. bipartite.</a:t>
            </a:r>
          </a:p>
        </p:txBody>
      </p:sp>
      <p:pic>
        <p:nvPicPr>
          <p:cNvPr id="9" name="Picture 8" descr="d27_bipart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011680"/>
            <a:ext cx="554186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M4 — Contrastive Auxiliary 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28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5836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For each query q, treat same-class supports as positives, others as negatives.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InfoNCE-style auxiliary objective on meta-GNN outputs.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Directly sharpens embedding geometry — complementary to label propagation.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●  </a:t>
            </a:r>
            <a:r>
              <a:rPr sz="1500">
                <a:solidFill>
                  <a:srgbClr val="36454F"/>
                </a:solidFill>
                <a:latin typeface="Calibri"/>
              </a:rPr>
              <a:t>Ablation A4: λ ∈ {0, 0.1, 0.5, 1.0}.</a:t>
            </a:r>
          </a:p>
        </p:txBody>
      </p:sp>
      <p:pic>
        <p:nvPicPr>
          <p:cNvPr id="9" name="Picture 8" descr="f28_contras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0"/>
            <a:ext cx="10881360" cy="294173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M5 — Self-Supervised Encoder Pretraining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29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68580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●  </a:t>
            </a:r>
            <a:r>
              <a:rPr sz="1400">
                <a:solidFill>
                  <a:srgbClr val="36454F"/>
                </a:solidFill>
                <a:latin typeface="Calibri"/>
              </a:rPr>
              <a:t>Hypothesis: encoder is the bottleneck — ProtoNet's 0.70 ceiling is the encoder's ceiling.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●  </a:t>
            </a:r>
            <a:r>
              <a:rPr sz="1400">
                <a:solidFill>
                  <a:srgbClr val="36454F"/>
                </a:solidFill>
                <a:latin typeface="Calibri"/>
              </a:rPr>
              <a:t>Pretrain φ on all 110k molecules with MolCLR-style contrastive SSL: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>
                <a:solidFill>
                  <a:srgbClr val="888A90"/>
                </a:solidFill>
                <a:latin typeface="Calibri"/>
              </a:rPr>
              <a:t>–  </a:t>
            </a:r>
            <a:r>
              <a:rPr sz="1200">
                <a:solidFill>
                  <a:srgbClr val="36454F"/>
                </a:solidFill>
                <a:latin typeface="Calibri"/>
              </a:rPr>
              <a:t>two random augmentations per molecule (subgraph / node-drop / edge-perturb).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>
                <a:solidFill>
                  <a:srgbClr val="888A90"/>
                </a:solidFill>
                <a:latin typeface="Calibri"/>
              </a:rPr>
              <a:t>–  </a:t>
            </a:r>
            <a:r>
              <a:rPr sz="1200">
                <a:solidFill>
                  <a:srgbClr val="36454F"/>
                </a:solidFill>
                <a:latin typeface="Calibri"/>
              </a:rPr>
              <a:t>InfoNCE objective over the meta-train pool, 30 epochs.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●  </a:t>
            </a:r>
            <a:r>
              <a:rPr sz="1400">
                <a:solidFill>
                  <a:srgbClr val="36454F"/>
                </a:solidFill>
                <a:latin typeface="Calibri"/>
              </a:rPr>
              <a:t>Initialize MPNN with pretrained weights, then run episodic training.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●  </a:t>
            </a:r>
            <a:r>
              <a:rPr sz="1400">
                <a:solidFill>
                  <a:srgbClr val="36454F"/>
                </a:solidFill>
                <a:latin typeface="Calibri"/>
              </a:rPr>
              <a:t>Ablation A5: from-scratch vs. SSL-init vs. SSL-init + frozen encoder.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103120"/>
            <a:ext cx="3931920" cy="23774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TextBox 9"/>
          <p:cNvSpPr txBox="1"/>
          <p:nvPr/>
        </p:nvSpPr>
        <p:spPr>
          <a:xfrm>
            <a:off x="7909560" y="224028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EXPECTED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51760"/>
            <a:ext cx="393192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+5 to +10 pp
ROC-AUC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0233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CADCFC"/>
                </a:solidFill>
                <a:latin typeface="Calibri"/>
              </a:rPr>
              <a:t>(MolCLR literature)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ABLATIONS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New Ablation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30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247120" cy="5486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82880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828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82880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7744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37744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Residual α sweep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37744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α ∈ {0, 0.3, 0.5, 0.7, 1.0}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7744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M1 residual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7180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640080" y="29718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97180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Meta-GNN depth/type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97180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{1,2,3} × {GCN, GAT}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97180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Quantify over-smoothing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6616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640080" y="35661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Edge masking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56616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full / support-only / bipartite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56616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M3 masking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160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Contrastive weight 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16052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λ ∈ {0, 0.1, 0.5, 1.0}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16052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Tune M4 loss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754880"/>
            <a:ext cx="1124712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4" name="TextBox 33"/>
          <p:cNvSpPr txBox="1"/>
          <p:nvPr/>
        </p:nvSpPr>
        <p:spPr>
          <a:xfrm>
            <a:off x="640080" y="47548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A5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75488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SSL pretraining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754880"/>
            <a:ext cx="37490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scratch / SSL / SSL+frozen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754880"/>
            <a:ext cx="3474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36454F"/>
                </a:solidFill>
                <a:latin typeface="Calibri"/>
              </a:rPr>
              <a:t>Validate M5 SSL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All runs: 5-way 5-shot on merged 673-task pool, 1000-episode meta-test.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3736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PART II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11185855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Expected v2 Performance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31 /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11155680" cy="5029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4389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7373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Meta-test ROC-AUC (5w5s)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737360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1155680" cy="5029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ProtoNet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24028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0.701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24028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observed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43200"/>
            <a:ext cx="11155680" cy="5029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7" name="TextBox 16"/>
          <p:cNvSpPr txBox="1"/>
          <p:nvPr/>
        </p:nvSpPr>
        <p:spPr>
          <a:xfrm>
            <a:off x="640080" y="274320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GoS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74320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0.569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observed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M1 residual 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32461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≥ 0.700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24612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safety net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74904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5" name="TextBox 24"/>
          <p:cNvSpPr txBox="1"/>
          <p:nvPr/>
        </p:nvSpPr>
        <p:spPr>
          <a:xfrm>
            <a:off x="640080" y="374904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M2 1-layer GAT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74904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+1 – 2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74904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over-smoothing fix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5196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640080" y="425196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M3 bipartite mask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42519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+1 – 3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25196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noise reduction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54880"/>
            <a:ext cx="111556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640080" y="475488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M4 contrastive (λ=0.5)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75488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+2 – 3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75488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geometry shaping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257800"/>
            <a:ext cx="1115568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640080" y="5257800"/>
            <a:ext cx="4206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  <a:latin typeface="Calibri"/>
              </a:rPr>
              <a:t>+ M5 SSL pretraining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525780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F96167"/>
                </a:solidFill>
                <a:latin typeface="Calibri"/>
              </a:rPr>
              <a:t>+5 – 10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5257800"/>
            <a:ext cx="29260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largest expected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69280"/>
            <a:ext cx="11185855" cy="73152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41" name="TextBox 40"/>
          <p:cNvSpPr txBox="1"/>
          <p:nvPr/>
        </p:nvSpPr>
        <p:spPr>
          <a:xfrm>
            <a:off x="502920" y="5669280"/>
            <a:ext cx="11185855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Composed target: ≥ 0.76  (a meaningful margin over ProtoNet)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1118585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118585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