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our course project for Few-Shot Graph Machine Learning, titled Graph-of-Shots. The project addresses the problem of classifying molecular graphs when only a handful of labeled examples are available per task. I will walk through the motivation, standard formulations, our core method, and empirical findings.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typical bioassay contains only a few hundred to a few thousand labeled molecules, and many of those are missing. Supervised GNNs overfit in this regime and do not transfer to new assays. But real drug discovery constantly faces new targets with only a dozen measured compounds. That is exactly the few-shot setting.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supervised pipeline works when labels are plentiful, but in the low-label regime it overfits and cannot transfer. Meta-learning is the natural fix.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Episodic meta-learning reframes the problem: train across many tasks to learn a transferable metric or initialization, then at meta-test time use K support molecules to classify the 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Episodes are parameterised by N and K. We split the pool of assays, not molecules, with strict label disjointness. In our merged pool of four MoleculeNet benchmarks we get 673 valid tasks split 405/134/134.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Schematic of how an episode is constructed. Tasks are split into meta-train/val/test. Each episode draws N assays, then K support and Q query molecules per assay. Support labels are revealed; query loss drives learning.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Prototypical Networks: for each class, compute the mean support embedding. Classify queries by nearest prototype. Crucially, no persistent per-class parameters, which is the right design for episodic training.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MAML learns an initialization such that a handful of SGD steps on the support set produce a task-specific model. Full MAML requires second-order gradients, which are unstable on some PyTorch Geometric ops. We use FOMAML, the first-order variant.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Molecular graphs come with nine-dimensional atom features and three-dimensional bond features. Our encoder stacks three GINEConv layers so bond information actually enters the message-passing updates, then global mean pool and a linear projection yield a 128-dim graph embedding.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 begins from a simple observation: baselines treat each molecule in isolation, but within one episode, the relations between molecules are highly informative. Our answer is to construct a task-specific meta-graph over the episode.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six stages. All molecules in the episode are encoded, pairwise affinities are computed, the graph is kNN-sparsified, labels are injected as one-hot features, a meta-GNN propagates, and a prototype head classifies the queries. All components are trained end-to-end.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GINEConv layers with MLPs, batch norm, ReLU and dropout. Atom and bond features are projected to the same hidden dim. The same encoder is used across all three methods for a fair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affinity functions are explored: cosine, bilinear, attention. After computing the full affinity matrix, we keep only each node's top-k strongest edges and symmetrize. The choice of k is a key ablation variable.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the meta-graph we run a two-layer weighted GCN. Support labels enter via one-hot concatenation; queries get zeros. As the GCN propagates, label signal diffuses to queries along high-affinity edges.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lesson we learned the hard way. A shared Linear head with N-way output collapses in episodic training because class indices are arbitrary across episodes. The fix is a prototype head on the meta-GNN outputs — identical in spirit to ProtoNet.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meta-GNN pass reaches only one or two hops. We iterate the entire meta-graph step R times. Labels are re-injected each round so the signal does not decay, and each round has its own parameters so later rounds can specialize.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results table. ProtoNet is clearly the strongest, reaching 0.701 AUC at 5-way 5-shot. Graph-of-Shots is second — beating FOMAML by roughly six points but trailing ProtoNet by thirteen. FOMAML stays near chance.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key findings. The affinity function has a small effect. The sparsification level has a large effect — sparser is better, and dense graphs cause GCN over-smoothing. All ablations at 5-way 5-shot.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methods improve monotonically with K, but ProtoNet scales faster. The gap widens. Our reading: when the encoder already produces separable embeddings, the meta-GNN introduces more distortion than it gains from label diffusion.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dynamics. ProtoNet trains smoothly to its peak and does not need early stopping. GoS plateaus at a lower peak and triggers early stopping mid-run. FOMAML converges the fastest but to a worse peak — it is essentially saturated at chance.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Part I. ProtoNet is a surprisingly strong benchmark. GoS beats MAML but not ProtoNet. Sparse meta-graphs matter. Shared classifier heads collapse. In Part II we lay out a v2 design aimed at closing the gap to ProtoNet and beyond.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II moves from analyzing why v1 falls short to proposing v2 — five targeted modifications, each aimed at a specific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signals point to the same root cause. Sparsifying helps — over-smoothing. ProtoNet wins on the raw embedding — meta-GNN hurts. Affinity changes do little — expressivity is not the bottleneck. Conclusion: v1 replaces a good representation with a worse one.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v2 design adds five targeted modifications. M1 ensures we are lower-bounded by ProtoNet. M2 and M3 fix the over-smoothing. M4 adds a contrastive auxiliary loss. M5 pretrains the encoder with self-supervision.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 is the safety net. We mix encoder-based and meta-GNN-based prototypes with a learnable alpha. At worst alpha goes to one, recovering ProtoNet. At best alpha sits in the middle, giving a useful mix.</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M2 replaces the deep GCN with a single-layer GAT. Attention is self-normalising, so it does not over-smooth on dense graphs the way GCN does. One layer is enough because episodes have around forty nodes.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masks the meta-graph. Query nodes carry no label, so messages between query nodes are pure noise. We keep support-to-support and support-to-query edges, and remove everything originating from queries.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M4 adds a contrastive auxiliary loss. Treat same-class supports as positives and other-class as negatives, and apply an InfoNCE objective. This sharpens the embedding geometry directly.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M5 pretrains the encoder with MolCLR-style self-supervision before episodic training. Two random augmentations per molecule, InfoNCE on the meta-train pool. Literature suggests five to ten points of downstream gain.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new ablation studies, each validating one of the five v2 modifications. A1 sweeps alpha; A2 varies depth and type; A3 toggles edge masking; A4 sweeps the contrastive weight; A5 compares pretraining regimes.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numbers. Residual prototypes alone give us a ProtoNet-level floor. Each subsequent modification adds a few points; SSL pretraining is the heavy hitter. Composed target: at least 0.76 at 5-way 5-shot.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code is open-source at github.com/BDeMo/proj-mol.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2834640"/>
            <a:ext cx="12191695" cy="10972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57200"/>
            <a:ext cx="5486400" cy="274320"/>
          </a:xfrm>
          <a:prstGeom prst="rect">
            <a:avLst/>
          </a:prstGeom>
          <a:noFill/>
        </p:spPr>
        <p:txBody>
          <a:bodyPr wrap="square" lIns="45720" rIns="45720" tIns="18288" bIns="18288" anchor="t">
            <a:spAutoFit/>
          </a:bodyPr>
          <a:lstStyle/>
          <a:p>
            <a:pPr algn="l"/>
            <a:r>
              <a:rPr sz="1100" b="1" i="0">
                <a:solidFill>
                  <a:srgbClr val="CADCFC"/>
                </a:solidFill>
                <a:latin typeface="Calibri"/>
              </a:rPr>
              <a:t>COURSE PROJECT · SPRING 2026</a:t>
            </a:r>
          </a:p>
        </p:txBody>
      </p:sp>
      <p:sp>
        <p:nvSpPr>
          <p:cNvPr id="4" name="TextBox 3"/>
          <p:cNvSpPr txBox="1"/>
          <p:nvPr/>
        </p:nvSpPr>
        <p:spPr>
          <a:xfrm>
            <a:off x="502920" y="1828800"/>
            <a:ext cx="11185855" cy="1097280"/>
          </a:xfrm>
          <a:prstGeom prst="rect">
            <a:avLst/>
          </a:prstGeom>
          <a:noFill/>
        </p:spPr>
        <p:txBody>
          <a:bodyPr wrap="square" lIns="45720" rIns="45720" tIns="18288" bIns="18288" anchor="t">
            <a:spAutoFit/>
          </a:bodyPr>
          <a:lstStyle/>
          <a:p>
            <a:pPr algn="l"/>
            <a:r>
              <a:rPr sz="5600" b="1" i="0">
                <a:solidFill>
                  <a:srgbClr val="FFFFFF"/>
                </a:solidFill>
                <a:latin typeface="Calibri"/>
              </a:rPr>
              <a:t>Graph-of-Shots</a:t>
            </a:r>
          </a:p>
        </p:txBody>
      </p:sp>
      <p:sp>
        <p:nvSpPr>
          <p:cNvPr id="5" name="TextBox 4"/>
          <p:cNvSpPr txBox="1"/>
          <p:nvPr/>
        </p:nvSpPr>
        <p:spPr>
          <a:xfrm>
            <a:off x="502920" y="3063240"/>
            <a:ext cx="11185855" cy="548640"/>
          </a:xfrm>
          <a:prstGeom prst="rect">
            <a:avLst/>
          </a:prstGeom>
          <a:noFill/>
        </p:spPr>
        <p:txBody>
          <a:bodyPr wrap="square" lIns="45720" rIns="45720" tIns="18288" bIns="18288" anchor="t">
            <a:spAutoFit/>
          </a:bodyPr>
          <a:lstStyle/>
          <a:p>
            <a:pPr algn="l"/>
            <a:r>
              <a:rPr sz="2600" b="0" i="1">
                <a:solidFill>
                  <a:srgbClr val="CADCFC"/>
                </a:solidFill>
                <a:latin typeface="Calibri"/>
              </a:rPr>
              <a:t>Few-Shot Molecular Graph Classification</a:t>
            </a:r>
          </a:p>
        </p:txBody>
      </p:sp>
      <p:sp>
        <p:nvSpPr>
          <p:cNvPr id="6" name="TextBox 5"/>
          <p:cNvSpPr txBox="1"/>
          <p:nvPr/>
        </p:nvSpPr>
        <p:spPr>
          <a:xfrm>
            <a:off x="502920" y="4206240"/>
            <a:ext cx="11185855" cy="365760"/>
          </a:xfrm>
          <a:prstGeom prst="rect">
            <a:avLst/>
          </a:prstGeom>
          <a:noFill/>
        </p:spPr>
        <p:txBody>
          <a:bodyPr wrap="square" lIns="45720" rIns="45720" tIns="18288" bIns="18288" anchor="t">
            <a:spAutoFit/>
          </a:bodyPr>
          <a:lstStyle/>
          <a:p>
            <a:pPr algn="l"/>
            <a:r>
              <a:rPr sz="1600" b="0" i="0">
                <a:solidFill>
                  <a:srgbClr val="FFFFFF"/>
                </a:solidFill>
                <a:latin typeface="Calibri"/>
              </a:rPr>
              <a:t>Team: Wenbo Huang · Junchi Yan · Yiqun Yin · Xinyue Xu · Mingjia Shi</a:t>
            </a:r>
          </a:p>
        </p:txBody>
      </p:sp>
      <p:sp>
        <p:nvSpPr>
          <p:cNvPr id="7" name="TextBox 6"/>
          <p:cNvSpPr txBox="1"/>
          <p:nvPr/>
        </p:nvSpPr>
        <p:spPr>
          <a:xfrm>
            <a:off x="502920" y="4754880"/>
            <a:ext cx="11185855" cy="365760"/>
          </a:xfrm>
          <a:prstGeom prst="rect">
            <a:avLst/>
          </a:prstGeom>
          <a:noFill/>
        </p:spPr>
        <p:txBody>
          <a:bodyPr wrap="square" lIns="45720" rIns="45720" tIns="18288" bIns="18288" anchor="t">
            <a:spAutoFit/>
          </a:bodyPr>
          <a:lstStyle/>
          <a:p>
            <a:pPr algn="l"/>
            <a:r>
              <a:rPr sz="1600" b="1" i="0">
                <a:solidFill>
                  <a:srgbClr val="FFFFFF"/>
                </a:solidFill>
                <a:latin typeface="Calibri"/>
              </a:rPr>
              <a:t>Speaker: Mingjia Shi</a:t>
            </a:r>
          </a:p>
        </p:txBody>
      </p:sp>
      <p:sp>
        <p:nvSpPr>
          <p:cNvPr id="8" name="TextBox 7"/>
          <p:cNvSpPr txBox="1"/>
          <p:nvPr/>
        </p:nvSpPr>
        <p:spPr>
          <a:xfrm>
            <a:off x="502920" y="5212080"/>
            <a:ext cx="11185855" cy="365760"/>
          </a:xfrm>
          <a:prstGeom prst="rect">
            <a:avLst/>
          </a:prstGeom>
          <a:noFill/>
        </p:spPr>
        <p:txBody>
          <a:bodyPr wrap="square" lIns="45720" rIns="45720" tIns="18288" bIns="18288" anchor="t">
            <a:spAutoFit/>
          </a:bodyPr>
          <a:lstStyle/>
          <a:p>
            <a:pPr algn="l"/>
            <a:r>
              <a:rPr sz="1400" b="0" i="1">
                <a:solidFill>
                  <a:srgbClr val="CADCFC"/>
                </a:solidFill>
                <a:latin typeface="Calibri"/>
              </a:rPr>
              <a:t>University of Virginia</a:t>
            </a:r>
          </a:p>
        </p:txBody>
      </p:sp>
      <p:sp>
        <p:nvSpPr>
          <p:cNvPr id="9" name="TextBox 8"/>
          <p:cNvSpPr txBox="1"/>
          <p:nvPr/>
        </p:nvSpPr>
        <p:spPr>
          <a:xfrm>
            <a:off x="8076895" y="6309360"/>
            <a:ext cx="3657600" cy="365760"/>
          </a:xfrm>
          <a:prstGeom prst="rect">
            <a:avLst/>
          </a:prstGeom>
          <a:noFill/>
        </p:spPr>
        <p:txBody>
          <a:bodyPr wrap="square" lIns="45720" rIns="45720" tIns="18288" bIns="18288" anchor="t">
            <a:spAutoFit/>
          </a:bodyPr>
          <a:lstStyle/>
          <a:p>
            <a:pPr algn="r"/>
            <a:r>
              <a:rPr sz="1100" b="0" i="0">
                <a:solidFill>
                  <a:srgbClr val="CADCFC"/>
                </a:solidFill>
                <a:latin typeface="Calibri"/>
              </a:rPr>
              <a:t>Few-Shot Graph Machine Learning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MOTIVATION</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Why Few-Shot Molecular Learning Matters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7132320" cy="4389120"/>
          </a:xfrm>
          <a:prstGeom prst="rect">
            <a:avLst/>
          </a:prstGeom>
          <a:noFill/>
        </p:spPr>
        <p:txBody>
          <a:bodyPr wrap="square" lIns="45720" rIns="45720">
            <a:spAutoFit/>
          </a:bodyPr>
          <a:lstStyle/>
          <a:p>
            <a:pPr algn="l">
              <a:lnSpc>
                <a:spcPct val="125000"/>
              </a:lnSpc>
              <a:spcAft>
                <a:spcPts val="400"/>
              </a:spcAft>
            </a:pPr>
            <a:r>
              <a:rPr sz="1700" b="1">
                <a:solidFill>
                  <a:srgbClr val="1E2761"/>
                </a:solidFill>
                <a:latin typeface="Calibri"/>
              </a:rPr>
              <a:t>●  </a:t>
            </a:r>
            <a:r>
              <a:rPr sz="1700">
                <a:solidFill>
                  <a:srgbClr val="36454F"/>
                </a:solidFill>
                <a:latin typeface="Calibri"/>
              </a:rPr>
              <a:t>Molecular property prediction is bottlenecked by label scarcity</a:t>
            </a:r>
          </a:p>
          <a:p>
            <a:pPr algn="l" lvl="1">
              <a:lnSpc>
                <a:spcPct val="125000"/>
              </a:lnSpc>
              <a:spcAft>
                <a:spcPts val="400"/>
              </a:spcAft>
            </a:pPr>
            <a:r>
              <a:rPr sz="1500" b="0">
                <a:solidFill>
                  <a:srgbClr val="888A90"/>
                </a:solidFill>
                <a:latin typeface="Calibri"/>
              </a:rPr>
              <a:t>·  </a:t>
            </a:r>
            <a:r>
              <a:rPr sz="1500">
                <a:solidFill>
                  <a:srgbClr val="36454F"/>
                </a:solidFill>
                <a:latin typeface="Calibri"/>
              </a:rPr>
              <a:t>bioassays typically have 10²–10³ labeled molecules, many missing.</a:t>
            </a:r>
          </a:p>
          <a:p>
            <a:pPr algn="l">
              <a:lnSpc>
                <a:spcPct val="125000"/>
              </a:lnSpc>
              <a:spcAft>
                <a:spcPts val="400"/>
              </a:spcAft>
            </a:pPr>
            <a:r>
              <a:rPr sz="1700" b="1">
                <a:solidFill>
                  <a:srgbClr val="1E2761"/>
                </a:solidFill>
                <a:latin typeface="Calibri"/>
              </a:rPr>
              <a:t>●  </a:t>
            </a:r>
            <a:r>
              <a:rPr sz="1700">
                <a:solidFill>
                  <a:srgbClr val="36454F"/>
                </a:solidFill>
                <a:latin typeface="Calibri"/>
              </a:rPr>
              <a:t>Standard supervised GNNs overfit on small data</a:t>
            </a:r>
          </a:p>
          <a:p>
            <a:pPr algn="l" lvl="1">
              <a:lnSpc>
                <a:spcPct val="125000"/>
              </a:lnSpc>
              <a:spcAft>
                <a:spcPts val="400"/>
              </a:spcAft>
            </a:pPr>
            <a:r>
              <a:rPr sz="1500" b="0">
                <a:solidFill>
                  <a:srgbClr val="888A90"/>
                </a:solidFill>
                <a:latin typeface="Calibri"/>
              </a:rPr>
              <a:t>·  </a:t>
            </a:r>
            <a:r>
              <a:rPr sz="1500">
                <a:solidFill>
                  <a:srgbClr val="36454F"/>
                </a:solidFill>
                <a:latin typeface="Calibri"/>
              </a:rPr>
              <a:t>and fail to generalize across new assays.</a:t>
            </a:r>
          </a:p>
          <a:p>
            <a:pPr algn="l">
              <a:lnSpc>
                <a:spcPct val="125000"/>
              </a:lnSpc>
              <a:spcAft>
                <a:spcPts val="400"/>
              </a:spcAft>
            </a:pPr>
            <a:r>
              <a:rPr sz="1700" b="1">
                <a:solidFill>
                  <a:srgbClr val="1E2761"/>
                </a:solidFill>
                <a:latin typeface="Calibri"/>
              </a:rPr>
              <a:t>●  </a:t>
            </a:r>
            <a:r>
              <a:rPr sz="1700">
                <a:solidFill>
                  <a:srgbClr val="36454F"/>
                </a:solidFill>
                <a:latin typeface="Calibri"/>
              </a:rPr>
              <a:t>Biology itself is inherently few-shot</a:t>
            </a:r>
          </a:p>
          <a:p>
            <a:pPr algn="l" lvl="1">
              <a:lnSpc>
                <a:spcPct val="125000"/>
              </a:lnSpc>
              <a:spcAft>
                <a:spcPts val="400"/>
              </a:spcAft>
            </a:pPr>
            <a:r>
              <a:rPr sz="1500" b="0">
                <a:solidFill>
                  <a:srgbClr val="888A90"/>
                </a:solidFill>
                <a:latin typeface="Calibri"/>
              </a:rPr>
              <a:t>·  </a:t>
            </a:r>
            <a:r>
              <a:rPr sz="1500">
                <a:solidFill>
                  <a:srgbClr val="36454F"/>
                </a:solidFill>
                <a:latin typeface="Calibri"/>
              </a:rPr>
              <a:t>novel drug targets and emerging toxicity endpoints have only a handful of tested compounds.</a:t>
            </a:r>
          </a:p>
          <a:p>
            <a:pPr algn="l">
              <a:lnSpc>
                <a:spcPct val="125000"/>
              </a:lnSpc>
              <a:spcAft>
                <a:spcPts val="400"/>
              </a:spcAft>
            </a:pPr>
            <a:r>
              <a:rPr sz="1700" b="1">
                <a:solidFill>
                  <a:srgbClr val="1E2761"/>
                </a:solidFill>
                <a:latin typeface="Calibri"/>
              </a:rPr>
              <a:t>●  </a:t>
            </a:r>
            <a:r>
              <a:rPr sz="1700">
                <a:solidFill>
                  <a:srgbClr val="36454F"/>
                </a:solidFill>
                <a:latin typeface="Calibri"/>
              </a:rPr>
              <a:t>Goal of this project:</a:t>
            </a:r>
          </a:p>
          <a:p>
            <a:pPr algn="l" lvl="1">
              <a:lnSpc>
                <a:spcPct val="125000"/>
              </a:lnSpc>
              <a:spcAft>
                <a:spcPts val="400"/>
              </a:spcAft>
            </a:pPr>
            <a:r>
              <a:rPr sz="1500" b="0">
                <a:solidFill>
                  <a:srgbClr val="888A90"/>
                </a:solidFill>
                <a:latin typeface="Calibri"/>
              </a:rPr>
              <a:t>·  </a:t>
            </a:r>
            <a:r>
              <a:rPr sz="1500">
                <a:solidFill>
                  <a:srgbClr val="36454F"/>
                </a:solidFill>
                <a:latin typeface="Calibri"/>
              </a:rPr>
              <a:t>given K labeled molecules for a brand-new assay, classify the unlabeled rest.</a:t>
            </a:r>
          </a:p>
        </p:txBody>
      </p:sp>
      <p:sp>
        <p:nvSpPr>
          <p:cNvPr id="9" name="Rectangle 8"/>
          <p:cNvSpPr/>
          <p:nvPr/>
        </p:nvSpPr>
        <p:spPr>
          <a:xfrm>
            <a:off x="8229600" y="1828800"/>
            <a:ext cx="3474720" cy="18288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20240"/>
            <a:ext cx="3474720" cy="457200"/>
          </a:xfrm>
          <a:prstGeom prst="rect">
            <a:avLst/>
          </a:prstGeom>
          <a:noFill/>
        </p:spPr>
        <p:txBody>
          <a:bodyPr wrap="square" lIns="45720" rIns="45720" tIns="18288" bIns="18288" anchor="t">
            <a:spAutoFit/>
          </a:bodyPr>
          <a:lstStyle/>
          <a:p>
            <a:pPr algn="ctr"/>
            <a:r>
              <a:rPr sz="1200" b="1" i="0">
                <a:solidFill>
                  <a:srgbClr val="1E2761"/>
                </a:solidFill>
                <a:latin typeface="Calibri"/>
              </a:rPr>
              <a:t>TYPICAL ASSAY SIZE</a:t>
            </a:r>
          </a:p>
        </p:txBody>
      </p:sp>
      <p:sp>
        <p:nvSpPr>
          <p:cNvPr id="11" name="TextBox 10"/>
          <p:cNvSpPr txBox="1"/>
          <p:nvPr/>
        </p:nvSpPr>
        <p:spPr>
          <a:xfrm>
            <a:off x="8229600" y="2286000"/>
            <a:ext cx="3474720" cy="1005840"/>
          </a:xfrm>
          <a:prstGeom prst="rect">
            <a:avLst/>
          </a:prstGeom>
          <a:noFill/>
        </p:spPr>
        <p:txBody>
          <a:bodyPr wrap="square" lIns="45720" rIns="45720" tIns="18288" bIns="18288" anchor="ctr">
            <a:spAutoFit/>
          </a:bodyPr>
          <a:lstStyle/>
          <a:p>
            <a:pPr algn="ctr"/>
            <a:r>
              <a:rPr sz="4800" b="1" i="0">
                <a:solidFill>
                  <a:srgbClr val="1E2761"/>
                </a:solidFill>
                <a:latin typeface="Calibri"/>
              </a:rPr>
              <a:t>10² – 10³</a:t>
            </a:r>
          </a:p>
        </p:txBody>
      </p:sp>
      <p:sp>
        <p:nvSpPr>
          <p:cNvPr id="12" name="TextBox 11"/>
          <p:cNvSpPr txBox="1"/>
          <p:nvPr/>
        </p:nvSpPr>
        <p:spPr>
          <a:xfrm>
            <a:off x="8229600" y="3246120"/>
            <a:ext cx="3474720" cy="365760"/>
          </a:xfrm>
          <a:prstGeom prst="rect">
            <a:avLst/>
          </a:prstGeom>
          <a:noFill/>
        </p:spPr>
        <p:txBody>
          <a:bodyPr wrap="square" lIns="45720" rIns="45720" tIns="18288" bIns="18288" anchor="t">
            <a:spAutoFit/>
          </a:bodyPr>
          <a:lstStyle/>
          <a:p>
            <a:pPr algn="ctr"/>
            <a:r>
              <a:rPr sz="1100" b="0" i="1">
                <a:solidFill>
                  <a:srgbClr val="36454F"/>
                </a:solidFill>
                <a:latin typeface="Calibri"/>
              </a:rPr>
              <a:t>labeled molecules per target</a:t>
            </a:r>
          </a:p>
        </p:txBody>
      </p:sp>
      <p:sp>
        <p:nvSpPr>
          <p:cNvPr id="13" name="Rectangle 12"/>
          <p:cNvSpPr/>
          <p:nvPr/>
        </p:nvSpPr>
        <p:spPr>
          <a:xfrm>
            <a:off x="8229600" y="3931920"/>
            <a:ext cx="3474720" cy="17373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4069080"/>
            <a:ext cx="3200400" cy="320040"/>
          </a:xfrm>
          <a:prstGeom prst="rect">
            <a:avLst/>
          </a:prstGeom>
          <a:noFill/>
        </p:spPr>
        <p:txBody>
          <a:bodyPr wrap="square" lIns="45720" rIns="45720" tIns="18288" bIns="18288" anchor="t">
            <a:spAutoFit/>
          </a:bodyPr>
          <a:lstStyle/>
          <a:p>
            <a:pPr algn="l"/>
            <a:r>
              <a:rPr sz="1100" b="1" i="0">
                <a:solidFill>
                  <a:srgbClr val="1E2761"/>
                </a:solidFill>
                <a:latin typeface="Calibri"/>
              </a:rPr>
              <a:t>MANY MISSING LABELS</a:t>
            </a:r>
          </a:p>
        </p:txBody>
      </p:sp>
      <p:sp>
        <p:nvSpPr>
          <p:cNvPr id="15" name="TextBox 14"/>
          <p:cNvSpPr txBox="1"/>
          <p:nvPr/>
        </p:nvSpPr>
        <p:spPr>
          <a:xfrm>
            <a:off x="8366760" y="4434840"/>
            <a:ext cx="3200400" cy="1143000"/>
          </a:xfrm>
          <a:prstGeom prst="rect">
            <a:avLst/>
          </a:prstGeom>
          <a:noFill/>
        </p:spPr>
        <p:txBody>
          <a:bodyPr wrap="square" lIns="45720" rIns="45720" tIns="18288" bIns="18288" anchor="t">
            <a:spAutoFit/>
          </a:bodyPr>
          <a:lstStyle/>
          <a:p>
            <a:pPr algn="l"/>
            <a:r>
              <a:rPr sz="1100" b="0" i="1">
                <a:solidFill>
                  <a:srgbClr val="36454F"/>
                </a:solidFill>
                <a:latin typeface="Calibri"/>
              </a:rPr>
              <a:t>Multi-task MoleculeNet assays are sparsely labeled — the few-shot setting is not artificial, it is the rule.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Background: Standard Supervised Pipeline</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3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Dataset</a:t>
            </a:r>
          </a:p>
        </p:txBody>
      </p:sp>
      <p:sp>
        <p:nvSpPr>
          <p:cNvPr id="10" name="TextBox 9"/>
          <p:cNvSpPr txBox="1"/>
          <p:nvPr/>
        </p:nvSpPr>
        <p:spPr>
          <a:xfrm>
            <a:off x="502920"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labeled
molecules</a:t>
            </a:r>
          </a:p>
        </p:txBody>
      </p:sp>
      <p:sp>
        <p:nvSpPr>
          <p:cNvPr id="11" name="TextBox 10"/>
          <p:cNvSpPr txBox="1"/>
          <p:nvPr/>
        </p:nvSpPr>
        <p:spPr>
          <a:xfrm>
            <a:off x="2630363" y="2286000"/>
            <a:ext cx="137160" cy="457200"/>
          </a:xfrm>
          <a:prstGeom prst="rect">
            <a:avLst/>
          </a:prstGeom>
          <a:noFill/>
        </p:spPr>
        <p:txBody>
          <a:bodyPr wrap="square" lIns="45720" rIns="45720" tIns="18288" bIns="18288" anchor="t">
            <a:spAutoFit/>
          </a:bodyPr>
          <a:lstStyle/>
          <a:p>
            <a:pPr algn="ctr"/>
            <a:r>
              <a:rPr sz="2200" b="1" i="0">
                <a:solidFill>
                  <a:srgbClr val="1E2761"/>
                </a:solidFill>
                <a:latin typeface="Calibri"/>
              </a:rPr>
              <a:t>→</a:t>
            </a:r>
          </a:p>
        </p:txBody>
      </p:sp>
      <p:sp>
        <p:nvSpPr>
          <p:cNvPr id="12" name="Rectangle 11"/>
          <p:cNvSpPr/>
          <p:nvPr/>
        </p:nvSpPr>
        <p:spPr>
          <a:xfrm>
            <a:off x="2767523"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7523"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Split</a:t>
            </a:r>
          </a:p>
        </p:txBody>
      </p:sp>
      <p:sp>
        <p:nvSpPr>
          <p:cNvPr id="14" name="TextBox 13"/>
          <p:cNvSpPr txBox="1"/>
          <p:nvPr/>
        </p:nvSpPr>
        <p:spPr>
          <a:xfrm>
            <a:off x="2767523"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train / test</a:t>
            </a:r>
          </a:p>
        </p:txBody>
      </p:sp>
      <p:sp>
        <p:nvSpPr>
          <p:cNvPr id="15" name="TextBox 14"/>
          <p:cNvSpPr txBox="1"/>
          <p:nvPr/>
        </p:nvSpPr>
        <p:spPr>
          <a:xfrm>
            <a:off x="4894966" y="2286000"/>
            <a:ext cx="137160" cy="457200"/>
          </a:xfrm>
          <a:prstGeom prst="rect">
            <a:avLst/>
          </a:prstGeom>
          <a:noFill/>
        </p:spPr>
        <p:txBody>
          <a:bodyPr wrap="square" lIns="45720" rIns="45720" tIns="18288" bIns="18288" anchor="t">
            <a:spAutoFit/>
          </a:bodyPr>
          <a:lstStyle/>
          <a:p>
            <a:pPr algn="ctr"/>
            <a:r>
              <a:rPr sz="2200" b="1" i="0">
                <a:solidFill>
                  <a:srgbClr val="1E2761"/>
                </a:solidFill>
                <a:latin typeface="Calibri"/>
              </a:rPr>
              <a:t>→</a:t>
            </a:r>
          </a:p>
        </p:txBody>
      </p:sp>
      <p:sp>
        <p:nvSpPr>
          <p:cNvPr id="16" name="Rectangle 15"/>
          <p:cNvSpPr/>
          <p:nvPr/>
        </p:nvSpPr>
        <p:spPr>
          <a:xfrm>
            <a:off x="5032126"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32126"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GNN encoder</a:t>
            </a:r>
          </a:p>
        </p:txBody>
      </p:sp>
      <p:sp>
        <p:nvSpPr>
          <p:cNvPr id="18" name="TextBox 17"/>
          <p:cNvSpPr txBox="1"/>
          <p:nvPr/>
        </p:nvSpPr>
        <p:spPr>
          <a:xfrm>
            <a:off x="5032126"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φ(G) → h</a:t>
            </a:r>
          </a:p>
        </p:txBody>
      </p:sp>
      <p:sp>
        <p:nvSpPr>
          <p:cNvPr id="19" name="TextBox 18"/>
          <p:cNvSpPr txBox="1"/>
          <p:nvPr/>
        </p:nvSpPr>
        <p:spPr>
          <a:xfrm>
            <a:off x="7159569" y="2286000"/>
            <a:ext cx="137160" cy="457200"/>
          </a:xfrm>
          <a:prstGeom prst="rect">
            <a:avLst/>
          </a:prstGeom>
          <a:noFill/>
        </p:spPr>
        <p:txBody>
          <a:bodyPr wrap="square" lIns="45720" rIns="45720" tIns="18288" bIns="18288" anchor="t">
            <a:spAutoFit/>
          </a:bodyPr>
          <a:lstStyle/>
          <a:p>
            <a:pPr algn="ctr"/>
            <a:r>
              <a:rPr sz="2200" b="1" i="0">
                <a:solidFill>
                  <a:srgbClr val="1E2761"/>
                </a:solidFill>
                <a:latin typeface="Calibri"/>
              </a:rPr>
              <a:t>→</a:t>
            </a:r>
          </a:p>
        </p:txBody>
      </p:sp>
      <p:sp>
        <p:nvSpPr>
          <p:cNvPr id="20" name="Rectangle 19"/>
          <p:cNvSpPr/>
          <p:nvPr/>
        </p:nvSpPr>
        <p:spPr>
          <a:xfrm>
            <a:off x="7296729"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96729"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Head</a:t>
            </a:r>
          </a:p>
        </p:txBody>
      </p:sp>
      <p:sp>
        <p:nvSpPr>
          <p:cNvPr id="22" name="TextBox 21"/>
          <p:cNvSpPr txBox="1"/>
          <p:nvPr/>
        </p:nvSpPr>
        <p:spPr>
          <a:xfrm>
            <a:off x="7296729"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classifier</a:t>
            </a:r>
          </a:p>
        </p:txBody>
      </p:sp>
      <p:sp>
        <p:nvSpPr>
          <p:cNvPr id="23" name="TextBox 22"/>
          <p:cNvSpPr txBox="1"/>
          <p:nvPr/>
        </p:nvSpPr>
        <p:spPr>
          <a:xfrm>
            <a:off x="9424172" y="2286000"/>
            <a:ext cx="137160" cy="457200"/>
          </a:xfrm>
          <a:prstGeom prst="rect">
            <a:avLst/>
          </a:prstGeom>
          <a:noFill/>
        </p:spPr>
        <p:txBody>
          <a:bodyPr wrap="square" lIns="45720" rIns="45720" tIns="18288" bIns="18288" anchor="t">
            <a:spAutoFit/>
          </a:bodyPr>
          <a:lstStyle/>
          <a:p>
            <a:pPr algn="ctr"/>
            <a:r>
              <a:rPr sz="2200" b="1" i="0">
                <a:solidFill>
                  <a:srgbClr val="1E2761"/>
                </a:solidFill>
                <a:latin typeface="Calibri"/>
              </a:rPr>
              <a:t>→</a:t>
            </a:r>
          </a:p>
        </p:txBody>
      </p:sp>
      <p:sp>
        <p:nvSpPr>
          <p:cNvPr id="24" name="Rectangle 23"/>
          <p:cNvSpPr/>
          <p:nvPr/>
        </p:nvSpPr>
        <p:spPr>
          <a:xfrm>
            <a:off x="9561332"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61332"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Predict</a:t>
            </a:r>
          </a:p>
        </p:txBody>
      </p:sp>
      <p:sp>
        <p:nvSpPr>
          <p:cNvPr id="26" name="TextBox 25"/>
          <p:cNvSpPr txBox="1"/>
          <p:nvPr/>
        </p:nvSpPr>
        <p:spPr>
          <a:xfrm>
            <a:off x="9561332"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y for test</a:t>
            </a:r>
          </a:p>
        </p:txBody>
      </p:sp>
      <p:sp>
        <p:nvSpPr>
          <p:cNvPr id="27" name="TextBox 26"/>
          <p:cNvSpPr txBox="1"/>
          <p:nvPr/>
        </p:nvSpPr>
        <p:spPr>
          <a:xfrm>
            <a:off x="502920" y="3840480"/>
            <a:ext cx="10972800" cy="365760"/>
          </a:xfrm>
          <a:prstGeom prst="rect">
            <a:avLst/>
          </a:prstGeom>
          <a:noFill/>
        </p:spPr>
        <p:txBody>
          <a:bodyPr wrap="square" lIns="45720" rIns="45720" tIns="18288" bIns="18288" anchor="t">
            <a:spAutoFit/>
          </a:bodyPr>
          <a:lstStyle/>
          <a:p>
            <a:pPr algn="l"/>
            <a:r>
              <a:rPr sz="1200" b="1" i="0">
                <a:solidFill>
                  <a:srgbClr val="F96167"/>
                </a:solidFill>
                <a:latin typeface="Calibri"/>
              </a:rPr>
              <a:t>WHY THIS FAILS IN LOW-LABEL REGIME</a:t>
            </a:r>
          </a:p>
        </p:txBody>
      </p:sp>
      <p:sp>
        <p:nvSpPr>
          <p:cNvPr id="28" name="TextBox 27"/>
          <p:cNvSpPr txBox="1"/>
          <p:nvPr/>
        </p:nvSpPr>
        <p:spPr>
          <a:xfrm>
            <a:off x="502920" y="4206240"/>
            <a:ext cx="10972800" cy="1828800"/>
          </a:xfrm>
          <a:prstGeom prst="rect">
            <a:avLst/>
          </a:prstGeom>
          <a:noFill/>
        </p:spPr>
        <p:txBody>
          <a:bodyPr wrap="square" lIns="45720" rIns="45720">
            <a:spAutoFit/>
          </a:bodyPr>
          <a:lstStyle/>
          <a:p>
            <a:pPr algn="l">
              <a:lnSpc>
                <a:spcPct val="125000"/>
              </a:lnSpc>
              <a:spcAft>
                <a:spcPts val="400"/>
              </a:spcAft>
            </a:pPr>
            <a:r>
              <a:rPr sz="1600" b="1">
                <a:solidFill>
                  <a:srgbClr val="1E2761"/>
                </a:solidFill>
                <a:latin typeface="Calibri"/>
              </a:rPr>
              <a:t>●  </a:t>
            </a:r>
            <a:r>
              <a:rPr sz="1600">
                <a:solidFill>
                  <a:srgbClr val="36454F"/>
                </a:solidFill>
                <a:latin typeface="Calibri"/>
              </a:rPr>
              <a:t>(i)  Overfits on the tiny training set — variance dominates.</a:t>
            </a:r>
          </a:p>
          <a:p>
            <a:pPr algn="l">
              <a:lnSpc>
                <a:spcPct val="125000"/>
              </a:lnSpc>
              <a:spcAft>
                <a:spcPts val="400"/>
              </a:spcAft>
            </a:pPr>
            <a:r>
              <a:rPr sz="1600" b="1">
                <a:solidFill>
                  <a:srgbClr val="1E2761"/>
                </a:solidFill>
                <a:latin typeface="Calibri"/>
              </a:rPr>
              <a:t>●  </a:t>
            </a:r>
            <a:r>
              <a:rPr sz="1600">
                <a:solidFill>
                  <a:srgbClr val="36454F"/>
                </a:solidFill>
                <a:latin typeface="Calibri"/>
              </a:rPr>
              <a:t>(ii) Cannot transfer to unseen assays — no notion of a task distribution.</a:t>
            </a:r>
          </a:p>
          <a:p>
            <a:pPr algn="l">
              <a:lnSpc>
                <a:spcPct val="125000"/>
              </a:lnSpc>
              <a:spcAft>
                <a:spcPts val="400"/>
              </a:spcAft>
            </a:pPr>
            <a:r>
              <a:rPr sz="1600" b="1">
                <a:solidFill>
                  <a:srgbClr val="1E2761"/>
                </a:solidFill>
                <a:latin typeface="Calibri"/>
              </a:rPr>
              <a:t>●  </a:t>
            </a:r>
            <a:r>
              <a:rPr sz="1600">
                <a:solidFill>
                  <a:srgbClr val="36454F"/>
                </a:solidFill>
                <a:latin typeface="Calibri"/>
              </a:rPr>
              <a:t>Meta-learning is the natural fix: train across many tasks so the model adapts quickly.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Functions of Episodic Meta-Learning</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4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737360"/>
            <a:ext cx="530352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74519"/>
            <a:ext cx="5303520" cy="457200"/>
          </a:xfrm>
          <a:prstGeom prst="rect">
            <a:avLst/>
          </a:prstGeom>
          <a:noFill/>
        </p:spPr>
        <p:txBody>
          <a:bodyPr wrap="square" lIns="45720" rIns="45720" tIns="18288" bIns="18288" anchor="t">
            <a:spAutoFit/>
          </a:bodyPr>
          <a:lstStyle/>
          <a:p>
            <a:pPr algn="l"/>
            <a:r>
              <a:rPr sz="1700" b="1" i="0">
                <a:solidFill>
                  <a:srgbClr val="F96167"/>
                </a:solidFill>
                <a:latin typeface="Calibri"/>
              </a:rPr>
              <a:t>Supervised</a:t>
            </a:r>
          </a:p>
        </p:txBody>
      </p:sp>
      <p:sp>
        <p:nvSpPr>
          <p:cNvPr id="10" name="TextBox 9"/>
          <p:cNvSpPr txBox="1"/>
          <p:nvPr/>
        </p:nvSpPr>
        <p:spPr>
          <a:xfrm>
            <a:off x="685800" y="2377440"/>
            <a:ext cx="4937760" cy="36576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Fit one task on one dataset.</a:t>
            </a:r>
          </a:p>
          <a:p>
            <a:pPr algn="l">
              <a:lnSpc>
                <a:spcPct val="125000"/>
              </a:lnSpc>
              <a:spcAft>
                <a:spcPts val="400"/>
              </a:spcAft>
            </a:pPr>
            <a:r>
              <a:rPr sz="1500" b="1">
                <a:solidFill>
                  <a:srgbClr val="1E2761"/>
                </a:solidFill>
                <a:latin typeface="Calibri"/>
              </a:rPr>
              <a:t>●  </a:t>
            </a:r>
            <a:r>
              <a:rPr sz="1500">
                <a:solidFill>
                  <a:srgbClr val="36454F"/>
                </a:solidFill>
                <a:latin typeface="Calibri"/>
              </a:rPr>
              <a:t>Retrains for every new assay.</a:t>
            </a:r>
          </a:p>
          <a:p>
            <a:pPr algn="l">
              <a:lnSpc>
                <a:spcPct val="125000"/>
              </a:lnSpc>
              <a:spcAft>
                <a:spcPts val="400"/>
              </a:spcAft>
            </a:pPr>
            <a:r>
              <a:rPr sz="1500" b="1">
                <a:solidFill>
                  <a:srgbClr val="1E2761"/>
                </a:solidFill>
                <a:latin typeface="Calibri"/>
              </a:rPr>
              <a:t>●  </a:t>
            </a:r>
            <a:r>
              <a:rPr sz="1500">
                <a:solidFill>
                  <a:srgbClr val="36454F"/>
                </a:solidFill>
                <a:latin typeface="Calibri"/>
              </a:rPr>
              <a:t>Fails when labels are scarce.</a:t>
            </a:r>
          </a:p>
          <a:p>
            <a:pPr algn="l">
              <a:lnSpc>
                <a:spcPct val="125000"/>
              </a:lnSpc>
              <a:spcAft>
                <a:spcPts val="400"/>
              </a:spcAft>
            </a:pPr>
            <a:r>
              <a:rPr sz="1500" b="1">
                <a:solidFill>
                  <a:srgbClr val="1E2761"/>
                </a:solidFill>
                <a:latin typeface="Calibri"/>
              </a:rPr>
              <a:t>●  </a:t>
            </a:r>
            <a:r>
              <a:rPr sz="1500">
                <a:solidFill>
                  <a:srgbClr val="36454F"/>
                </a:solidFill>
                <a:latin typeface="Calibri"/>
              </a:rPr>
              <a:t>No notion of 'how to learn quickly'.</a:t>
            </a:r>
          </a:p>
        </p:txBody>
      </p:sp>
      <p:sp>
        <p:nvSpPr>
          <p:cNvPr id="11" name="Rectangle 10"/>
          <p:cNvSpPr/>
          <p:nvPr/>
        </p:nvSpPr>
        <p:spPr>
          <a:xfrm>
            <a:off x="6172200" y="1737360"/>
            <a:ext cx="5303520" cy="43891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874519"/>
            <a:ext cx="5303520" cy="457200"/>
          </a:xfrm>
          <a:prstGeom prst="rect">
            <a:avLst/>
          </a:prstGeom>
          <a:noFill/>
        </p:spPr>
        <p:txBody>
          <a:bodyPr wrap="square" lIns="45720" rIns="45720" tIns="18288" bIns="18288" anchor="t">
            <a:spAutoFit/>
          </a:bodyPr>
          <a:lstStyle/>
          <a:p>
            <a:pPr algn="l"/>
            <a:r>
              <a:rPr sz="1700" b="1" i="0">
                <a:solidFill>
                  <a:srgbClr val="1E2761"/>
                </a:solidFill>
                <a:latin typeface="Calibri"/>
              </a:rPr>
              <a:t>Episodic Meta-Learning</a:t>
            </a:r>
          </a:p>
        </p:txBody>
      </p:sp>
      <p:sp>
        <p:nvSpPr>
          <p:cNvPr id="13" name="TextBox 12"/>
          <p:cNvSpPr txBox="1"/>
          <p:nvPr/>
        </p:nvSpPr>
        <p:spPr>
          <a:xfrm>
            <a:off x="6355080" y="2377440"/>
            <a:ext cx="4937760" cy="36576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1E2761"/>
                </a:solidFill>
                <a:latin typeface="Calibri"/>
              </a:rPr>
              <a:t>Train across many small tasks.</a:t>
            </a:r>
          </a:p>
          <a:p>
            <a:pPr algn="l">
              <a:lnSpc>
                <a:spcPct val="125000"/>
              </a:lnSpc>
              <a:spcAft>
                <a:spcPts val="400"/>
              </a:spcAft>
            </a:pPr>
            <a:r>
              <a:rPr sz="1500" b="1">
                <a:solidFill>
                  <a:srgbClr val="1E2761"/>
                </a:solidFill>
                <a:latin typeface="Calibri"/>
              </a:rPr>
              <a:t>●  </a:t>
            </a:r>
            <a:r>
              <a:rPr sz="1500">
                <a:solidFill>
                  <a:srgbClr val="1E2761"/>
                </a:solidFill>
                <a:latin typeface="Calibri"/>
              </a:rPr>
              <a:t>Each episode simulates few-shot conditions at train time.</a:t>
            </a:r>
          </a:p>
          <a:p>
            <a:pPr algn="l">
              <a:lnSpc>
                <a:spcPct val="125000"/>
              </a:lnSpc>
              <a:spcAft>
                <a:spcPts val="400"/>
              </a:spcAft>
            </a:pPr>
            <a:r>
              <a:rPr sz="1500" b="1">
                <a:solidFill>
                  <a:srgbClr val="1E2761"/>
                </a:solidFill>
                <a:latin typeface="Calibri"/>
              </a:rPr>
              <a:t>●  </a:t>
            </a:r>
            <a:r>
              <a:rPr sz="1500">
                <a:solidFill>
                  <a:srgbClr val="1E2761"/>
                </a:solidFill>
                <a:latin typeface="Calibri"/>
              </a:rPr>
              <a:t>Model learns a transferable metric / initialization.</a:t>
            </a:r>
          </a:p>
          <a:p>
            <a:pPr algn="l">
              <a:lnSpc>
                <a:spcPct val="125000"/>
              </a:lnSpc>
              <a:spcAft>
                <a:spcPts val="400"/>
              </a:spcAft>
            </a:pPr>
            <a:r>
              <a:rPr sz="1500" b="1">
                <a:solidFill>
                  <a:srgbClr val="1E2761"/>
                </a:solidFill>
                <a:latin typeface="Calibri"/>
              </a:rPr>
              <a:t>●  </a:t>
            </a:r>
            <a:r>
              <a:rPr sz="1500">
                <a:solidFill>
                  <a:srgbClr val="1E2761"/>
                </a:solidFill>
                <a:latin typeface="Calibri"/>
              </a:rPr>
              <a:t>Meta-test: K support molecules + classify queries — no retraining.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Episodic Formulation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5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7132320" cy="2926080"/>
          </a:xfrm>
          <a:prstGeom prst="rect">
            <a:avLst/>
          </a:prstGeom>
          <a:noFill/>
        </p:spPr>
        <p:txBody>
          <a:bodyPr wrap="square" lIns="45720" rIns="45720">
            <a:spAutoFit/>
          </a:bodyPr>
          <a:lstStyle/>
          <a:p>
            <a:pPr algn="l">
              <a:lnSpc>
                <a:spcPct val="125000"/>
              </a:lnSpc>
              <a:spcAft>
                <a:spcPts val="400"/>
              </a:spcAft>
            </a:pPr>
            <a:r>
              <a:rPr sz="1600" b="1">
                <a:solidFill>
                  <a:srgbClr val="1E2761"/>
                </a:solidFill>
                <a:latin typeface="Calibri"/>
              </a:rPr>
              <a:t>●  </a:t>
            </a:r>
            <a:r>
              <a:rPr sz="1600">
                <a:solidFill>
                  <a:srgbClr val="36454F"/>
                </a:solidFill>
                <a:latin typeface="Calibri"/>
              </a:rPr>
              <a:t>Split at the TASK level (not molecule level):</a:t>
            </a:r>
          </a:p>
          <a:p>
            <a:pPr algn="l" lvl="1">
              <a:lnSpc>
                <a:spcPct val="125000"/>
              </a:lnSpc>
              <a:spcAft>
                <a:spcPts val="400"/>
              </a:spcAft>
            </a:pPr>
            <a:r>
              <a:rPr sz="1400" b="0">
                <a:solidFill>
                  <a:srgbClr val="888A90"/>
                </a:solidFill>
                <a:latin typeface="Calibri"/>
              </a:rPr>
              <a:t>·  </a:t>
            </a:r>
            <a:r>
              <a:rPr sz="1400">
                <a:solidFill>
                  <a:srgbClr val="36454F"/>
                </a:solidFill>
                <a:latin typeface="Calibri"/>
              </a:rPr>
              <a:t>meta-train ∪ meta-val ∪ meta-test, strict label disjointness.</a:t>
            </a:r>
          </a:p>
          <a:p>
            <a:pPr algn="l">
              <a:lnSpc>
                <a:spcPct val="125000"/>
              </a:lnSpc>
              <a:spcAft>
                <a:spcPts val="400"/>
              </a:spcAft>
            </a:pPr>
            <a:r>
              <a:rPr sz="1600" b="1">
                <a:solidFill>
                  <a:srgbClr val="1E2761"/>
                </a:solidFill>
                <a:latin typeface="Calibri"/>
              </a:rPr>
              <a:t>●  </a:t>
            </a:r>
            <a:r>
              <a:rPr sz="1600">
                <a:solidFill>
                  <a:srgbClr val="36454F"/>
                </a:solidFill>
                <a:latin typeface="Calibri"/>
              </a:rPr>
              <a:t>Episode τ draws N classes × K support molecules + query set.</a:t>
            </a:r>
          </a:p>
          <a:p>
            <a:pPr algn="l">
              <a:lnSpc>
                <a:spcPct val="125000"/>
              </a:lnSpc>
              <a:spcAft>
                <a:spcPts val="400"/>
              </a:spcAft>
            </a:pPr>
            <a:r>
              <a:rPr sz="1600" b="1">
                <a:solidFill>
                  <a:srgbClr val="1E2761"/>
                </a:solidFill>
                <a:latin typeface="Calibri"/>
              </a:rPr>
              <a:t>●  </a:t>
            </a:r>
            <a:r>
              <a:rPr sz="1600">
                <a:solidFill>
                  <a:srgbClr val="36454F"/>
                </a:solidFill>
                <a:latin typeface="Calibri"/>
              </a:rPr>
              <a:t>Configs: 5-way 1-shot · 5-way 5-shot · 10-way 5-shot.</a:t>
            </a:r>
          </a:p>
          <a:p>
            <a:pPr algn="l">
              <a:lnSpc>
                <a:spcPct val="125000"/>
              </a:lnSpc>
              <a:spcAft>
                <a:spcPts val="400"/>
              </a:spcAft>
            </a:pPr>
            <a:r>
              <a:rPr sz="1600" b="1">
                <a:solidFill>
                  <a:srgbClr val="1E2761"/>
                </a:solidFill>
                <a:latin typeface="Calibri"/>
              </a:rPr>
              <a:t>●  </a:t>
            </a:r>
            <a:r>
              <a:rPr sz="1600">
                <a:solidFill>
                  <a:srgbClr val="36454F"/>
                </a:solidFill>
                <a:latin typeface="Calibri"/>
              </a:rPr>
              <a:t>Each MoleculeNet assay = one 'class'; positives are the exemplars.</a:t>
            </a:r>
          </a:p>
        </p:txBody>
      </p:sp>
      <p:sp>
        <p:nvSpPr>
          <p:cNvPr id="9" name="TextBox 8"/>
          <p:cNvSpPr txBox="1"/>
          <p:nvPr/>
        </p:nvSpPr>
        <p:spPr>
          <a:xfrm>
            <a:off x="7863840" y="1920240"/>
            <a:ext cx="4206240" cy="1188720"/>
          </a:xfrm>
          <a:prstGeom prst="rect">
            <a:avLst/>
          </a:prstGeom>
          <a:noFill/>
        </p:spPr>
        <p:txBody>
          <a:bodyPr wrap="square" tIns="73152" bIns="73152">
            <a:spAutoFit/>
          </a:bodyPr>
          <a:lstStyle/>
          <a:p>
            <a:pPr algn="l">
              <a:lnSpc>
                <a:spcPct val="115000"/>
              </a:lnSpc>
            </a:pPr>
            <a:r>
              <a:rPr sz="1400">
                <a:solidFill>
                  <a:srgbClr val="1E2761"/>
                </a:solidFill>
                <a:latin typeface="Consolas"/>
              </a:rPr>
              <a:t>S_τ = {(G_i, y_i)}_{i=1..N·K}</a:t>
            </a:r>
          </a:p>
          <a:p>
            <a:pPr algn="l">
              <a:lnSpc>
                <a:spcPct val="115000"/>
              </a:lnSpc>
            </a:pPr>
            <a:r>
              <a:rPr sz="1400">
                <a:solidFill>
                  <a:srgbClr val="1E2761"/>
                </a:solidFill>
                <a:latin typeface="Consolas"/>
              </a:rPr>
              <a:t>Q_τ = {G_j}                 </a:t>
            </a:r>
          </a:p>
        </p:txBody>
      </p:sp>
      <p:sp>
        <p:nvSpPr>
          <p:cNvPr id="10" name="Rectangle 9"/>
          <p:cNvSpPr/>
          <p:nvPr/>
        </p:nvSpPr>
        <p:spPr>
          <a:xfrm>
            <a:off x="7863840" y="3383280"/>
            <a:ext cx="4206240" cy="27432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3520440"/>
            <a:ext cx="4023360" cy="365760"/>
          </a:xfrm>
          <a:prstGeom prst="rect">
            <a:avLst/>
          </a:prstGeom>
          <a:noFill/>
        </p:spPr>
        <p:txBody>
          <a:bodyPr wrap="square" lIns="45720" rIns="45720" tIns="18288" bIns="18288" anchor="t">
            <a:spAutoFit/>
          </a:bodyPr>
          <a:lstStyle/>
          <a:p>
            <a:pPr algn="l"/>
            <a:r>
              <a:rPr sz="1100" b="1" i="0">
                <a:solidFill>
                  <a:srgbClr val="1E2761"/>
                </a:solidFill>
                <a:latin typeface="Calibri"/>
              </a:rPr>
              <a:t>MERGED TASK POOL</a:t>
            </a:r>
          </a:p>
        </p:txBody>
      </p:sp>
      <p:sp>
        <p:nvSpPr>
          <p:cNvPr id="12" name="TextBox 11"/>
          <p:cNvSpPr txBox="1"/>
          <p:nvPr/>
        </p:nvSpPr>
        <p:spPr>
          <a:xfrm>
            <a:off x="8001000" y="3886200"/>
            <a:ext cx="4023360" cy="2103120"/>
          </a:xfrm>
          <a:prstGeom prst="rect">
            <a:avLst/>
          </a:prstGeom>
          <a:noFill/>
        </p:spPr>
        <p:txBody>
          <a:bodyPr wrap="square" tIns="73152" bIns="73152">
            <a:spAutoFit/>
          </a:bodyPr>
          <a:lstStyle/>
          <a:p>
            <a:pPr algn="l">
              <a:lnSpc>
                <a:spcPct val="115000"/>
              </a:lnSpc>
            </a:pPr>
            <a:r>
              <a:rPr sz="1200">
                <a:solidFill>
                  <a:srgbClr val="1E2761"/>
                </a:solidFill>
                <a:latin typeface="Consolas"/>
              </a:rPr>
              <a:t> Tox21     12 tasks</a:t>
            </a:r>
          </a:p>
          <a:p>
            <a:pPr algn="l">
              <a:lnSpc>
                <a:spcPct val="115000"/>
              </a:lnSpc>
            </a:pPr>
            <a:r>
              <a:rPr sz="1200">
                <a:solidFill>
                  <a:srgbClr val="1E2761"/>
                </a:solidFill>
                <a:latin typeface="Consolas"/>
              </a:rPr>
              <a:t> ToxCast  617 tasks</a:t>
            </a:r>
          </a:p>
          <a:p>
            <a:pPr algn="l">
              <a:lnSpc>
                <a:spcPct val="115000"/>
              </a:lnSpc>
            </a:pPr>
            <a:r>
              <a:rPr sz="1200">
                <a:solidFill>
                  <a:srgbClr val="1E2761"/>
                </a:solidFill>
                <a:latin typeface="Consolas"/>
              </a:rPr>
              <a:t> MUV       17 tasks</a:t>
            </a:r>
          </a:p>
          <a:p>
            <a:pPr algn="l">
              <a:lnSpc>
                <a:spcPct val="115000"/>
              </a:lnSpc>
            </a:pPr>
            <a:r>
              <a:rPr sz="1200">
                <a:solidFill>
                  <a:srgbClr val="1E2761"/>
                </a:solidFill>
                <a:latin typeface="Consolas"/>
              </a:rPr>
              <a:t> SIDER     27 tasks</a:t>
            </a:r>
          </a:p>
          <a:p>
            <a:pPr algn="l">
              <a:lnSpc>
                <a:spcPct val="115000"/>
              </a:lnSpc>
            </a:pPr>
            <a:r>
              <a:rPr sz="1200">
                <a:solidFill>
                  <a:srgbClr val="1E2761"/>
                </a:solidFill>
                <a:latin typeface="Consolas"/>
              </a:rPr>
              <a:t> ─────────────────</a:t>
            </a:r>
          </a:p>
          <a:p>
            <a:pPr algn="l">
              <a:lnSpc>
                <a:spcPct val="115000"/>
              </a:lnSpc>
            </a:pPr>
            <a:r>
              <a:rPr sz="1200">
                <a:solidFill>
                  <a:srgbClr val="1E2761"/>
                </a:solidFill>
                <a:latin typeface="Consolas"/>
              </a:rPr>
              <a:t> Total    673 tasks</a:t>
            </a:r>
          </a:p>
          <a:p>
            <a:pPr algn="l">
              <a:lnSpc>
                <a:spcPct val="115000"/>
              </a:lnSpc>
            </a:pPr>
            <a:r>
              <a:rPr sz="1200">
                <a:solidFill>
                  <a:srgbClr val="1E2761"/>
                </a:solidFill>
                <a:latin typeface="Consolas"/>
              </a:rPr>
              <a:t> Split  405 / 134 / 134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Episodic Formulation — Visual</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6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685800" y="1828800"/>
            <a:ext cx="365760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65960"/>
            <a:ext cx="3657600" cy="365760"/>
          </a:xfrm>
          <a:prstGeom prst="rect">
            <a:avLst/>
          </a:prstGeom>
          <a:noFill/>
        </p:spPr>
        <p:txBody>
          <a:bodyPr wrap="square" lIns="45720" rIns="45720" tIns="18288" bIns="18288" anchor="t">
            <a:spAutoFit/>
          </a:bodyPr>
          <a:lstStyle/>
          <a:p>
            <a:pPr algn="ctr"/>
            <a:r>
              <a:rPr sz="1400" b="1" i="0">
                <a:solidFill>
                  <a:srgbClr val="1E2761"/>
                </a:solidFill>
                <a:latin typeface="Calibri"/>
              </a:rPr>
              <a:t>1. Task pool</a:t>
            </a:r>
          </a:p>
        </p:txBody>
      </p:sp>
      <p:sp>
        <p:nvSpPr>
          <p:cNvPr id="10" name="Rectangle 9"/>
          <p:cNvSpPr/>
          <p:nvPr/>
        </p:nvSpPr>
        <p:spPr>
          <a:xfrm>
            <a:off x="1143000" y="2651760"/>
            <a:ext cx="1645919"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62072" y="2679192"/>
            <a:ext cx="2286000" cy="320040"/>
          </a:xfrm>
          <a:prstGeom prst="rect">
            <a:avLst/>
          </a:prstGeom>
          <a:noFill/>
        </p:spPr>
        <p:txBody>
          <a:bodyPr wrap="square" lIns="45720" rIns="45720" tIns="18288" bIns="18288" anchor="t">
            <a:spAutoFit/>
          </a:bodyPr>
          <a:lstStyle/>
          <a:p>
            <a:pPr algn="l"/>
            <a:r>
              <a:rPr sz="900" b="0" i="0">
                <a:solidFill>
                  <a:srgbClr val="36454F"/>
                </a:solidFill>
                <a:latin typeface="Calibri"/>
              </a:rPr>
              <a:t>meta-train (405)</a:t>
            </a:r>
          </a:p>
        </p:txBody>
      </p:sp>
      <p:sp>
        <p:nvSpPr>
          <p:cNvPr id="12" name="Rectangle 11"/>
          <p:cNvSpPr/>
          <p:nvPr/>
        </p:nvSpPr>
        <p:spPr>
          <a:xfrm>
            <a:off x="1143000" y="3108960"/>
            <a:ext cx="548640" cy="36576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64792" y="3136392"/>
            <a:ext cx="2286000" cy="320040"/>
          </a:xfrm>
          <a:prstGeom prst="rect">
            <a:avLst/>
          </a:prstGeom>
          <a:noFill/>
        </p:spPr>
        <p:txBody>
          <a:bodyPr wrap="square" lIns="45720" rIns="45720" tIns="18288" bIns="18288" anchor="t">
            <a:spAutoFit/>
          </a:bodyPr>
          <a:lstStyle/>
          <a:p>
            <a:pPr algn="l"/>
            <a:r>
              <a:rPr sz="900" b="0" i="0">
                <a:solidFill>
                  <a:srgbClr val="36454F"/>
                </a:solidFill>
                <a:latin typeface="Calibri"/>
              </a:rPr>
              <a:t>meta-val (134)</a:t>
            </a:r>
          </a:p>
        </p:txBody>
      </p:sp>
      <p:sp>
        <p:nvSpPr>
          <p:cNvPr id="14" name="Rectangle 13"/>
          <p:cNvSpPr/>
          <p:nvPr/>
        </p:nvSpPr>
        <p:spPr>
          <a:xfrm>
            <a:off x="1143000" y="3566160"/>
            <a:ext cx="548640" cy="3657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64792" y="3593592"/>
            <a:ext cx="2286000" cy="320040"/>
          </a:xfrm>
          <a:prstGeom prst="rect">
            <a:avLst/>
          </a:prstGeom>
          <a:noFill/>
        </p:spPr>
        <p:txBody>
          <a:bodyPr wrap="square" lIns="45720" rIns="45720" tIns="18288" bIns="18288" anchor="t">
            <a:spAutoFit/>
          </a:bodyPr>
          <a:lstStyle/>
          <a:p>
            <a:pPr algn="l"/>
            <a:r>
              <a:rPr sz="900" b="0" i="0">
                <a:solidFill>
                  <a:srgbClr val="36454F"/>
                </a:solidFill>
                <a:latin typeface="Calibri"/>
              </a:rPr>
              <a:t>meta-test (134)</a:t>
            </a:r>
          </a:p>
        </p:txBody>
      </p:sp>
      <p:sp>
        <p:nvSpPr>
          <p:cNvPr id="16" name="Rectangle 15"/>
          <p:cNvSpPr/>
          <p:nvPr/>
        </p:nvSpPr>
        <p:spPr>
          <a:xfrm>
            <a:off x="4526280" y="1828800"/>
            <a:ext cx="3657600" cy="43891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1965960"/>
            <a:ext cx="3657600" cy="365760"/>
          </a:xfrm>
          <a:prstGeom prst="rect">
            <a:avLst/>
          </a:prstGeom>
          <a:noFill/>
        </p:spPr>
        <p:txBody>
          <a:bodyPr wrap="square" lIns="45720" rIns="45720" tIns="18288" bIns="18288" anchor="t">
            <a:spAutoFit/>
          </a:bodyPr>
          <a:lstStyle/>
          <a:p>
            <a:pPr algn="ctr"/>
            <a:r>
              <a:rPr sz="1400" b="1" i="0">
                <a:solidFill>
                  <a:srgbClr val="1E2761"/>
                </a:solidFill>
                <a:latin typeface="Calibri"/>
              </a:rPr>
              <a:t>2. Sample one episode</a:t>
            </a:r>
          </a:p>
        </p:txBody>
      </p:sp>
      <p:sp>
        <p:nvSpPr>
          <p:cNvPr id="18" name="TextBox 17"/>
          <p:cNvSpPr txBox="1"/>
          <p:nvPr/>
        </p:nvSpPr>
        <p:spPr>
          <a:xfrm>
            <a:off x="4526280" y="2468880"/>
            <a:ext cx="3657600" cy="3474720"/>
          </a:xfrm>
          <a:prstGeom prst="rect">
            <a:avLst/>
          </a:prstGeom>
          <a:noFill/>
        </p:spPr>
        <p:txBody>
          <a:bodyPr wrap="square" lIns="45720" rIns="45720" tIns="18288" bIns="18288" anchor="t">
            <a:spAutoFit/>
          </a:bodyPr>
          <a:lstStyle/>
          <a:p>
            <a:pPr algn="ctr"/>
            <a:r>
              <a:rPr sz="1300" b="0" i="0">
                <a:solidFill>
                  <a:srgbClr val="1E2761"/>
                </a:solidFill>
                <a:latin typeface="Calibri"/>
              </a:rPr>
              <a:t>Pick N assays
For each one,
K molecules → support
Q molecules → query
Filter multi-assay positives</a:t>
            </a:r>
          </a:p>
        </p:txBody>
      </p:sp>
      <p:sp>
        <p:nvSpPr>
          <p:cNvPr id="19" name="Rectangle 18"/>
          <p:cNvSpPr/>
          <p:nvPr/>
        </p:nvSpPr>
        <p:spPr>
          <a:xfrm>
            <a:off x="8366760" y="1828800"/>
            <a:ext cx="365760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60" y="1965960"/>
            <a:ext cx="3657600" cy="365760"/>
          </a:xfrm>
          <a:prstGeom prst="rect">
            <a:avLst/>
          </a:prstGeom>
          <a:noFill/>
        </p:spPr>
        <p:txBody>
          <a:bodyPr wrap="square" lIns="45720" rIns="45720" tIns="18288" bIns="18288" anchor="t">
            <a:spAutoFit/>
          </a:bodyPr>
          <a:lstStyle/>
          <a:p>
            <a:pPr algn="ctr"/>
            <a:r>
              <a:rPr sz="1400" b="1" i="0">
                <a:solidFill>
                  <a:srgbClr val="1E2761"/>
                </a:solidFill>
                <a:latin typeface="Calibri"/>
              </a:rPr>
              <a:t>3. Support ∪ Query</a:t>
            </a:r>
          </a:p>
        </p:txBody>
      </p:sp>
      <p:sp>
        <p:nvSpPr>
          <p:cNvPr id="21" name="Oval 20"/>
          <p:cNvSpPr/>
          <p:nvPr/>
        </p:nvSpPr>
        <p:spPr>
          <a:xfrm>
            <a:off x="8915400" y="2926080"/>
            <a:ext cx="457200" cy="45720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21240" y="3749040"/>
            <a:ext cx="457200" cy="45720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927080" y="4572000"/>
            <a:ext cx="457200" cy="457200"/>
          </a:xfrm>
          <a:prstGeom prst="ellipse">
            <a:avLst/>
          </a:prstGeom>
          <a:solidFill>
            <a:srgbClr val="2CA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0" y="2926080"/>
            <a:ext cx="457200" cy="45720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424160" y="3749040"/>
            <a:ext cx="457200" cy="45720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66760" y="5577839"/>
            <a:ext cx="3657600" cy="548640"/>
          </a:xfrm>
          <a:prstGeom prst="rect">
            <a:avLst/>
          </a:prstGeom>
          <a:noFill/>
        </p:spPr>
        <p:txBody>
          <a:bodyPr wrap="square" lIns="45720" rIns="45720" tIns="18288" bIns="18288" anchor="t">
            <a:spAutoFit/>
          </a:bodyPr>
          <a:lstStyle/>
          <a:p>
            <a:pPr algn="ctr"/>
            <a:r>
              <a:rPr sz="1100" b="0" i="1">
                <a:solidFill>
                  <a:srgbClr val="1E2761"/>
                </a:solidFill>
                <a:latin typeface="Calibri"/>
              </a:rPr>
              <a:t>Loss: cross-entropy on queries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Baseline 1 — Prototypical Network (metric-based)</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7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858000" cy="4389120"/>
          </a:xfrm>
          <a:prstGeom prst="rect">
            <a:avLst/>
          </a:prstGeom>
          <a:noFill/>
        </p:spPr>
        <p:txBody>
          <a:bodyPr wrap="square" lIns="45720" rIns="45720">
            <a:spAutoFit/>
          </a:bodyPr>
          <a:lstStyle/>
          <a:p>
            <a:pPr algn="l">
              <a:lnSpc>
                <a:spcPct val="125000"/>
              </a:lnSpc>
              <a:spcAft>
                <a:spcPts val="400"/>
              </a:spcAft>
            </a:pPr>
            <a:r>
              <a:rPr sz="1600" b="1">
                <a:solidFill>
                  <a:srgbClr val="1E2761"/>
                </a:solidFill>
                <a:latin typeface="Calibri"/>
              </a:rPr>
              <a:t>●  </a:t>
            </a:r>
            <a:r>
              <a:rPr sz="1600">
                <a:solidFill>
                  <a:srgbClr val="36454F"/>
                </a:solidFill>
                <a:latin typeface="Calibri"/>
              </a:rPr>
              <a:t>Prototype = mean support embedding per class.</a:t>
            </a:r>
          </a:p>
          <a:p>
            <a:pPr algn="l">
              <a:lnSpc>
                <a:spcPct val="125000"/>
              </a:lnSpc>
              <a:spcAft>
                <a:spcPts val="400"/>
              </a:spcAft>
            </a:pPr>
            <a:r>
              <a:rPr sz="1600" b="1">
                <a:solidFill>
                  <a:srgbClr val="1E2761"/>
                </a:solidFill>
                <a:latin typeface="Calibri"/>
              </a:rPr>
              <a:t>●  </a:t>
            </a:r>
            <a:r>
              <a:rPr sz="1600">
                <a:solidFill>
                  <a:srgbClr val="36454F"/>
                </a:solidFill>
                <a:latin typeface="Calibri"/>
              </a:rPr>
              <a:t>Classify query by nearest prototype in embedding space.</a:t>
            </a:r>
          </a:p>
          <a:p>
            <a:pPr algn="l">
              <a:lnSpc>
                <a:spcPct val="125000"/>
              </a:lnSpc>
              <a:spcAft>
                <a:spcPts val="400"/>
              </a:spcAft>
            </a:pPr>
            <a:r>
              <a:rPr sz="1600" b="1">
                <a:solidFill>
                  <a:srgbClr val="1E2761"/>
                </a:solidFill>
                <a:latin typeface="Calibri"/>
              </a:rPr>
              <a:t>●  </a:t>
            </a:r>
            <a:r>
              <a:rPr sz="1600">
                <a:solidFill>
                  <a:srgbClr val="36454F"/>
                </a:solidFill>
                <a:latin typeface="Calibri"/>
              </a:rPr>
              <a:t>No persistent per-class parameters — re-computed every episode.</a:t>
            </a:r>
          </a:p>
          <a:p>
            <a:pPr algn="l">
              <a:lnSpc>
                <a:spcPct val="125000"/>
              </a:lnSpc>
              <a:spcAft>
                <a:spcPts val="400"/>
              </a:spcAft>
            </a:pPr>
            <a:r>
              <a:rPr sz="1600" b="1">
                <a:solidFill>
                  <a:srgbClr val="1E2761"/>
                </a:solidFill>
                <a:latin typeface="Calibri"/>
              </a:rPr>
              <a:t>●  </a:t>
            </a:r>
            <a:r>
              <a:rPr sz="1600">
                <a:solidFill>
                  <a:srgbClr val="36454F"/>
                </a:solidFill>
                <a:latin typeface="Calibri"/>
              </a:rPr>
              <a:t>Why this matters:</a:t>
            </a:r>
          </a:p>
          <a:p>
            <a:pPr algn="l" lvl="1">
              <a:lnSpc>
                <a:spcPct val="125000"/>
              </a:lnSpc>
              <a:spcAft>
                <a:spcPts val="400"/>
              </a:spcAft>
            </a:pPr>
            <a:r>
              <a:rPr sz="1400" b="0">
                <a:solidFill>
                  <a:srgbClr val="888A90"/>
                </a:solidFill>
                <a:latin typeface="Calibri"/>
              </a:rPr>
              <a:t>·  </a:t>
            </a:r>
            <a:r>
              <a:rPr sz="1400">
                <a:solidFill>
                  <a:srgbClr val="36454F"/>
                </a:solidFill>
                <a:latin typeface="Calibri"/>
              </a:rPr>
              <a:t>class index '0' means a different assay every episode.</a:t>
            </a:r>
          </a:p>
          <a:p>
            <a:pPr algn="l" lvl="1">
              <a:lnSpc>
                <a:spcPct val="125000"/>
              </a:lnSpc>
              <a:spcAft>
                <a:spcPts val="400"/>
              </a:spcAft>
            </a:pPr>
            <a:r>
              <a:rPr sz="1400" b="0">
                <a:solidFill>
                  <a:srgbClr val="888A90"/>
                </a:solidFill>
                <a:latin typeface="Calibri"/>
              </a:rPr>
              <a:t>·  </a:t>
            </a:r>
            <a:r>
              <a:rPr sz="1400">
                <a:solidFill>
                  <a:srgbClr val="36454F"/>
                </a:solidFill>
                <a:latin typeface="Calibri"/>
              </a:rPr>
              <a:t>prototype head is episode-agnostic — key to episodic success.</a:t>
            </a:r>
          </a:p>
        </p:txBody>
      </p:sp>
      <p:sp>
        <p:nvSpPr>
          <p:cNvPr id="9" name="TextBox 8"/>
          <p:cNvSpPr txBox="1"/>
          <p:nvPr/>
        </p:nvSpPr>
        <p:spPr>
          <a:xfrm>
            <a:off x="7680960" y="1828800"/>
            <a:ext cx="4297680" cy="1554480"/>
          </a:xfrm>
          <a:prstGeom prst="rect">
            <a:avLst/>
          </a:prstGeom>
          <a:noFill/>
        </p:spPr>
        <p:txBody>
          <a:bodyPr wrap="square" tIns="73152" bIns="73152">
            <a:spAutoFit/>
          </a:bodyPr>
          <a:lstStyle/>
          <a:p>
            <a:pPr algn="l">
              <a:lnSpc>
                <a:spcPct val="115000"/>
              </a:lnSpc>
            </a:pPr>
            <a:r>
              <a:rPr sz="1400">
                <a:solidFill>
                  <a:srgbClr val="1E2761"/>
                </a:solidFill>
                <a:latin typeface="Consolas"/>
              </a:rPr>
              <a:t> c_n = (1/K) Σ_{i: y_i=n} φ(G_i)</a:t>
            </a:r>
          </a:p>
          <a:p>
            <a:pPr algn="l">
              <a:lnSpc>
                <a:spcPct val="115000"/>
              </a:lnSpc>
            </a:pPr>
            <a:r>
              <a:rPr sz="1400">
                <a:solidFill>
                  <a:srgbClr val="1E2761"/>
                </a:solidFill>
                <a:latin typeface="Consolas"/>
              </a:rPr>
              <a:t/>
            </a:r>
          </a:p>
          <a:p>
            <a:pPr algn="l">
              <a:lnSpc>
                <a:spcPct val="115000"/>
              </a:lnSpc>
            </a:pPr>
            <a:r>
              <a:rPr sz="1400">
                <a:solidFill>
                  <a:srgbClr val="1E2761"/>
                </a:solidFill>
                <a:latin typeface="Consolas"/>
              </a:rPr>
              <a:t> p(y=n | G_q)</a:t>
            </a:r>
          </a:p>
          <a:p>
            <a:pPr algn="l">
              <a:lnSpc>
                <a:spcPct val="115000"/>
              </a:lnSpc>
            </a:pPr>
            <a:r>
              <a:rPr sz="1400">
                <a:solidFill>
                  <a:srgbClr val="1E2761"/>
                </a:solidFill>
                <a:latin typeface="Consolas"/>
              </a:rPr>
              <a:t>   ∝  exp( − ‖φ(G_q) − c_n‖² )</a:t>
            </a:r>
          </a:p>
        </p:txBody>
      </p:sp>
      <p:sp>
        <p:nvSpPr>
          <p:cNvPr id="10" name="Rectangle 9"/>
          <p:cNvSpPr/>
          <p:nvPr/>
        </p:nvSpPr>
        <p:spPr>
          <a:xfrm>
            <a:off x="7680960" y="3840480"/>
            <a:ext cx="4297680" cy="22860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3977639"/>
            <a:ext cx="4023360" cy="365760"/>
          </a:xfrm>
          <a:prstGeom prst="rect">
            <a:avLst/>
          </a:prstGeom>
          <a:noFill/>
        </p:spPr>
        <p:txBody>
          <a:bodyPr wrap="square" lIns="45720" rIns="45720" tIns="18288" bIns="18288" anchor="t">
            <a:spAutoFit/>
          </a:bodyPr>
          <a:lstStyle/>
          <a:p>
            <a:pPr algn="l"/>
            <a:r>
              <a:rPr sz="1100" b="1" i="0">
                <a:solidFill>
                  <a:srgbClr val="1E2761"/>
                </a:solidFill>
                <a:latin typeface="Calibri"/>
              </a:rPr>
              <a:t>WHY IT WORKS HERE</a:t>
            </a:r>
          </a:p>
        </p:txBody>
      </p:sp>
      <p:sp>
        <p:nvSpPr>
          <p:cNvPr id="12" name="TextBox 11"/>
          <p:cNvSpPr txBox="1"/>
          <p:nvPr/>
        </p:nvSpPr>
        <p:spPr>
          <a:xfrm>
            <a:off x="7818120" y="4343400"/>
            <a:ext cx="4023360" cy="1691640"/>
          </a:xfrm>
          <a:prstGeom prst="rect">
            <a:avLst/>
          </a:prstGeom>
          <a:noFill/>
        </p:spPr>
        <p:txBody>
          <a:bodyPr wrap="square" lIns="45720" rIns="45720" tIns="18288" bIns="18288" anchor="t">
            <a:spAutoFit/>
          </a:bodyPr>
          <a:lstStyle/>
          <a:p>
            <a:pPr algn="l"/>
            <a:r>
              <a:rPr sz="1200" b="0" i="1">
                <a:solidFill>
                  <a:srgbClr val="1E2761"/>
                </a:solidFill>
                <a:latin typeface="Calibri"/>
              </a:rPr>
              <a:t>Zero persistent class parameters → the classifier automatically adapts to whichever N assays this episode draws.  This is the key insight we will later re-use in Graph-of-Shots.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Baseline 2 — MAML / FOMAML (adaptation-based)</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8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858000" cy="4389120"/>
          </a:xfrm>
          <a:prstGeom prst="rect">
            <a:avLst/>
          </a:prstGeom>
          <a:noFill/>
        </p:spPr>
        <p:txBody>
          <a:bodyPr wrap="square" lIns="45720" rIns="45720">
            <a:spAutoFit/>
          </a:bodyPr>
          <a:lstStyle/>
          <a:p>
            <a:pPr algn="l">
              <a:lnSpc>
                <a:spcPct val="125000"/>
              </a:lnSpc>
              <a:spcAft>
                <a:spcPts val="400"/>
              </a:spcAft>
            </a:pPr>
            <a:r>
              <a:rPr sz="1600" b="1">
                <a:solidFill>
                  <a:srgbClr val="1E2761"/>
                </a:solidFill>
                <a:latin typeface="Calibri"/>
              </a:rPr>
              <a:t>●  </a:t>
            </a:r>
            <a:r>
              <a:rPr sz="1600">
                <a:solidFill>
                  <a:srgbClr val="36454F"/>
                </a:solidFill>
                <a:latin typeface="Calibri"/>
              </a:rPr>
              <a:t>MAML: learn init θ; a few SGD steps on S produce a task-specific model.</a:t>
            </a:r>
          </a:p>
          <a:p>
            <a:pPr algn="l">
              <a:lnSpc>
                <a:spcPct val="125000"/>
              </a:lnSpc>
              <a:spcAft>
                <a:spcPts val="400"/>
              </a:spcAft>
            </a:pPr>
            <a:r>
              <a:rPr sz="1600" b="1">
                <a:solidFill>
                  <a:srgbClr val="1E2761"/>
                </a:solidFill>
                <a:latin typeface="Calibri"/>
              </a:rPr>
              <a:t>●  </a:t>
            </a:r>
            <a:r>
              <a:rPr sz="1600">
                <a:solidFill>
                  <a:srgbClr val="36454F"/>
                </a:solidFill>
                <a:latin typeface="Calibri"/>
              </a:rPr>
              <a:t>Second-order MAML is expensive and unstable through some PyG ops.</a:t>
            </a:r>
          </a:p>
          <a:p>
            <a:pPr algn="l">
              <a:lnSpc>
                <a:spcPct val="125000"/>
              </a:lnSpc>
              <a:spcAft>
                <a:spcPts val="400"/>
              </a:spcAft>
            </a:pPr>
            <a:r>
              <a:rPr sz="1600" b="1">
                <a:solidFill>
                  <a:srgbClr val="1E2761"/>
                </a:solidFill>
                <a:latin typeface="Calibri"/>
              </a:rPr>
              <a:t>●  </a:t>
            </a:r>
            <a:r>
              <a:rPr sz="1600">
                <a:solidFill>
                  <a:srgbClr val="36454F"/>
                </a:solidFill>
                <a:latin typeface="Calibri"/>
              </a:rPr>
              <a:t>We use First-Order MAML (FOMAML):</a:t>
            </a:r>
          </a:p>
          <a:p>
            <a:pPr algn="l" lvl="1">
              <a:lnSpc>
                <a:spcPct val="125000"/>
              </a:lnSpc>
              <a:spcAft>
                <a:spcPts val="400"/>
              </a:spcAft>
            </a:pPr>
            <a:r>
              <a:rPr sz="1400" b="0">
                <a:solidFill>
                  <a:srgbClr val="888A90"/>
                </a:solidFill>
                <a:latin typeface="Calibri"/>
              </a:rPr>
              <a:t>·  </a:t>
            </a:r>
            <a:r>
              <a:rPr sz="1400">
                <a:solidFill>
                  <a:srgbClr val="36454F"/>
                </a:solidFill>
                <a:latin typeface="Calibri"/>
              </a:rPr>
              <a:t>detach inner loop,</a:t>
            </a:r>
          </a:p>
          <a:p>
            <a:pPr algn="l" lvl="1">
              <a:lnSpc>
                <a:spcPct val="125000"/>
              </a:lnSpc>
              <a:spcAft>
                <a:spcPts val="400"/>
              </a:spcAft>
            </a:pPr>
            <a:r>
              <a:rPr sz="1400" b="0">
                <a:solidFill>
                  <a:srgbClr val="888A90"/>
                </a:solidFill>
                <a:latin typeface="Calibri"/>
              </a:rPr>
              <a:t>·  </a:t>
            </a:r>
            <a:r>
              <a:rPr sz="1400">
                <a:solidFill>
                  <a:srgbClr val="36454F"/>
                </a:solidFill>
                <a:latin typeface="Calibri"/>
              </a:rPr>
              <a:t>meta-gradient comes from the query pass on original θ.</a:t>
            </a:r>
          </a:p>
          <a:p>
            <a:pPr algn="l">
              <a:lnSpc>
                <a:spcPct val="125000"/>
              </a:lnSpc>
              <a:spcAft>
                <a:spcPts val="400"/>
              </a:spcAft>
            </a:pPr>
            <a:r>
              <a:rPr sz="1600" b="1">
                <a:solidFill>
                  <a:srgbClr val="1E2761"/>
                </a:solidFill>
                <a:latin typeface="Calibri"/>
              </a:rPr>
              <a:t>●  </a:t>
            </a:r>
            <a:r>
              <a:rPr sz="1600">
                <a:solidFill>
                  <a:srgbClr val="36454F"/>
                </a:solidFill>
                <a:latin typeface="Calibri"/>
              </a:rPr>
              <a:t>Simpler, faster, and stable with GINEConv.</a:t>
            </a:r>
          </a:p>
        </p:txBody>
      </p:sp>
      <p:sp>
        <p:nvSpPr>
          <p:cNvPr id="9" name="TextBox 8"/>
          <p:cNvSpPr txBox="1"/>
          <p:nvPr/>
        </p:nvSpPr>
        <p:spPr>
          <a:xfrm>
            <a:off x="7680960" y="1920240"/>
            <a:ext cx="4297680" cy="1828800"/>
          </a:xfrm>
          <a:prstGeom prst="rect">
            <a:avLst/>
          </a:prstGeom>
          <a:noFill/>
        </p:spPr>
        <p:txBody>
          <a:bodyPr wrap="square" tIns="73152" bIns="73152">
            <a:spAutoFit/>
          </a:bodyPr>
          <a:lstStyle/>
          <a:p>
            <a:pPr algn="l">
              <a:lnSpc>
                <a:spcPct val="115000"/>
              </a:lnSpc>
            </a:pPr>
            <a:r>
              <a:rPr sz="1400">
                <a:solidFill>
                  <a:srgbClr val="1E2761"/>
                </a:solidFill>
                <a:latin typeface="Consolas"/>
              </a:rPr>
              <a:t> Inner:  θ' = θ − α ∇_θ L_S(θ)</a:t>
            </a:r>
          </a:p>
          <a:p>
            <a:pPr algn="l">
              <a:lnSpc>
                <a:spcPct val="115000"/>
              </a:lnSpc>
            </a:pPr>
            <a:r>
              <a:rPr sz="1400">
                <a:solidFill>
                  <a:srgbClr val="1E2761"/>
                </a:solidFill>
                <a:latin typeface="Consolas"/>
              </a:rPr>
              <a:t/>
            </a:r>
          </a:p>
          <a:p>
            <a:pPr algn="l">
              <a:lnSpc>
                <a:spcPct val="115000"/>
              </a:lnSpc>
            </a:pPr>
            <a:r>
              <a:rPr sz="1400">
                <a:solidFill>
                  <a:srgbClr val="1E2761"/>
                </a:solidFill>
                <a:latin typeface="Consolas"/>
              </a:rPr>
              <a:t> Outer:  θ ← θ − β ∇_θ L_Q(θ')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Molecular Graph Representation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9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858000" cy="438912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MoleculeNet graphs use RDKit-derived features:</a:t>
            </a:r>
          </a:p>
          <a:p>
            <a:pPr algn="l" lvl="1">
              <a:lnSpc>
                <a:spcPct val="125000"/>
              </a:lnSpc>
              <a:spcAft>
                <a:spcPts val="400"/>
              </a:spcAft>
            </a:pPr>
            <a:r>
              <a:rPr sz="1300" b="0">
                <a:solidFill>
                  <a:srgbClr val="888A90"/>
                </a:solidFill>
                <a:latin typeface="Calibri"/>
              </a:rPr>
              <a:t>·  </a:t>
            </a:r>
            <a:r>
              <a:rPr sz="1300">
                <a:solidFill>
                  <a:srgbClr val="36454F"/>
                </a:solidFill>
                <a:latin typeface="Calibri"/>
              </a:rPr>
              <a:t>atom (9-D): atomic number, chirality, charge, aromaticity, degree, #H, hybridization, ring, radical.</a:t>
            </a:r>
          </a:p>
          <a:p>
            <a:pPr algn="l" lvl="1">
              <a:lnSpc>
                <a:spcPct val="125000"/>
              </a:lnSpc>
              <a:spcAft>
                <a:spcPts val="400"/>
              </a:spcAft>
            </a:pPr>
            <a:r>
              <a:rPr sz="1300" b="0">
                <a:solidFill>
                  <a:srgbClr val="888A90"/>
                </a:solidFill>
                <a:latin typeface="Calibri"/>
              </a:rPr>
              <a:t>·  </a:t>
            </a:r>
            <a:r>
              <a:rPr sz="1300">
                <a:solidFill>
                  <a:srgbClr val="36454F"/>
                </a:solidFill>
                <a:latin typeface="Calibri"/>
              </a:rPr>
              <a:t>bond (3-D): bond type, conjugation, ring membership.</a:t>
            </a:r>
          </a:p>
          <a:p>
            <a:pPr algn="l">
              <a:lnSpc>
                <a:spcPct val="125000"/>
              </a:lnSpc>
              <a:spcAft>
                <a:spcPts val="400"/>
              </a:spcAft>
            </a:pPr>
            <a:r>
              <a:rPr sz="1500" b="1">
                <a:solidFill>
                  <a:srgbClr val="1E2761"/>
                </a:solidFill>
                <a:latin typeface="Calibri"/>
              </a:rPr>
              <a:t>●  </a:t>
            </a:r>
            <a:r>
              <a:rPr sz="1500">
                <a:solidFill>
                  <a:srgbClr val="36454F"/>
                </a:solidFill>
                <a:latin typeface="Calibri"/>
              </a:rPr>
              <a:t>Encoder φ:  3 × GINEConv  →  global mean pool  →  Linear (d = 128).</a:t>
            </a:r>
          </a:p>
          <a:p>
            <a:pPr algn="l">
              <a:lnSpc>
                <a:spcPct val="125000"/>
              </a:lnSpc>
              <a:spcAft>
                <a:spcPts val="400"/>
              </a:spcAft>
            </a:pPr>
            <a:r>
              <a:rPr sz="1500" b="1">
                <a:solidFill>
                  <a:srgbClr val="1E2761"/>
                </a:solidFill>
                <a:latin typeface="Calibri"/>
              </a:rPr>
              <a:t>●  </a:t>
            </a:r>
            <a:r>
              <a:rPr sz="1500">
                <a:solidFill>
                  <a:srgbClr val="36454F"/>
                </a:solidFill>
                <a:latin typeface="Calibri"/>
              </a:rPr>
              <a:t>GINE consumes edge_attr — bond features enter message passing.</a:t>
            </a:r>
          </a:p>
          <a:p>
            <a:pPr algn="l">
              <a:lnSpc>
                <a:spcPct val="125000"/>
              </a:lnSpc>
              <a:spcAft>
                <a:spcPts val="400"/>
              </a:spcAft>
            </a:pPr>
            <a:r>
              <a:rPr sz="1500" b="1">
                <a:solidFill>
                  <a:srgbClr val="1E2761"/>
                </a:solidFill>
                <a:latin typeface="Calibri"/>
              </a:rPr>
              <a:t>●  </a:t>
            </a:r>
            <a:r>
              <a:rPr sz="1500">
                <a:solidFill>
                  <a:srgbClr val="36454F"/>
                </a:solidFill>
                <a:latin typeface="Calibri"/>
              </a:rPr>
              <a:t>Same encoder for all three methods → fair comparison.</a:t>
            </a:r>
          </a:p>
        </p:txBody>
      </p:sp>
      <p:sp>
        <p:nvSpPr>
          <p:cNvPr id="9" name="Rectangle 8"/>
          <p:cNvSpPr/>
          <p:nvPr/>
        </p:nvSpPr>
        <p:spPr>
          <a:xfrm>
            <a:off x="8229600" y="1828800"/>
            <a:ext cx="3657600" cy="5029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828800"/>
            <a:ext cx="3657600" cy="502920"/>
          </a:xfrm>
          <a:prstGeom prst="rect">
            <a:avLst/>
          </a:prstGeom>
          <a:noFill/>
        </p:spPr>
        <p:txBody>
          <a:bodyPr wrap="square" lIns="45720" rIns="45720" tIns="18288" bIns="18288" anchor="ctr">
            <a:spAutoFit/>
          </a:bodyPr>
          <a:lstStyle/>
          <a:p>
            <a:pPr algn="ctr"/>
            <a:r>
              <a:rPr sz="1200" b="1" i="0">
                <a:solidFill>
                  <a:srgbClr val="1E2761"/>
                </a:solidFill>
                <a:latin typeface="Calibri"/>
              </a:rPr>
              <a:t>Atom features  (9-D)</a:t>
            </a:r>
          </a:p>
        </p:txBody>
      </p:sp>
      <p:sp>
        <p:nvSpPr>
          <p:cNvPr id="11" name="TextBox 10"/>
          <p:cNvSpPr txBox="1"/>
          <p:nvPr/>
        </p:nvSpPr>
        <p:spPr>
          <a:xfrm>
            <a:off x="8229600" y="2286000"/>
            <a:ext cx="3657600" cy="274320"/>
          </a:xfrm>
          <a:prstGeom prst="rect">
            <a:avLst/>
          </a:prstGeom>
          <a:noFill/>
        </p:spPr>
        <p:txBody>
          <a:bodyPr wrap="square" lIns="45720" rIns="45720" tIns="18288" bIns="18288" anchor="t">
            <a:spAutoFit/>
          </a:bodyPr>
          <a:lstStyle/>
          <a:p>
            <a:pPr algn="ctr"/>
            <a:r>
              <a:rPr sz="1600" b="1" i="0">
                <a:solidFill>
                  <a:srgbClr val="36454F"/>
                </a:solidFill>
                <a:latin typeface="Calibri"/>
              </a:rPr>
              <a:t>↓</a:t>
            </a:r>
          </a:p>
        </p:txBody>
      </p:sp>
      <p:sp>
        <p:nvSpPr>
          <p:cNvPr id="12" name="Rectangle 11"/>
          <p:cNvSpPr/>
          <p:nvPr/>
        </p:nvSpPr>
        <p:spPr>
          <a:xfrm>
            <a:off x="8229600" y="2468880"/>
            <a:ext cx="3657600" cy="5029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2468880"/>
            <a:ext cx="3657600" cy="502920"/>
          </a:xfrm>
          <a:prstGeom prst="rect">
            <a:avLst/>
          </a:prstGeom>
          <a:noFill/>
        </p:spPr>
        <p:txBody>
          <a:bodyPr wrap="square" lIns="45720" rIns="45720" tIns="18288" bIns="18288" anchor="ctr">
            <a:spAutoFit/>
          </a:bodyPr>
          <a:lstStyle/>
          <a:p>
            <a:pPr algn="ctr"/>
            <a:r>
              <a:rPr sz="1200" b="1" i="0">
                <a:solidFill>
                  <a:srgbClr val="1E2761"/>
                </a:solidFill>
                <a:latin typeface="Calibri"/>
              </a:rPr>
              <a:t>+ Bond features  (3-D)</a:t>
            </a:r>
          </a:p>
        </p:txBody>
      </p:sp>
      <p:sp>
        <p:nvSpPr>
          <p:cNvPr id="14" name="TextBox 13"/>
          <p:cNvSpPr txBox="1"/>
          <p:nvPr/>
        </p:nvSpPr>
        <p:spPr>
          <a:xfrm>
            <a:off x="8229600" y="2926080"/>
            <a:ext cx="3657600" cy="274320"/>
          </a:xfrm>
          <a:prstGeom prst="rect">
            <a:avLst/>
          </a:prstGeom>
          <a:noFill/>
        </p:spPr>
        <p:txBody>
          <a:bodyPr wrap="square" lIns="45720" rIns="45720" tIns="18288" bIns="18288" anchor="t">
            <a:spAutoFit/>
          </a:bodyPr>
          <a:lstStyle/>
          <a:p>
            <a:pPr algn="ctr"/>
            <a:r>
              <a:rPr sz="1600" b="1" i="0">
                <a:solidFill>
                  <a:srgbClr val="36454F"/>
                </a:solidFill>
                <a:latin typeface="Calibri"/>
              </a:rPr>
              <a:t>↓</a:t>
            </a:r>
          </a:p>
        </p:txBody>
      </p:sp>
      <p:sp>
        <p:nvSpPr>
          <p:cNvPr id="15" name="Rectangle 14"/>
          <p:cNvSpPr/>
          <p:nvPr/>
        </p:nvSpPr>
        <p:spPr>
          <a:xfrm>
            <a:off x="8229600" y="3108960"/>
            <a:ext cx="365760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108960"/>
            <a:ext cx="365760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GINEConv × 3</a:t>
            </a:r>
          </a:p>
        </p:txBody>
      </p:sp>
      <p:sp>
        <p:nvSpPr>
          <p:cNvPr id="17" name="TextBox 16"/>
          <p:cNvSpPr txBox="1"/>
          <p:nvPr/>
        </p:nvSpPr>
        <p:spPr>
          <a:xfrm>
            <a:off x="8229600" y="3566160"/>
            <a:ext cx="3657600" cy="274320"/>
          </a:xfrm>
          <a:prstGeom prst="rect">
            <a:avLst/>
          </a:prstGeom>
          <a:noFill/>
        </p:spPr>
        <p:txBody>
          <a:bodyPr wrap="square" lIns="45720" rIns="45720" tIns="18288" bIns="18288" anchor="t">
            <a:spAutoFit/>
          </a:bodyPr>
          <a:lstStyle/>
          <a:p>
            <a:pPr algn="ctr"/>
            <a:r>
              <a:rPr sz="1600" b="1" i="0">
                <a:solidFill>
                  <a:srgbClr val="36454F"/>
                </a:solidFill>
                <a:latin typeface="Calibri"/>
              </a:rPr>
              <a:t>↓</a:t>
            </a:r>
          </a:p>
        </p:txBody>
      </p:sp>
      <p:sp>
        <p:nvSpPr>
          <p:cNvPr id="18" name="Rectangle 17"/>
          <p:cNvSpPr/>
          <p:nvPr/>
        </p:nvSpPr>
        <p:spPr>
          <a:xfrm>
            <a:off x="8229600" y="3749039"/>
            <a:ext cx="365760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3749039"/>
            <a:ext cx="365760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Global mean pool</a:t>
            </a:r>
          </a:p>
        </p:txBody>
      </p:sp>
      <p:sp>
        <p:nvSpPr>
          <p:cNvPr id="20" name="TextBox 19"/>
          <p:cNvSpPr txBox="1"/>
          <p:nvPr/>
        </p:nvSpPr>
        <p:spPr>
          <a:xfrm>
            <a:off x="8229600" y="4206239"/>
            <a:ext cx="3657600" cy="274320"/>
          </a:xfrm>
          <a:prstGeom prst="rect">
            <a:avLst/>
          </a:prstGeom>
          <a:noFill/>
        </p:spPr>
        <p:txBody>
          <a:bodyPr wrap="square" lIns="45720" rIns="45720" tIns="18288" bIns="18288" anchor="t">
            <a:spAutoFit/>
          </a:bodyPr>
          <a:lstStyle/>
          <a:p>
            <a:pPr algn="ctr"/>
            <a:r>
              <a:rPr sz="1600" b="1" i="0">
                <a:solidFill>
                  <a:srgbClr val="36454F"/>
                </a:solidFill>
                <a:latin typeface="Calibri"/>
              </a:rPr>
              <a:t>↓</a:t>
            </a:r>
          </a:p>
        </p:txBody>
      </p:sp>
      <p:sp>
        <p:nvSpPr>
          <p:cNvPr id="21" name="Rectangle 20"/>
          <p:cNvSpPr/>
          <p:nvPr/>
        </p:nvSpPr>
        <p:spPr>
          <a:xfrm>
            <a:off x="8229600" y="4389120"/>
            <a:ext cx="365760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389120"/>
            <a:ext cx="365760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Linear → 128-D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Problem Formulation — why we need a meta-graph</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10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11247120" cy="4114800"/>
          </a:xfrm>
          <a:prstGeom prst="rect">
            <a:avLst/>
          </a:prstGeom>
          <a:noFill/>
        </p:spPr>
        <p:txBody>
          <a:bodyPr wrap="square" lIns="45720" rIns="45720">
            <a:spAutoFit/>
          </a:bodyPr>
          <a:lstStyle/>
          <a:p>
            <a:pPr algn="l">
              <a:lnSpc>
                <a:spcPct val="125000"/>
              </a:lnSpc>
              <a:spcAft>
                <a:spcPts val="400"/>
              </a:spcAft>
            </a:pPr>
            <a:r>
              <a:rPr sz="1700" b="1">
                <a:solidFill>
                  <a:srgbClr val="1E2761"/>
                </a:solidFill>
                <a:latin typeface="Calibri"/>
              </a:rPr>
              <a:t>●  </a:t>
            </a:r>
            <a:r>
              <a:rPr sz="1700">
                <a:solidFill>
                  <a:srgbClr val="36454F"/>
                </a:solidFill>
                <a:latin typeface="Calibri"/>
              </a:rPr>
              <a:t>ProtoNet and MAML embed each molecule IN ISOLATION.</a:t>
            </a:r>
          </a:p>
          <a:p>
            <a:pPr algn="l">
              <a:lnSpc>
                <a:spcPct val="125000"/>
              </a:lnSpc>
              <a:spcAft>
                <a:spcPts val="400"/>
              </a:spcAft>
            </a:pPr>
            <a:r>
              <a:rPr sz="1700" b="1">
                <a:solidFill>
                  <a:srgbClr val="1E2761"/>
                </a:solidFill>
                <a:latin typeface="Calibri"/>
              </a:rPr>
              <a:t>●  </a:t>
            </a:r>
            <a:r>
              <a:rPr sz="1700">
                <a:solidFill>
                  <a:srgbClr val="36454F"/>
                </a:solidFill>
                <a:latin typeface="Calibri"/>
              </a:rPr>
              <a:t>But within one episode, relations between molecules carry strong signal:</a:t>
            </a:r>
          </a:p>
          <a:p>
            <a:pPr algn="l" lvl="1">
              <a:lnSpc>
                <a:spcPct val="125000"/>
              </a:lnSpc>
              <a:spcAft>
                <a:spcPts val="400"/>
              </a:spcAft>
            </a:pPr>
            <a:r>
              <a:rPr sz="1500" b="0">
                <a:solidFill>
                  <a:srgbClr val="888A90"/>
                </a:solidFill>
                <a:latin typeface="Calibri"/>
              </a:rPr>
              <a:t>·  </a:t>
            </a:r>
            <a:r>
              <a:rPr sz="1500">
                <a:solidFill>
                  <a:srgbClr val="36454F"/>
                </a:solidFill>
                <a:latin typeface="Calibri"/>
              </a:rPr>
              <a:t>structurally/chemically similar molecules likely share assay activity.</a:t>
            </a:r>
          </a:p>
          <a:p>
            <a:pPr algn="l">
              <a:lnSpc>
                <a:spcPct val="125000"/>
              </a:lnSpc>
              <a:spcAft>
                <a:spcPts val="400"/>
              </a:spcAft>
            </a:pPr>
            <a:r>
              <a:rPr sz="1700" b="1">
                <a:solidFill>
                  <a:srgbClr val="1E2761"/>
                </a:solidFill>
                <a:latin typeface="Calibri"/>
              </a:rPr>
              <a:t>●  </a:t>
            </a:r>
            <a:r>
              <a:rPr sz="1700">
                <a:solidFill>
                  <a:srgbClr val="36454F"/>
                </a:solidFill>
                <a:latin typeface="Calibri"/>
              </a:rPr>
              <a:t>Key question — can label info propagate from support to query through similarity structure?</a:t>
            </a:r>
          </a:p>
          <a:p>
            <a:pPr algn="l">
              <a:lnSpc>
                <a:spcPct val="125000"/>
              </a:lnSpc>
              <a:spcAft>
                <a:spcPts val="400"/>
              </a:spcAft>
            </a:pPr>
            <a:r>
              <a:rPr sz="1700" b="1">
                <a:solidFill>
                  <a:srgbClr val="1E2761"/>
                </a:solidFill>
                <a:latin typeface="Calibri"/>
              </a:rPr>
              <a:t>●  </a:t>
            </a:r>
            <a:r>
              <a:rPr sz="1700">
                <a:solidFill>
                  <a:srgbClr val="36454F"/>
                </a:solidFill>
                <a:latin typeface="Calibri"/>
              </a:rPr>
              <a:t>Our answer — construct a task-specific META-GRAPH over the episode's molecules, run a GNN on it.</a:t>
            </a:r>
          </a:p>
        </p:txBody>
      </p:sp>
      <p:sp>
        <p:nvSpPr>
          <p:cNvPr id="9" name="Rectangle 8"/>
          <p:cNvSpPr/>
          <p:nvPr/>
        </p:nvSpPr>
        <p:spPr>
          <a:xfrm>
            <a:off x="502920" y="5394960"/>
            <a:ext cx="11185855" cy="822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394960"/>
            <a:ext cx="11185855" cy="822960"/>
          </a:xfrm>
          <a:prstGeom prst="rect">
            <a:avLst/>
          </a:prstGeom>
          <a:noFill/>
        </p:spPr>
        <p:txBody>
          <a:bodyPr wrap="square" lIns="45720" rIns="45720" tIns="18288" bIns="18288" anchor="ctr">
            <a:spAutoFit/>
          </a:bodyPr>
          <a:lstStyle/>
          <a:p>
            <a:pPr algn="ctr"/>
            <a:r>
              <a:rPr sz="1600" b="1" i="1">
                <a:solidFill>
                  <a:srgbClr val="FFFFFF"/>
                </a:solidFill>
                <a:latin typeface="Calibri"/>
              </a:rPr>
              <a:t>Hypothesis:  a meta-graph + label propagation can exceed purely instance-centric baselines.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Graph-of-Shots — Pipeline</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11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Oval 7"/>
          <p:cNvSpPr/>
          <p:nvPr/>
        </p:nvSpPr>
        <p:spPr>
          <a:xfrm>
            <a:off x="1122654" y="1920240"/>
            <a:ext cx="548640" cy="5486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22654"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1</a:t>
            </a:r>
          </a:p>
        </p:txBody>
      </p:sp>
      <p:sp>
        <p:nvSpPr>
          <p:cNvPr id="10" name="Rectangle 9"/>
          <p:cNvSpPr/>
          <p:nvPr/>
        </p:nvSpPr>
        <p:spPr>
          <a:xfrm>
            <a:off x="502920"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Encode molecules</a:t>
            </a:r>
          </a:p>
        </p:txBody>
      </p:sp>
      <p:sp>
        <p:nvSpPr>
          <p:cNvPr id="12" name="TextBox 11"/>
          <p:cNvSpPr txBox="1"/>
          <p:nvPr/>
        </p:nvSpPr>
        <p:spPr>
          <a:xfrm>
            <a:off x="502920"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MPNN → {h_i}</a:t>
            </a:r>
          </a:p>
        </p:txBody>
      </p:sp>
      <p:sp>
        <p:nvSpPr>
          <p:cNvPr id="13" name="Oval 12"/>
          <p:cNvSpPr/>
          <p:nvPr/>
        </p:nvSpPr>
        <p:spPr>
          <a:xfrm>
            <a:off x="3002203" y="1920240"/>
            <a:ext cx="548640" cy="54864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02203"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2</a:t>
            </a:r>
          </a:p>
        </p:txBody>
      </p:sp>
      <p:sp>
        <p:nvSpPr>
          <p:cNvPr id="15" name="Rectangle 14"/>
          <p:cNvSpPr/>
          <p:nvPr/>
        </p:nvSpPr>
        <p:spPr>
          <a:xfrm>
            <a:off x="2382469"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82469"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Pairwise affinity</a:t>
            </a:r>
          </a:p>
        </p:txBody>
      </p:sp>
      <p:sp>
        <p:nvSpPr>
          <p:cNvPr id="17" name="TextBox 16"/>
          <p:cNvSpPr txBox="1"/>
          <p:nvPr/>
        </p:nvSpPr>
        <p:spPr>
          <a:xfrm>
            <a:off x="2382469"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W = g(h_i, h_j)</a:t>
            </a:r>
          </a:p>
        </p:txBody>
      </p:sp>
      <p:sp>
        <p:nvSpPr>
          <p:cNvPr id="18" name="Oval 17"/>
          <p:cNvSpPr/>
          <p:nvPr/>
        </p:nvSpPr>
        <p:spPr>
          <a:xfrm>
            <a:off x="4881752" y="1920240"/>
            <a:ext cx="548640" cy="5486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81752"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3</a:t>
            </a:r>
          </a:p>
        </p:txBody>
      </p:sp>
      <p:sp>
        <p:nvSpPr>
          <p:cNvPr id="20" name="Rectangle 19"/>
          <p:cNvSpPr/>
          <p:nvPr/>
        </p:nvSpPr>
        <p:spPr>
          <a:xfrm>
            <a:off x="4262018"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62018"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kNN sparsify</a:t>
            </a:r>
          </a:p>
        </p:txBody>
      </p:sp>
      <p:sp>
        <p:nvSpPr>
          <p:cNvPr id="22" name="TextBox 21"/>
          <p:cNvSpPr txBox="1"/>
          <p:nvPr/>
        </p:nvSpPr>
        <p:spPr>
          <a:xfrm>
            <a:off x="4262018"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top-k edges</a:t>
            </a:r>
          </a:p>
        </p:txBody>
      </p:sp>
      <p:sp>
        <p:nvSpPr>
          <p:cNvPr id="23" name="Oval 22"/>
          <p:cNvSpPr/>
          <p:nvPr/>
        </p:nvSpPr>
        <p:spPr>
          <a:xfrm>
            <a:off x="6761302" y="1920240"/>
            <a:ext cx="548640" cy="54864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1302"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4</a:t>
            </a:r>
          </a:p>
        </p:txBody>
      </p:sp>
      <p:sp>
        <p:nvSpPr>
          <p:cNvPr id="25" name="Rectangle 24"/>
          <p:cNvSpPr/>
          <p:nvPr/>
        </p:nvSpPr>
        <p:spPr>
          <a:xfrm>
            <a:off x="6141567"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1567"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Inject labels</a:t>
            </a:r>
          </a:p>
        </p:txBody>
      </p:sp>
      <p:sp>
        <p:nvSpPr>
          <p:cNvPr id="27" name="TextBox 26"/>
          <p:cNvSpPr txBox="1"/>
          <p:nvPr/>
        </p:nvSpPr>
        <p:spPr>
          <a:xfrm>
            <a:off x="6141567"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one-hot support</a:t>
            </a:r>
          </a:p>
        </p:txBody>
      </p:sp>
      <p:sp>
        <p:nvSpPr>
          <p:cNvPr id="28" name="Oval 27"/>
          <p:cNvSpPr/>
          <p:nvPr/>
        </p:nvSpPr>
        <p:spPr>
          <a:xfrm>
            <a:off x="8640851" y="1920240"/>
            <a:ext cx="548640" cy="5486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40851"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5</a:t>
            </a:r>
          </a:p>
        </p:txBody>
      </p:sp>
      <p:sp>
        <p:nvSpPr>
          <p:cNvPr id="30" name="Rectangle 29"/>
          <p:cNvSpPr/>
          <p:nvPr/>
        </p:nvSpPr>
        <p:spPr>
          <a:xfrm>
            <a:off x="8021116"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21116"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Meta-GNN</a:t>
            </a:r>
          </a:p>
        </p:txBody>
      </p:sp>
      <p:sp>
        <p:nvSpPr>
          <p:cNvPr id="32" name="TextBox 31"/>
          <p:cNvSpPr txBox="1"/>
          <p:nvPr/>
        </p:nvSpPr>
        <p:spPr>
          <a:xfrm>
            <a:off x="8021116"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weighted GCN</a:t>
            </a:r>
          </a:p>
        </p:txBody>
      </p:sp>
      <p:sp>
        <p:nvSpPr>
          <p:cNvPr id="33" name="Oval 32"/>
          <p:cNvSpPr/>
          <p:nvPr/>
        </p:nvSpPr>
        <p:spPr>
          <a:xfrm>
            <a:off x="10520400" y="1920240"/>
            <a:ext cx="548640" cy="54864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20400"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6</a:t>
            </a:r>
          </a:p>
        </p:txBody>
      </p:sp>
      <p:sp>
        <p:nvSpPr>
          <p:cNvPr id="35" name="Rectangle 34"/>
          <p:cNvSpPr/>
          <p:nvPr/>
        </p:nvSpPr>
        <p:spPr>
          <a:xfrm>
            <a:off x="9900665"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0665"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Prototype head</a:t>
            </a:r>
          </a:p>
        </p:txBody>
      </p:sp>
      <p:sp>
        <p:nvSpPr>
          <p:cNvPr id="37" name="TextBox 36"/>
          <p:cNvSpPr txBox="1"/>
          <p:nvPr/>
        </p:nvSpPr>
        <p:spPr>
          <a:xfrm>
            <a:off x="9900665"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d(z_q, c_n)</a:t>
            </a:r>
          </a:p>
        </p:txBody>
      </p:sp>
      <p:sp>
        <p:nvSpPr>
          <p:cNvPr id="38" name="Rectangle 37"/>
          <p:cNvSpPr/>
          <p:nvPr/>
        </p:nvSpPr>
        <p:spPr>
          <a:xfrm>
            <a:off x="502920" y="4846320"/>
            <a:ext cx="11185855" cy="146304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4983480"/>
            <a:ext cx="10820095" cy="457200"/>
          </a:xfrm>
          <a:prstGeom prst="rect">
            <a:avLst/>
          </a:prstGeom>
          <a:noFill/>
        </p:spPr>
        <p:txBody>
          <a:bodyPr wrap="square" lIns="45720" rIns="45720" tIns="18288" bIns="18288" anchor="t">
            <a:spAutoFit/>
          </a:bodyPr>
          <a:lstStyle/>
          <a:p>
            <a:pPr algn="l"/>
            <a:r>
              <a:rPr sz="1200" b="1" i="0">
                <a:solidFill>
                  <a:srgbClr val="1E2761"/>
                </a:solidFill>
                <a:latin typeface="Calibri"/>
              </a:rPr>
              <a:t>END-TO-END TRAINING</a:t>
            </a:r>
          </a:p>
        </p:txBody>
      </p:sp>
      <p:sp>
        <p:nvSpPr>
          <p:cNvPr id="40" name="TextBox 39"/>
          <p:cNvSpPr txBox="1"/>
          <p:nvPr/>
        </p:nvSpPr>
        <p:spPr>
          <a:xfrm>
            <a:off x="685800" y="5349240"/>
            <a:ext cx="10820095" cy="914400"/>
          </a:xfrm>
          <a:prstGeom prst="rect">
            <a:avLst/>
          </a:prstGeom>
          <a:noFill/>
        </p:spPr>
        <p:txBody>
          <a:bodyPr wrap="square" lIns="45720" rIns="45720" tIns="18288" bIns="18288" anchor="t">
            <a:spAutoFit/>
          </a:bodyPr>
          <a:lstStyle/>
          <a:p>
            <a:pPr algn="l"/>
            <a:r>
              <a:rPr sz="1300" b="0" i="1">
                <a:solidFill>
                  <a:srgbClr val="1E2761"/>
                </a:solidFill>
                <a:latin typeface="Calibri"/>
              </a:rPr>
              <a:t>Encoder φ, affinity g, and meta-GNN are optimized jointly with cross-entropy on query predictions.  No retraining at meta-test time.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Molecular Encoder (GINEConv)</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12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675120" cy="438912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Three stacked GINEConv layers, each wrapping an MLP with BN + ReLU.</a:t>
            </a:r>
          </a:p>
          <a:p>
            <a:pPr algn="l">
              <a:lnSpc>
                <a:spcPct val="125000"/>
              </a:lnSpc>
              <a:spcAft>
                <a:spcPts val="400"/>
              </a:spcAft>
            </a:pPr>
            <a:r>
              <a:rPr sz="1500" b="1">
                <a:solidFill>
                  <a:srgbClr val="1E2761"/>
                </a:solidFill>
                <a:latin typeface="Calibri"/>
              </a:rPr>
              <a:t>●  </a:t>
            </a:r>
            <a:r>
              <a:rPr sz="1500">
                <a:solidFill>
                  <a:srgbClr val="36454F"/>
                </a:solidFill>
                <a:latin typeface="Calibri"/>
              </a:rPr>
              <a:t>Dropout 0.1 between layers.</a:t>
            </a:r>
          </a:p>
          <a:p>
            <a:pPr algn="l">
              <a:lnSpc>
                <a:spcPct val="125000"/>
              </a:lnSpc>
              <a:spcAft>
                <a:spcPts val="400"/>
              </a:spcAft>
            </a:pPr>
            <a:r>
              <a:rPr sz="1500" b="1">
                <a:solidFill>
                  <a:srgbClr val="1E2761"/>
                </a:solidFill>
                <a:latin typeface="Calibri"/>
              </a:rPr>
              <a:t>●  </a:t>
            </a:r>
            <a:r>
              <a:rPr sz="1500">
                <a:solidFill>
                  <a:srgbClr val="36454F"/>
                </a:solidFill>
                <a:latin typeface="Calibri"/>
              </a:rPr>
              <a:t>Atom (9-D) and bond (3-D) features projected to shared hidden dim.</a:t>
            </a:r>
          </a:p>
          <a:p>
            <a:pPr algn="l">
              <a:lnSpc>
                <a:spcPct val="125000"/>
              </a:lnSpc>
              <a:spcAft>
                <a:spcPts val="400"/>
              </a:spcAft>
            </a:pPr>
            <a:r>
              <a:rPr sz="1500" b="1">
                <a:solidFill>
                  <a:srgbClr val="1E2761"/>
                </a:solidFill>
                <a:latin typeface="Calibri"/>
              </a:rPr>
              <a:t>●  </a:t>
            </a:r>
            <a:r>
              <a:rPr sz="1500">
                <a:solidFill>
                  <a:srgbClr val="36454F"/>
                </a:solidFill>
                <a:latin typeface="Calibri"/>
              </a:rPr>
              <a:t>Readout: global mean pool → Linear (128 → 128).</a:t>
            </a:r>
          </a:p>
          <a:p>
            <a:pPr algn="l">
              <a:lnSpc>
                <a:spcPct val="125000"/>
              </a:lnSpc>
              <a:spcAft>
                <a:spcPts val="400"/>
              </a:spcAft>
            </a:pPr>
            <a:r>
              <a:rPr sz="1500" b="1">
                <a:solidFill>
                  <a:srgbClr val="1E2761"/>
                </a:solidFill>
                <a:latin typeface="Calibri"/>
              </a:rPr>
              <a:t>●  </a:t>
            </a:r>
            <a:r>
              <a:rPr sz="1500">
                <a:solidFill>
                  <a:srgbClr val="36454F"/>
                </a:solidFill>
                <a:latin typeface="Calibri"/>
              </a:rPr>
              <a:t>SAME encoder across ProtoNet, MAML, and GoS — any gap is due to the meta-learner, not the backbone.</a:t>
            </a:r>
          </a:p>
        </p:txBody>
      </p:sp>
      <p:sp>
        <p:nvSpPr>
          <p:cNvPr id="9" name="TextBox 8"/>
          <p:cNvSpPr txBox="1"/>
          <p:nvPr/>
        </p:nvSpPr>
        <p:spPr>
          <a:xfrm>
            <a:off x="7498079" y="2011680"/>
            <a:ext cx="4572000" cy="1828800"/>
          </a:xfrm>
          <a:prstGeom prst="rect">
            <a:avLst/>
          </a:prstGeom>
          <a:noFill/>
        </p:spPr>
        <p:txBody>
          <a:bodyPr wrap="square" tIns="73152" bIns="73152">
            <a:spAutoFit/>
          </a:bodyPr>
          <a:lstStyle/>
          <a:p>
            <a:pPr algn="l">
              <a:lnSpc>
                <a:spcPct val="115000"/>
              </a:lnSpc>
            </a:pPr>
            <a:r>
              <a:rPr sz="1200">
                <a:solidFill>
                  <a:srgbClr val="1E2761"/>
                </a:solidFill>
                <a:latin typeface="Consolas"/>
              </a:rPr>
              <a:t> x_v^(l+1) = MLP(</a:t>
            </a:r>
          </a:p>
          <a:p>
            <a:pPr algn="l">
              <a:lnSpc>
                <a:spcPct val="115000"/>
              </a:lnSpc>
            </a:pPr>
            <a:r>
              <a:rPr sz="1200">
                <a:solidFill>
                  <a:srgbClr val="1E2761"/>
                </a:solidFill>
                <a:latin typeface="Consolas"/>
              </a:rPr>
              <a:t>   (1+ε)·x_v^(l) +</a:t>
            </a:r>
          </a:p>
          <a:p>
            <a:pPr algn="l">
              <a:lnSpc>
                <a:spcPct val="115000"/>
              </a:lnSpc>
            </a:pPr>
            <a:r>
              <a:rPr sz="1200">
                <a:solidFill>
                  <a:srgbClr val="1E2761"/>
                </a:solidFill>
                <a:latin typeface="Consolas"/>
              </a:rPr>
              <a:t>   Σ_{u∈N(v)} ReLU(x_u^(l) + e_{uv})</a:t>
            </a:r>
          </a:p>
          <a:p>
            <a:pPr algn="l">
              <a:lnSpc>
                <a:spcPct val="115000"/>
              </a:lnSpc>
            </a:pPr>
            <a:r>
              <a:rPr sz="1200">
                <a:solidFill>
                  <a:srgbClr val="1E2761"/>
                </a:solidFill>
                <a:latin typeface="Consolas"/>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Meta-Graph Construction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13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583680" cy="310896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Three affinity variants for w_ij = g(h_i, h_j):</a:t>
            </a:r>
          </a:p>
          <a:p>
            <a:pPr algn="l" lvl="1">
              <a:lnSpc>
                <a:spcPct val="125000"/>
              </a:lnSpc>
              <a:spcAft>
                <a:spcPts val="400"/>
              </a:spcAft>
            </a:pPr>
            <a:r>
              <a:rPr sz="1300" b="0">
                <a:solidFill>
                  <a:srgbClr val="888A90"/>
                </a:solidFill>
                <a:latin typeface="Calibri"/>
              </a:rPr>
              <a:t>·  </a:t>
            </a:r>
            <a:r>
              <a:rPr sz="1300">
                <a:solidFill>
                  <a:srgbClr val="36454F"/>
                </a:solidFill>
                <a:latin typeface="Calibri"/>
              </a:rPr>
              <a:t>cosine — parameter-free</a:t>
            </a:r>
          </a:p>
          <a:p>
            <a:pPr algn="l" lvl="1">
              <a:lnSpc>
                <a:spcPct val="125000"/>
              </a:lnSpc>
              <a:spcAft>
                <a:spcPts val="400"/>
              </a:spcAft>
            </a:pPr>
            <a:r>
              <a:rPr sz="1300" b="0">
                <a:solidFill>
                  <a:srgbClr val="888A90"/>
                </a:solidFill>
                <a:latin typeface="Calibri"/>
              </a:rPr>
              <a:t>·  </a:t>
            </a:r>
            <a:r>
              <a:rPr sz="1300">
                <a:solidFill>
                  <a:srgbClr val="36454F"/>
                </a:solidFill>
                <a:latin typeface="Calibri"/>
              </a:rPr>
              <a:t>bilinear — learned kernel</a:t>
            </a:r>
          </a:p>
          <a:p>
            <a:pPr algn="l" lvl="1">
              <a:lnSpc>
                <a:spcPct val="125000"/>
              </a:lnSpc>
              <a:spcAft>
                <a:spcPts val="400"/>
              </a:spcAft>
            </a:pPr>
            <a:r>
              <a:rPr sz="1300" b="0">
                <a:solidFill>
                  <a:srgbClr val="888A90"/>
                </a:solidFill>
                <a:latin typeface="Calibri"/>
              </a:rPr>
              <a:t>·  </a:t>
            </a:r>
            <a:r>
              <a:rPr sz="1300">
                <a:solidFill>
                  <a:srgbClr val="36454F"/>
                </a:solidFill>
                <a:latin typeface="Calibri"/>
              </a:rPr>
              <a:t>scaled dot-product attention</a:t>
            </a:r>
          </a:p>
          <a:p>
            <a:pPr algn="l">
              <a:lnSpc>
                <a:spcPct val="125000"/>
              </a:lnSpc>
              <a:spcAft>
                <a:spcPts val="400"/>
              </a:spcAft>
            </a:pPr>
            <a:r>
              <a:rPr sz="1500" b="1">
                <a:solidFill>
                  <a:srgbClr val="1E2761"/>
                </a:solidFill>
                <a:latin typeface="Calibri"/>
              </a:rPr>
              <a:t>●  </a:t>
            </a:r>
            <a:r>
              <a:rPr sz="1500">
                <a:solidFill>
                  <a:srgbClr val="36454F"/>
                </a:solidFill>
                <a:latin typeface="Calibri"/>
              </a:rPr>
              <a:t>kNN sparsification: keep the k strongest edges per node; symmetrize.</a:t>
            </a:r>
          </a:p>
        </p:txBody>
      </p:sp>
      <p:sp>
        <p:nvSpPr>
          <p:cNvPr id="9" name="TextBox 8"/>
          <p:cNvSpPr txBox="1"/>
          <p:nvPr/>
        </p:nvSpPr>
        <p:spPr>
          <a:xfrm>
            <a:off x="7406640" y="1828800"/>
            <a:ext cx="4663440" cy="3200400"/>
          </a:xfrm>
          <a:prstGeom prst="rect">
            <a:avLst/>
          </a:prstGeom>
          <a:noFill/>
        </p:spPr>
        <p:txBody>
          <a:bodyPr wrap="square" tIns="73152" bIns="73152">
            <a:spAutoFit/>
          </a:bodyPr>
          <a:lstStyle/>
          <a:p>
            <a:pPr algn="l">
              <a:lnSpc>
                <a:spcPct val="115000"/>
              </a:lnSpc>
            </a:pPr>
            <a:r>
              <a:rPr sz="1300">
                <a:solidFill>
                  <a:srgbClr val="1E2761"/>
                </a:solidFill>
                <a:latin typeface="Consolas"/>
              </a:rPr>
              <a:t> cosine:    (h_i·h_j)/(‖h_i‖‖h_j‖)</a:t>
            </a:r>
          </a:p>
          <a:p>
            <a:pPr algn="l">
              <a:lnSpc>
                <a:spcPct val="115000"/>
              </a:lnSpc>
            </a:pPr>
            <a:r>
              <a:rPr sz="1300">
                <a:solidFill>
                  <a:srgbClr val="1E2761"/>
                </a:solidFill>
                <a:latin typeface="Consolas"/>
              </a:rPr>
              <a:t> bilinear:  h_i^T W h_j</a:t>
            </a:r>
          </a:p>
          <a:p>
            <a:pPr algn="l">
              <a:lnSpc>
                <a:spcPct val="115000"/>
              </a:lnSpc>
            </a:pPr>
            <a:r>
              <a:rPr sz="1300">
                <a:solidFill>
                  <a:srgbClr val="1E2761"/>
                </a:solidFill>
                <a:latin typeface="Consolas"/>
              </a:rPr>
              <a:t> attention: (W_q h_i)^T(W_k h_j)/√d</a:t>
            </a:r>
          </a:p>
          <a:p>
            <a:pPr algn="l">
              <a:lnSpc>
                <a:spcPct val="115000"/>
              </a:lnSpc>
            </a:pPr>
            <a:r>
              <a:rPr sz="1300">
                <a:solidFill>
                  <a:srgbClr val="1E2761"/>
                </a:solidFill>
                <a:latin typeface="Consolas"/>
              </a:rPr>
              <a:t/>
            </a:r>
          </a:p>
          <a:p>
            <a:pPr algn="l">
              <a:lnSpc>
                <a:spcPct val="115000"/>
              </a:lnSpc>
            </a:pPr>
            <a:r>
              <a:rPr sz="1300">
                <a:solidFill>
                  <a:srgbClr val="1E2761"/>
                </a:solidFill>
                <a:latin typeface="Consolas"/>
              </a:rPr>
              <a:t> k ∈ {3, 5, 10, dense}</a:t>
            </a:r>
          </a:p>
          <a:p>
            <a:pPr algn="l">
              <a:lnSpc>
                <a:spcPct val="115000"/>
              </a:lnSpc>
            </a:pPr>
            <a:r>
              <a:rPr sz="1300">
                <a:solidFill>
                  <a:srgbClr val="1E2761"/>
                </a:solidFill>
                <a:latin typeface="Consolas"/>
              </a:rPr>
              <a:t>   (key hyperparameter)</a:t>
            </a:r>
          </a:p>
        </p:txBody>
      </p:sp>
      <p:sp>
        <p:nvSpPr>
          <p:cNvPr id="10" name="Rectangle 9"/>
          <p:cNvSpPr/>
          <p:nvPr/>
        </p:nvSpPr>
        <p:spPr>
          <a:xfrm>
            <a:off x="502920" y="5029200"/>
            <a:ext cx="11185855" cy="11887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166360"/>
            <a:ext cx="10820095" cy="411480"/>
          </a:xfrm>
          <a:prstGeom prst="rect">
            <a:avLst/>
          </a:prstGeom>
          <a:noFill/>
        </p:spPr>
        <p:txBody>
          <a:bodyPr wrap="square" lIns="45720" rIns="45720" tIns="18288" bIns="18288" anchor="t">
            <a:spAutoFit/>
          </a:bodyPr>
          <a:lstStyle/>
          <a:p>
            <a:pPr algn="l"/>
            <a:r>
              <a:rPr sz="1100" b="1" i="0">
                <a:solidFill>
                  <a:srgbClr val="F96167"/>
                </a:solidFill>
                <a:latin typeface="Calibri"/>
              </a:rPr>
              <a:t>DESIGN INSIGHT</a:t>
            </a:r>
          </a:p>
        </p:txBody>
      </p:sp>
      <p:sp>
        <p:nvSpPr>
          <p:cNvPr id="12" name="TextBox 11"/>
          <p:cNvSpPr txBox="1"/>
          <p:nvPr/>
        </p:nvSpPr>
        <p:spPr>
          <a:xfrm>
            <a:off x="685800" y="5486400"/>
            <a:ext cx="10820095" cy="731520"/>
          </a:xfrm>
          <a:prstGeom prst="rect">
            <a:avLst/>
          </a:prstGeom>
          <a:noFill/>
        </p:spPr>
        <p:txBody>
          <a:bodyPr wrap="square" lIns="45720" rIns="45720" tIns="18288" bIns="18288" anchor="t">
            <a:spAutoFit/>
          </a:bodyPr>
          <a:lstStyle/>
          <a:p>
            <a:pPr algn="l"/>
            <a:r>
              <a:rPr sz="1300" b="0" i="1">
                <a:solidFill>
                  <a:srgbClr val="36454F"/>
                </a:solidFill>
                <a:latin typeface="Calibri"/>
              </a:rPr>
              <a:t>Sparsification suppresses spurious similarities and keeps the meta-graph tractable; its effect turns out to dominate affinity choice in our ablations.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Meta-GNN Propagation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14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583680" cy="438912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Two-layer weighted GCN over the meta-graph.</a:t>
            </a:r>
          </a:p>
          <a:p>
            <a:pPr algn="l">
              <a:lnSpc>
                <a:spcPct val="125000"/>
              </a:lnSpc>
              <a:spcAft>
                <a:spcPts val="400"/>
              </a:spcAft>
            </a:pPr>
            <a:r>
              <a:rPr sz="1500" b="1">
                <a:solidFill>
                  <a:srgbClr val="1E2761"/>
                </a:solidFill>
                <a:latin typeface="Calibri"/>
              </a:rPr>
              <a:t>●  </a:t>
            </a:r>
            <a:r>
              <a:rPr sz="1500">
                <a:solidFill>
                  <a:srgbClr val="36454F"/>
                </a:solidFill>
                <a:latin typeface="Calibri"/>
              </a:rPr>
              <a:t>Initial features:</a:t>
            </a:r>
          </a:p>
          <a:p>
            <a:pPr algn="l" lvl="1">
              <a:lnSpc>
                <a:spcPct val="125000"/>
              </a:lnSpc>
              <a:spcAft>
                <a:spcPts val="400"/>
              </a:spcAft>
            </a:pPr>
            <a:r>
              <a:rPr sz="1300" b="0">
                <a:solidFill>
                  <a:srgbClr val="888A90"/>
                </a:solidFill>
                <a:latin typeface="Calibri"/>
              </a:rPr>
              <a:t>·  </a:t>
            </a:r>
            <a:r>
              <a:rPr sz="1300">
                <a:solidFill>
                  <a:srgbClr val="36454F"/>
                </a:solidFill>
                <a:latin typeface="Calibri"/>
              </a:rPr>
              <a:t>support:  [ h_i  ;  one-hot(y_i) ]</a:t>
            </a:r>
          </a:p>
          <a:p>
            <a:pPr algn="l" lvl="1">
              <a:lnSpc>
                <a:spcPct val="125000"/>
              </a:lnSpc>
              <a:spcAft>
                <a:spcPts val="400"/>
              </a:spcAft>
            </a:pPr>
            <a:r>
              <a:rPr sz="1300" b="0">
                <a:solidFill>
                  <a:srgbClr val="888A90"/>
                </a:solidFill>
                <a:latin typeface="Calibri"/>
              </a:rPr>
              <a:t>·  </a:t>
            </a:r>
            <a:r>
              <a:rPr sz="1300">
                <a:solidFill>
                  <a:srgbClr val="36454F"/>
                </a:solidFill>
                <a:latin typeface="Calibri"/>
              </a:rPr>
              <a:t>query:    [ h_i  ;  0 ]    (unknown label)</a:t>
            </a:r>
          </a:p>
          <a:p>
            <a:pPr algn="l">
              <a:lnSpc>
                <a:spcPct val="125000"/>
              </a:lnSpc>
              <a:spcAft>
                <a:spcPts val="400"/>
              </a:spcAft>
            </a:pPr>
            <a:r>
              <a:rPr sz="1500" b="1">
                <a:solidFill>
                  <a:srgbClr val="1E2761"/>
                </a:solidFill>
                <a:latin typeface="Calibri"/>
              </a:rPr>
              <a:t>●  </a:t>
            </a:r>
            <a:r>
              <a:rPr sz="1500">
                <a:solidFill>
                  <a:srgbClr val="36454F"/>
                </a:solidFill>
                <a:latin typeface="Calibri"/>
              </a:rPr>
              <a:t>Labels diffuse from supports to queries along edge weights.</a:t>
            </a:r>
          </a:p>
          <a:p>
            <a:pPr algn="l">
              <a:lnSpc>
                <a:spcPct val="125000"/>
              </a:lnSpc>
              <a:spcAft>
                <a:spcPts val="400"/>
              </a:spcAft>
            </a:pPr>
            <a:r>
              <a:rPr sz="1500" b="1">
                <a:solidFill>
                  <a:srgbClr val="1E2761"/>
                </a:solidFill>
                <a:latin typeface="Calibri"/>
              </a:rPr>
              <a:t>●  </a:t>
            </a:r>
            <a:r>
              <a:rPr sz="1500">
                <a:solidFill>
                  <a:srgbClr val="36454F"/>
                </a:solidFill>
                <a:latin typeface="Calibri"/>
              </a:rPr>
              <a:t>Gradients flow back to the affinity parameters through propagation.</a:t>
            </a:r>
          </a:p>
        </p:txBody>
      </p:sp>
      <p:sp>
        <p:nvSpPr>
          <p:cNvPr id="9" name="TextBox 8"/>
          <p:cNvSpPr txBox="1"/>
          <p:nvPr/>
        </p:nvSpPr>
        <p:spPr>
          <a:xfrm>
            <a:off x="7406640" y="1920240"/>
            <a:ext cx="4663440" cy="1828800"/>
          </a:xfrm>
          <a:prstGeom prst="rect">
            <a:avLst/>
          </a:prstGeom>
          <a:noFill/>
        </p:spPr>
        <p:txBody>
          <a:bodyPr wrap="square" tIns="73152" bIns="73152">
            <a:spAutoFit/>
          </a:bodyPr>
          <a:lstStyle/>
          <a:p>
            <a:pPr algn="l">
              <a:lnSpc>
                <a:spcPct val="115000"/>
              </a:lnSpc>
            </a:pPr>
            <a:r>
              <a:rPr sz="1300">
                <a:solidFill>
                  <a:srgbClr val="1E2761"/>
                </a:solidFill>
                <a:latin typeface="Consolas"/>
              </a:rPr>
              <a:t> z_i^(l+1) =</a:t>
            </a:r>
          </a:p>
          <a:p>
            <a:pPr algn="l">
              <a:lnSpc>
                <a:spcPct val="115000"/>
              </a:lnSpc>
            </a:pPr>
            <a:r>
              <a:rPr sz="1300">
                <a:solidFill>
                  <a:srgbClr val="1E2761"/>
                </a:solidFill>
                <a:latin typeface="Consolas"/>
              </a:rPr>
              <a:t>   σ(Σ_{j∈N(i)} w_ij·W^(l)·z_j^(l))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Prototype-based Classification Head</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15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737360"/>
            <a:ext cx="11185855" cy="1188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783080"/>
            <a:ext cx="10728655" cy="457200"/>
          </a:xfrm>
          <a:prstGeom prst="rect">
            <a:avLst/>
          </a:prstGeom>
          <a:noFill/>
        </p:spPr>
        <p:txBody>
          <a:bodyPr wrap="square" lIns="45720" rIns="45720" tIns="18288" bIns="18288" anchor="t">
            <a:spAutoFit/>
          </a:bodyPr>
          <a:lstStyle/>
          <a:p>
            <a:pPr algn="l"/>
            <a:r>
              <a:rPr sz="1200" b="1" i="0">
                <a:solidFill>
                  <a:srgbClr val="FFFFFF"/>
                </a:solidFill>
                <a:latin typeface="Calibri"/>
              </a:rPr>
              <a:t>PITFALL WE FELL INTO</a:t>
            </a:r>
          </a:p>
        </p:txBody>
      </p:sp>
      <p:sp>
        <p:nvSpPr>
          <p:cNvPr id="10" name="TextBox 9"/>
          <p:cNvSpPr txBox="1"/>
          <p:nvPr/>
        </p:nvSpPr>
        <p:spPr>
          <a:xfrm>
            <a:off x="731520" y="2148840"/>
            <a:ext cx="10728655" cy="731520"/>
          </a:xfrm>
          <a:prstGeom prst="rect">
            <a:avLst/>
          </a:prstGeom>
          <a:noFill/>
        </p:spPr>
        <p:txBody>
          <a:bodyPr wrap="square" lIns="45720" rIns="45720" tIns="18288" bIns="18288" anchor="t">
            <a:spAutoFit/>
          </a:bodyPr>
          <a:lstStyle/>
          <a:p>
            <a:pPr algn="l"/>
            <a:r>
              <a:rPr sz="1400" b="0" i="1">
                <a:solidFill>
                  <a:srgbClr val="FFFFFF"/>
                </a:solidFill>
                <a:latin typeface="Calibri"/>
              </a:rPr>
              <a:t>A shared Linear(d, N-way) head collapses to ~0.50 AUC.  Class index '0' means a different assay every episode → contradictory supervision.</a:t>
            </a:r>
          </a:p>
        </p:txBody>
      </p:sp>
      <p:sp>
        <p:nvSpPr>
          <p:cNvPr id="11" name="TextBox 10"/>
          <p:cNvSpPr txBox="1"/>
          <p:nvPr/>
        </p:nvSpPr>
        <p:spPr>
          <a:xfrm>
            <a:off x="502920" y="3108960"/>
            <a:ext cx="6675120" cy="310896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Fix: compute prototypes from META-GNN outputs of support nodes.</a:t>
            </a:r>
          </a:p>
          <a:p>
            <a:pPr algn="l">
              <a:lnSpc>
                <a:spcPct val="125000"/>
              </a:lnSpc>
              <a:spcAft>
                <a:spcPts val="400"/>
              </a:spcAft>
            </a:pPr>
            <a:r>
              <a:rPr sz="1500" b="1">
                <a:solidFill>
                  <a:srgbClr val="1E2761"/>
                </a:solidFill>
                <a:latin typeface="Calibri"/>
              </a:rPr>
              <a:t>●  </a:t>
            </a:r>
            <a:r>
              <a:rPr sz="1500">
                <a:solidFill>
                  <a:srgbClr val="36454F"/>
                </a:solidFill>
                <a:latin typeface="Calibri"/>
              </a:rPr>
              <a:t>Classify queries by negative Euclidean distance.</a:t>
            </a:r>
          </a:p>
          <a:p>
            <a:pPr algn="l">
              <a:lnSpc>
                <a:spcPct val="125000"/>
              </a:lnSpc>
              <a:spcAft>
                <a:spcPts val="400"/>
              </a:spcAft>
            </a:pPr>
            <a:r>
              <a:rPr sz="1500" b="1">
                <a:solidFill>
                  <a:srgbClr val="1E2761"/>
                </a:solidFill>
                <a:latin typeface="Calibri"/>
              </a:rPr>
              <a:t>●  </a:t>
            </a:r>
            <a:r>
              <a:rPr sz="1500">
                <a:solidFill>
                  <a:srgbClr val="36454F"/>
                </a:solidFill>
                <a:latin typeface="Calibri"/>
              </a:rPr>
              <a:t>No per-class parameters → episode-agnostic.</a:t>
            </a:r>
          </a:p>
          <a:p>
            <a:pPr algn="l">
              <a:lnSpc>
                <a:spcPct val="125000"/>
              </a:lnSpc>
              <a:spcAft>
                <a:spcPts val="400"/>
              </a:spcAft>
            </a:pPr>
            <a:r>
              <a:rPr sz="1500" b="1">
                <a:solidFill>
                  <a:srgbClr val="1E2761"/>
                </a:solidFill>
                <a:latin typeface="Calibri"/>
              </a:rPr>
              <a:t>●  </a:t>
            </a:r>
            <a:r>
              <a:rPr sz="1500">
                <a:solidFill>
                  <a:srgbClr val="36454F"/>
                </a:solidFill>
                <a:latin typeface="Calibri"/>
              </a:rPr>
              <a:t>Same head design as ProtoNet, now on meta-GNN-refined features.</a:t>
            </a:r>
          </a:p>
        </p:txBody>
      </p:sp>
      <p:sp>
        <p:nvSpPr>
          <p:cNvPr id="12" name="TextBox 11"/>
          <p:cNvSpPr txBox="1"/>
          <p:nvPr/>
        </p:nvSpPr>
        <p:spPr>
          <a:xfrm>
            <a:off x="7406640" y="3200400"/>
            <a:ext cx="4663440" cy="2286000"/>
          </a:xfrm>
          <a:prstGeom prst="rect">
            <a:avLst/>
          </a:prstGeom>
          <a:noFill/>
        </p:spPr>
        <p:txBody>
          <a:bodyPr wrap="square" tIns="73152" bIns="73152">
            <a:spAutoFit/>
          </a:bodyPr>
          <a:lstStyle/>
          <a:p>
            <a:pPr algn="l">
              <a:lnSpc>
                <a:spcPct val="115000"/>
              </a:lnSpc>
            </a:pPr>
            <a:r>
              <a:rPr sz="1300">
                <a:solidFill>
                  <a:srgbClr val="1E2761"/>
                </a:solidFill>
                <a:latin typeface="Consolas"/>
              </a:rPr>
              <a:t> c_n = (1/K) Σ_{i:y_i=n} z_i^(L)</a:t>
            </a:r>
          </a:p>
          <a:p>
            <a:pPr algn="l">
              <a:lnSpc>
                <a:spcPct val="115000"/>
              </a:lnSpc>
            </a:pPr>
            <a:r>
              <a:rPr sz="1300">
                <a:solidFill>
                  <a:srgbClr val="1E2761"/>
                </a:solidFill>
                <a:latin typeface="Consolas"/>
              </a:rPr>
              <a:t/>
            </a:r>
          </a:p>
          <a:p>
            <a:pPr algn="l">
              <a:lnSpc>
                <a:spcPct val="115000"/>
              </a:lnSpc>
            </a:pPr>
            <a:r>
              <a:rPr sz="1300">
                <a:solidFill>
                  <a:srgbClr val="1E2761"/>
                </a:solidFill>
                <a:latin typeface="Consolas"/>
              </a:rPr>
              <a:t> p(y=n|G_q)</a:t>
            </a:r>
          </a:p>
          <a:p>
            <a:pPr algn="l">
              <a:lnSpc>
                <a:spcPct val="115000"/>
              </a:lnSpc>
            </a:pPr>
            <a:r>
              <a:rPr sz="1300">
                <a:solidFill>
                  <a:srgbClr val="1E2761"/>
                </a:solidFill>
                <a:latin typeface="Consolas"/>
              </a:rPr>
              <a:t>   ∝ exp(−‖z_q^(L) − c_n‖²)</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Iterative Refinement</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16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38912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One meta-GNN pass propagates 1–2 hops only.</a:t>
            </a:r>
          </a:p>
          <a:p>
            <a:pPr algn="l">
              <a:lnSpc>
                <a:spcPct val="125000"/>
              </a:lnSpc>
              <a:spcAft>
                <a:spcPts val="400"/>
              </a:spcAft>
            </a:pPr>
            <a:r>
              <a:rPr sz="1500" b="1">
                <a:solidFill>
                  <a:srgbClr val="1E2761"/>
                </a:solidFill>
                <a:latin typeface="Calibri"/>
              </a:rPr>
              <a:t>●  </a:t>
            </a:r>
            <a:r>
              <a:rPr sz="1500">
                <a:solidFill>
                  <a:srgbClr val="36454F"/>
                </a:solidFill>
                <a:latin typeface="Calibri"/>
              </a:rPr>
              <a:t>Iterate R rounds (default R = 2):</a:t>
            </a:r>
          </a:p>
          <a:p>
            <a:pPr algn="l" lvl="1">
              <a:lnSpc>
                <a:spcPct val="125000"/>
              </a:lnSpc>
              <a:spcAft>
                <a:spcPts val="400"/>
              </a:spcAft>
            </a:pPr>
            <a:r>
              <a:rPr sz="1300" b="0">
                <a:solidFill>
                  <a:srgbClr val="888A90"/>
                </a:solidFill>
                <a:latin typeface="Calibri"/>
              </a:rPr>
              <a:t>·  </a:t>
            </a:r>
            <a:r>
              <a:rPr sz="1300">
                <a:solidFill>
                  <a:srgbClr val="36454F"/>
                </a:solidFill>
                <a:latin typeface="Calibri"/>
              </a:rPr>
              <a:t>re-compute affinity on current features,</a:t>
            </a:r>
          </a:p>
          <a:p>
            <a:pPr algn="l" lvl="1">
              <a:lnSpc>
                <a:spcPct val="125000"/>
              </a:lnSpc>
              <a:spcAft>
                <a:spcPts val="400"/>
              </a:spcAft>
            </a:pPr>
            <a:r>
              <a:rPr sz="1300" b="0">
                <a:solidFill>
                  <a:srgbClr val="888A90"/>
                </a:solidFill>
                <a:latin typeface="Calibri"/>
              </a:rPr>
              <a:t>·  </a:t>
            </a:r>
            <a:r>
              <a:rPr sz="1300">
                <a:solidFill>
                  <a:srgbClr val="36454F"/>
                </a:solidFill>
                <a:latin typeface="Calibri"/>
              </a:rPr>
              <a:t>re-sparsify with kNN,</a:t>
            </a:r>
          </a:p>
          <a:p>
            <a:pPr algn="l" lvl="1">
              <a:lnSpc>
                <a:spcPct val="125000"/>
              </a:lnSpc>
              <a:spcAft>
                <a:spcPts val="400"/>
              </a:spcAft>
            </a:pPr>
            <a:r>
              <a:rPr sz="1300" b="0">
                <a:solidFill>
                  <a:srgbClr val="888A90"/>
                </a:solidFill>
                <a:latin typeface="Calibri"/>
              </a:rPr>
              <a:t>·  </a:t>
            </a:r>
            <a:r>
              <a:rPr sz="1300">
                <a:solidFill>
                  <a:srgbClr val="36454F"/>
                </a:solidFill>
                <a:latin typeface="Calibri"/>
              </a:rPr>
              <a:t>re-propagate with a fresh meta-GNN.</a:t>
            </a:r>
          </a:p>
          <a:p>
            <a:pPr algn="l">
              <a:lnSpc>
                <a:spcPct val="125000"/>
              </a:lnSpc>
              <a:spcAft>
                <a:spcPts val="400"/>
              </a:spcAft>
            </a:pPr>
            <a:r>
              <a:rPr sz="1500" b="1">
                <a:solidFill>
                  <a:srgbClr val="1E2761"/>
                </a:solidFill>
                <a:latin typeface="Calibri"/>
              </a:rPr>
              <a:t>●  </a:t>
            </a:r>
            <a:r>
              <a:rPr sz="1500">
                <a:solidFill>
                  <a:srgbClr val="36454F"/>
                </a:solidFill>
                <a:latin typeface="Calibri"/>
              </a:rPr>
              <a:t>Label one-hot re-injected every round → signal does not decay.</a:t>
            </a:r>
          </a:p>
          <a:p>
            <a:pPr algn="l">
              <a:lnSpc>
                <a:spcPct val="125000"/>
              </a:lnSpc>
              <a:spcAft>
                <a:spcPts val="400"/>
              </a:spcAft>
            </a:pPr>
            <a:r>
              <a:rPr sz="1500" b="1">
                <a:solidFill>
                  <a:srgbClr val="1E2761"/>
                </a:solidFill>
                <a:latin typeface="Calibri"/>
              </a:rPr>
              <a:t>●  </a:t>
            </a:r>
            <a:r>
              <a:rPr sz="1500">
                <a:solidFill>
                  <a:srgbClr val="36454F"/>
                </a:solidFill>
                <a:latin typeface="Calibri"/>
              </a:rPr>
              <a:t>Each round has its own parameters → later rounds can specialize.</a:t>
            </a:r>
          </a:p>
        </p:txBody>
      </p:sp>
      <p:sp>
        <p:nvSpPr>
          <p:cNvPr id="9" name="Rectangle 8"/>
          <p:cNvSpPr/>
          <p:nvPr/>
        </p:nvSpPr>
        <p:spPr>
          <a:xfrm>
            <a:off x="7589520" y="1920240"/>
            <a:ext cx="4297680" cy="109728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920240"/>
            <a:ext cx="4297680" cy="1097280"/>
          </a:xfrm>
          <a:prstGeom prst="rect">
            <a:avLst/>
          </a:prstGeom>
          <a:noFill/>
        </p:spPr>
        <p:txBody>
          <a:bodyPr wrap="square" lIns="45720" rIns="45720" tIns="18288" bIns="18288" anchor="ctr">
            <a:spAutoFit/>
          </a:bodyPr>
          <a:lstStyle/>
          <a:p>
            <a:pPr algn="ctr"/>
            <a:r>
              <a:rPr sz="1400" b="1" i="0">
                <a:solidFill>
                  <a:srgbClr val="1E2761"/>
                </a:solidFill>
                <a:latin typeface="Calibri"/>
              </a:rPr>
              <a:t>Round 1
affinity → kNN → meta-GNN</a:t>
            </a:r>
          </a:p>
        </p:txBody>
      </p:sp>
      <p:sp>
        <p:nvSpPr>
          <p:cNvPr id="11" name="TextBox 10"/>
          <p:cNvSpPr txBox="1"/>
          <p:nvPr/>
        </p:nvSpPr>
        <p:spPr>
          <a:xfrm>
            <a:off x="9418320" y="3063240"/>
            <a:ext cx="640080" cy="365760"/>
          </a:xfrm>
          <a:prstGeom prst="rect">
            <a:avLst/>
          </a:prstGeom>
          <a:noFill/>
        </p:spPr>
        <p:txBody>
          <a:bodyPr wrap="square" lIns="45720" rIns="45720" tIns="18288" bIns="18288" anchor="t">
            <a:spAutoFit/>
          </a:bodyPr>
          <a:lstStyle/>
          <a:p>
            <a:pPr algn="ctr"/>
            <a:r>
              <a:rPr sz="1800" b="1" i="0">
                <a:solidFill>
                  <a:srgbClr val="36454F"/>
                </a:solidFill>
                <a:latin typeface="Calibri"/>
              </a:rPr>
              <a:t>↓</a:t>
            </a:r>
          </a:p>
        </p:txBody>
      </p:sp>
      <p:sp>
        <p:nvSpPr>
          <p:cNvPr id="12" name="Rectangle 11"/>
          <p:cNvSpPr/>
          <p:nvPr/>
        </p:nvSpPr>
        <p:spPr>
          <a:xfrm>
            <a:off x="7589520" y="3383280"/>
            <a:ext cx="4297680" cy="10972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3383280"/>
            <a:ext cx="4297680" cy="1097280"/>
          </a:xfrm>
          <a:prstGeom prst="rect">
            <a:avLst/>
          </a:prstGeom>
          <a:noFill/>
        </p:spPr>
        <p:txBody>
          <a:bodyPr wrap="square" lIns="45720" rIns="45720" tIns="18288" bIns="18288" anchor="ctr">
            <a:spAutoFit/>
          </a:bodyPr>
          <a:lstStyle/>
          <a:p>
            <a:pPr algn="ctr"/>
            <a:r>
              <a:rPr sz="1400" b="1" i="0">
                <a:solidFill>
                  <a:srgbClr val="FFFFFF"/>
                </a:solidFill>
                <a:latin typeface="Calibri"/>
              </a:rPr>
              <a:t>Round 2
affinity → kNN → meta-GNN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RESULTS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Main Results — 1000 meta-test episodes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17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pic>
        <p:nvPicPr>
          <p:cNvPr id="8" name="Picture 7" descr="fig2_main.png"/>
          <p:cNvPicPr>
            <a:picLocks noChangeAspect="1"/>
          </p:cNvPicPr>
          <p:nvPr/>
        </p:nvPicPr>
        <p:blipFill>
          <a:blip r:embed="rId2"/>
          <a:stretch>
            <a:fillRect/>
          </a:stretch>
        </p:blipFill>
        <p:spPr>
          <a:xfrm>
            <a:off x="548640" y="1645920"/>
            <a:ext cx="7498079" cy="4023360"/>
          </a:xfrm>
          <a:prstGeom prst="rect">
            <a:avLst/>
          </a:prstGeom>
        </p:spPr>
      </p:pic>
      <p:sp>
        <p:nvSpPr>
          <p:cNvPr id="9" name="Rectangle 8"/>
          <p:cNvSpPr/>
          <p:nvPr/>
        </p:nvSpPr>
        <p:spPr>
          <a:xfrm>
            <a:off x="8321040" y="1737360"/>
            <a:ext cx="365760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1874520"/>
            <a:ext cx="3291840" cy="365760"/>
          </a:xfrm>
          <a:prstGeom prst="rect">
            <a:avLst/>
          </a:prstGeom>
          <a:noFill/>
        </p:spPr>
        <p:txBody>
          <a:bodyPr wrap="square" lIns="45720" rIns="45720" tIns="18288" bIns="18288" anchor="t">
            <a:spAutoFit/>
          </a:bodyPr>
          <a:lstStyle/>
          <a:p>
            <a:pPr algn="l"/>
            <a:r>
              <a:rPr sz="1200" b="1" i="0">
                <a:solidFill>
                  <a:srgbClr val="F96167"/>
                </a:solidFill>
                <a:latin typeface="Calibri"/>
              </a:rPr>
              <a:t>TAKEAWAYS</a:t>
            </a:r>
          </a:p>
        </p:txBody>
      </p:sp>
      <p:sp>
        <p:nvSpPr>
          <p:cNvPr id="11" name="TextBox 10"/>
          <p:cNvSpPr txBox="1"/>
          <p:nvPr/>
        </p:nvSpPr>
        <p:spPr>
          <a:xfrm>
            <a:off x="8503920" y="2286000"/>
            <a:ext cx="3291840" cy="3657600"/>
          </a:xfrm>
          <a:prstGeom prst="rect">
            <a:avLst/>
          </a:prstGeom>
          <a:noFill/>
        </p:spPr>
        <p:txBody>
          <a:bodyPr wrap="square" lIns="45720" rIns="45720">
            <a:spAutoFit/>
          </a:bodyPr>
          <a:lstStyle/>
          <a:p>
            <a:pPr algn="l">
              <a:lnSpc>
                <a:spcPct val="125000"/>
              </a:lnSpc>
              <a:spcAft>
                <a:spcPts val="400"/>
              </a:spcAft>
            </a:pPr>
            <a:r>
              <a:rPr sz="1300" b="1">
                <a:solidFill>
                  <a:srgbClr val="1E2761"/>
                </a:solidFill>
                <a:latin typeface="Calibri"/>
              </a:rPr>
              <a:t>●  </a:t>
            </a:r>
            <a:r>
              <a:rPr sz="1300">
                <a:solidFill>
                  <a:srgbClr val="36454F"/>
                </a:solidFill>
                <a:latin typeface="Calibri"/>
              </a:rPr>
              <a:t>ProtoNet is the strongest — 0.701 at 5w5s.</a:t>
            </a:r>
          </a:p>
          <a:p>
            <a:pPr algn="l">
              <a:lnSpc>
                <a:spcPct val="125000"/>
              </a:lnSpc>
              <a:spcAft>
                <a:spcPts val="400"/>
              </a:spcAft>
            </a:pPr>
            <a:r>
              <a:rPr sz="1300" b="1">
                <a:solidFill>
                  <a:srgbClr val="1E2761"/>
                </a:solidFill>
                <a:latin typeface="Calibri"/>
              </a:rPr>
              <a:t>●  </a:t>
            </a:r>
            <a:r>
              <a:rPr sz="1300">
                <a:solidFill>
                  <a:srgbClr val="36454F"/>
                </a:solidFill>
                <a:latin typeface="Calibri"/>
              </a:rPr>
              <a:t>GoS is 2nd — beats MAML by ~6 pp consistently.</a:t>
            </a:r>
          </a:p>
          <a:p>
            <a:pPr algn="l">
              <a:lnSpc>
                <a:spcPct val="125000"/>
              </a:lnSpc>
              <a:spcAft>
                <a:spcPts val="400"/>
              </a:spcAft>
            </a:pPr>
            <a:r>
              <a:rPr sz="1300" b="1">
                <a:solidFill>
                  <a:srgbClr val="1E2761"/>
                </a:solidFill>
                <a:latin typeface="Calibri"/>
              </a:rPr>
              <a:t>●  </a:t>
            </a:r>
            <a:r>
              <a:rPr sz="1300">
                <a:solidFill>
                  <a:srgbClr val="36454F"/>
                </a:solidFill>
                <a:latin typeface="Calibri"/>
              </a:rPr>
              <a:t>MAML stays near chance (~0.50).</a:t>
            </a:r>
          </a:p>
          <a:p>
            <a:pPr algn="l">
              <a:lnSpc>
                <a:spcPct val="125000"/>
              </a:lnSpc>
              <a:spcAft>
                <a:spcPts val="400"/>
              </a:spcAft>
            </a:pPr>
            <a:r>
              <a:rPr sz="1300" b="1">
                <a:solidFill>
                  <a:srgbClr val="1E2761"/>
                </a:solidFill>
                <a:latin typeface="Calibri"/>
              </a:rPr>
              <a:t>●  </a:t>
            </a:r>
            <a:r>
              <a:rPr sz="1300">
                <a:solidFill>
                  <a:srgbClr val="36454F"/>
                </a:solidFill>
                <a:latin typeface="Calibri"/>
              </a:rPr>
              <a:t>GoS does NOT beat ProtoNet (yet).</a:t>
            </a:r>
          </a:p>
        </p:txBody>
      </p:sp>
      <p:sp>
        <p:nvSpPr>
          <p:cNvPr id="12" name="TextBox 11"/>
          <p:cNvSpPr txBox="1"/>
          <p:nvPr/>
        </p:nvSpPr>
        <p:spPr>
          <a:xfrm>
            <a:off x="502920" y="5989320"/>
            <a:ext cx="11185855" cy="365760"/>
          </a:xfrm>
          <a:prstGeom prst="rect">
            <a:avLst/>
          </a:prstGeom>
          <a:noFill/>
        </p:spPr>
        <p:txBody>
          <a:bodyPr wrap="square" lIns="45720" rIns="45720" tIns="18288" bIns="18288" anchor="t">
            <a:spAutoFit/>
          </a:bodyPr>
          <a:lstStyle/>
          <a:p>
            <a:pPr algn="ctr"/>
            <a:r>
              <a:rPr sz="1100" b="0" i="1">
                <a:solidFill>
                  <a:srgbClr val="888A90"/>
                </a:solidFill>
                <a:latin typeface="Calibri"/>
              </a:rPr>
              <a:t>Merged pool: Tox21 + ToxCast + MUV + SIDER, 673 tasks, 405/134/134 split.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RESULTS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Ablation Study</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18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pic>
        <p:nvPicPr>
          <p:cNvPr id="8" name="Picture 7" descr="fig3_ablations.png"/>
          <p:cNvPicPr>
            <a:picLocks noChangeAspect="1"/>
          </p:cNvPicPr>
          <p:nvPr/>
        </p:nvPicPr>
        <p:blipFill>
          <a:blip r:embed="rId2"/>
          <a:stretch>
            <a:fillRect/>
          </a:stretch>
        </p:blipFill>
        <p:spPr>
          <a:xfrm>
            <a:off x="548640" y="1691640"/>
            <a:ext cx="8046720" cy="3657600"/>
          </a:xfrm>
          <a:prstGeom prst="rect">
            <a:avLst/>
          </a:prstGeom>
        </p:spPr>
      </p:pic>
      <p:sp>
        <p:nvSpPr>
          <p:cNvPr id="9" name="Rectangle 8"/>
          <p:cNvSpPr/>
          <p:nvPr/>
        </p:nvSpPr>
        <p:spPr>
          <a:xfrm>
            <a:off x="8869680" y="1737360"/>
            <a:ext cx="310896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0" y="1874520"/>
            <a:ext cx="2743200" cy="365760"/>
          </a:xfrm>
          <a:prstGeom prst="rect">
            <a:avLst/>
          </a:prstGeom>
          <a:noFill/>
        </p:spPr>
        <p:txBody>
          <a:bodyPr wrap="square" lIns="45720" rIns="45720" tIns="18288" bIns="18288" anchor="t">
            <a:spAutoFit/>
          </a:bodyPr>
          <a:lstStyle/>
          <a:p>
            <a:pPr algn="l"/>
            <a:r>
              <a:rPr sz="1200" b="1" i="0">
                <a:solidFill>
                  <a:srgbClr val="F96167"/>
                </a:solidFill>
                <a:latin typeface="Calibri"/>
              </a:rPr>
              <a:t>FINDINGS</a:t>
            </a:r>
          </a:p>
        </p:txBody>
      </p:sp>
      <p:sp>
        <p:nvSpPr>
          <p:cNvPr id="11" name="TextBox 10"/>
          <p:cNvSpPr txBox="1"/>
          <p:nvPr/>
        </p:nvSpPr>
        <p:spPr>
          <a:xfrm>
            <a:off x="9052560" y="2286000"/>
            <a:ext cx="2743200" cy="3657600"/>
          </a:xfrm>
          <a:prstGeom prst="rect">
            <a:avLst/>
          </a:prstGeom>
          <a:noFill/>
        </p:spPr>
        <p:txBody>
          <a:bodyPr wrap="square" lIns="45720" rIns="45720">
            <a:spAutoFit/>
          </a:bodyPr>
          <a:lstStyle/>
          <a:p>
            <a:pPr algn="l">
              <a:lnSpc>
                <a:spcPct val="125000"/>
              </a:lnSpc>
              <a:spcAft>
                <a:spcPts val="400"/>
              </a:spcAft>
            </a:pPr>
            <a:r>
              <a:rPr sz="1300" b="1">
                <a:solidFill>
                  <a:srgbClr val="1E2761"/>
                </a:solidFill>
                <a:latin typeface="Calibri"/>
              </a:rPr>
              <a:t>●  </a:t>
            </a:r>
            <a:r>
              <a:rPr sz="1300">
                <a:solidFill>
                  <a:srgbClr val="36454F"/>
                </a:solidFill>
                <a:latin typeface="Calibri"/>
              </a:rPr>
              <a:t>Affinity barely matters</a:t>
            </a:r>
          </a:p>
          <a:p>
            <a:pPr algn="l" lvl="1">
              <a:lnSpc>
                <a:spcPct val="125000"/>
              </a:lnSpc>
              <a:spcAft>
                <a:spcPts val="400"/>
              </a:spcAft>
            </a:pPr>
            <a:r>
              <a:rPr sz="1100" b="0">
                <a:solidFill>
                  <a:srgbClr val="888A90"/>
                </a:solidFill>
                <a:latin typeface="Calibri"/>
              </a:rPr>
              <a:t>·  </a:t>
            </a:r>
            <a:r>
              <a:rPr sz="1100">
                <a:solidFill>
                  <a:srgbClr val="36454F"/>
                </a:solidFill>
                <a:latin typeface="Calibri"/>
              </a:rPr>
              <a:t>bilinear ≈ cosine &gt; attention.</a:t>
            </a:r>
          </a:p>
          <a:p>
            <a:pPr algn="l">
              <a:lnSpc>
                <a:spcPct val="125000"/>
              </a:lnSpc>
              <a:spcAft>
                <a:spcPts val="400"/>
              </a:spcAft>
            </a:pPr>
            <a:r>
              <a:rPr sz="1300" b="1">
                <a:solidFill>
                  <a:srgbClr val="1E2761"/>
                </a:solidFill>
                <a:latin typeface="Calibri"/>
              </a:rPr>
              <a:t>●  </a:t>
            </a:r>
            <a:r>
              <a:rPr sz="1300">
                <a:solidFill>
                  <a:srgbClr val="36454F"/>
                </a:solidFill>
                <a:latin typeface="Calibri"/>
              </a:rPr>
              <a:t>kNN DOES matter</a:t>
            </a:r>
          </a:p>
          <a:p>
            <a:pPr algn="l" lvl="1">
              <a:lnSpc>
                <a:spcPct val="125000"/>
              </a:lnSpc>
              <a:spcAft>
                <a:spcPts val="400"/>
              </a:spcAft>
            </a:pPr>
            <a:r>
              <a:rPr sz="1100" b="0">
                <a:solidFill>
                  <a:srgbClr val="888A90"/>
                </a:solidFill>
                <a:latin typeface="Calibri"/>
              </a:rPr>
              <a:t>·  </a:t>
            </a:r>
            <a:r>
              <a:rPr sz="1100">
                <a:solidFill>
                  <a:srgbClr val="36454F"/>
                </a:solidFill>
                <a:latin typeface="Calibri"/>
              </a:rPr>
              <a:t>k=3 &gt; k=5 &gt; k=10 &gt; dense.</a:t>
            </a:r>
          </a:p>
          <a:p>
            <a:pPr algn="l">
              <a:lnSpc>
                <a:spcPct val="125000"/>
              </a:lnSpc>
              <a:spcAft>
                <a:spcPts val="400"/>
              </a:spcAft>
            </a:pPr>
            <a:r>
              <a:rPr sz="1300" b="1">
                <a:solidFill>
                  <a:srgbClr val="1E2761"/>
                </a:solidFill>
                <a:latin typeface="Calibri"/>
              </a:rPr>
              <a:t>●  </a:t>
            </a:r>
            <a:r>
              <a:rPr sz="1300">
                <a:solidFill>
                  <a:srgbClr val="36454F"/>
                </a:solidFill>
                <a:latin typeface="Calibri"/>
              </a:rPr>
              <a:t>Dense graphs → over-smoothing.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RESULTS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Sample Efficiency</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19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pic>
        <p:nvPicPr>
          <p:cNvPr id="8" name="Picture 7" descr="fig4_sample_eff.png"/>
          <p:cNvPicPr>
            <a:picLocks noChangeAspect="1"/>
          </p:cNvPicPr>
          <p:nvPr/>
        </p:nvPicPr>
        <p:blipFill>
          <a:blip r:embed="rId2"/>
          <a:stretch>
            <a:fillRect/>
          </a:stretch>
        </p:blipFill>
        <p:spPr>
          <a:xfrm>
            <a:off x="640080" y="1691640"/>
            <a:ext cx="6858000" cy="4114800"/>
          </a:xfrm>
          <a:prstGeom prst="rect">
            <a:avLst/>
          </a:prstGeom>
        </p:spPr>
      </p:pic>
      <p:sp>
        <p:nvSpPr>
          <p:cNvPr id="9" name="Rectangle 8"/>
          <p:cNvSpPr/>
          <p:nvPr/>
        </p:nvSpPr>
        <p:spPr>
          <a:xfrm>
            <a:off x="7863840" y="1737360"/>
            <a:ext cx="411480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874520"/>
            <a:ext cx="3749040" cy="365760"/>
          </a:xfrm>
          <a:prstGeom prst="rect">
            <a:avLst/>
          </a:prstGeom>
          <a:noFill/>
        </p:spPr>
        <p:txBody>
          <a:bodyPr wrap="square" lIns="45720" rIns="45720" tIns="18288" bIns="18288" anchor="t">
            <a:spAutoFit/>
          </a:bodyPr>
          <a:lstStyle/>
          <a:p>
            <a:pPr algn="l"/>
            <a:r>
              <a:rPr sz="1200" b="1" i="0">
                <a:solidFill>
                  <a:srgbClr val="F96167"/>
                </a:solidFill>
                <a:latin typeface="Calibri"/>
              </a:rPr>
              <a:t>OBSERVATIONS</a:t>
            </a:r>
          </a:p>
        </p:txBody>
      </p:sp>
      <p:sp>
        <p:nvSpPr>
          <p:cNvPr id="11" name="TextBox 10"/>
          <p:cNvSpPr txBox="1"/>
          <p:nvPr/>
        </p:nvSpPr>
        <p:spPr>
          <a:xfrm>
            <a:off x="8046720" y="2286000"/>
            <a:ext cx="3749040" cy="3657600"/>
          </a:xfrm>
          <a:prstGeom prst="rect">
            <a:avLst/>
          </a:prstGeom>
          <a:noFill/>
        </p:spPr>
        <p:txBody>
          <a:bodyPr wrap="square" lIns="45720" rIns="45720">
            <a:spAutoFit/>
          </a:bodyPr>
          <a:lstStyle/>
          <a:p>
            <a:pPr algn="l">
              <a:lnSpc>
                <a:spcPct val="125000"/>
              </a:lnSpc>
              <a:spcAft>
                <a:spcPts val="400"/>
              </a:spcAft>
            </a:pPr>
            <a:r>
              <a:rPr sz="1300" b="1">
                <a:solidFill>
                  <a:srgbClr val="1E2761"/>
                </a:solidFill>
                <a:latin typeface="Calibri"/>
              </a:rPr>
              <a:t>●  </a:t>
            </a:r>
            <a:r>
              <a:rPr sz="1300">
                <a:solidFill>
                  <a:srgbClr val="36454F"/>
                </a:solidFill>
                <a:latin typeface="Calibri"/>
              </a:rPr>
              <a:t>Both methods scale monotonically with K.</a:t>
            </a:r>
          </a:p>
          <a:p>
            <a:pPr algn="l">
              <a:lnSpc>
                <a:spcPct val="125000"/>
              </a:lnSpc>
              <a:spcAft>
                <a:spcPts val="400"/>
              </a:spcAft>
            </a:pPr>
            <a:r>
              <a:rPr sz="1300" b="1">
                <a:solidFill>
                  <a:srgbClr val="1E2761"/>
                </a:solidFill>
                <a:latin typeface="Calibri"/>
              </a:rPr>
              <a:t>●  </a:t>
            </a:r>
            <a:r>
              <a:rPr sz="1300">
                <a:solidFill>
                  <a:srgbClr val="36454F"/>
                </a:solidFill>
                <a:latin typeface="Calibri"/>
              </a:rPr>
              <a:t>ProtoNet scales FASTER than GoS.</a:t>
            </a:r>
          </a:p>
          <a:p>
            <a:pPr algn="l">
              <a:lnSpc>
                <a:spcPct val="125000"/>
              </a:lnSpc>
              <a:spcAft>
                <a:spcPts val="400"/>
              </a:spcAft>
            </a:pPr>
            <a:r>
              <a:rPr sz="1300" b="1">
                <a:solidFill>
                  <a:srgbClr val="1E2761"/>
                </a:solidFill>
                <a:latin typeface="Calibri"/>
              </a:rPr>
              <a:t>●  </a:t>
            </a:r>
            <a:r>
              <a:rPr sz="1300">
                <a:solidFill>
                  <a:srgbClr val="36454F"/>
                </a:solidFill>
                <a:latin typeface="Calibri"/>
              </a:rPr>
              <a:t>Gap widens with more supervision.</a:t>
            </a:r>
          </a:p>
          <a:p>
            <a:pPr algn="l">
              <a:lnSpc>
                <a:spcPct val="125000"/>
              </a:lnSpc>
              <a:spcAft>
                <a:spcPts val="400"/>
              </a:spcAft>
            </a:pPr>
            <a:r>
              <a:rPr sz="1300" b="1">
                <a:solidFill>
                  <a:srgbClr val="1E2761"/>
                </a:solidFill>
                <a:latin typeface="Calibri"/>
              </a:rPr>
              <a:t>●  </a:t>
            </a:r>
            <a:r>
              <a:rPr sz="1300">
                <a:solidFill>
                  <a:srgbClr val="36454F"/>
                </a:solidFill>
                <a:latin typeface="Calibri"/>
              </a:rPr>
              <a:t>Diagnosis: meta-GNN hurts an already-separable embedding.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RESULTS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Training Dynamics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20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pic>
        <p:nvPicPr>
          <p:cNvPr id="8" name="Picture 7" descr="fig1_training_dynamics.png"/>
          <p:cNvPicPr>
            <a:picLocks noChangeAspect="1"/>
          </p:cNvPicPr>
          <p:nvPr/>
        </p:nvPicPr>
        <p:blipFill>
          <a:blip r:embed="rId2"/>
          <a:stretch>
            <a:fillRect/>
          </a:stretch>
        </p:blipFill>
        <p:spPr>
          <a:xfrm>
            <a:off x="502920" y="1737360"/>
            <a:ext cx="11155680" cy="4023360"/>
          </a:xfrm>
          <a:prstGeom prst="rect">
            <a:avLst/>
          </a:prstGeom>
        </p:spPr>
      </p:pic>
      <p:sp>
        <p:nvSpPr>
          <p:cNvPr id="9" name="TextBox 8"/>
          <p:cNvSpPr txBox="1"/>
          <p:nvPr/>
        </p:nvSpPr>
        <p:spPr>
          <a:xfrm>
            <a:off x="502920" y="5897880"/>
            <a:ext cx="11185855" cy="365760"/>
          </a:xfrm>
          <a:prstGeom prst="rect">
            <a:avLst/>
          </a:prstGeom>
          <a:noFill/>
        </p:spPr>
        <p:txBody>
          <a:bodyPr wrap="square" lIns="45720" rIns="45720" tIns="18288" bIns="18288" anchor="t">
            <a:spAutoFit/>
          </a:bodyPr>
          <a:lstStyle/>
          <a:p>
            <a:pPr algn="ctr"/>
            <a:r>
              <a:rPr sz="1100" b="0" i="1">
                <a:solidFill>
                  <a:srgbClr val="888A90"/>
                </a:solidFill>
                <a:latin typeface="Calibri"/>
              </a:rPr>
              <a:t>Summary visualization reconstructed from log peak + early-stop episode.  ▼ = best checkpoint.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SUMMARY</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Part I — Takeaways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21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11185855" cy="4572000"/>
          </a:xfrm>
          <a:prstGeom prst="rect">
            <a:avLst/>
          </a:prstGeom>
          <a:noFill/>
        </p:spPr>
        <p:txBody>
          <a:bodyPr wrap="square" lIns="45720" rIns="45720">
            <a:spAutoFit/>
          </a:bodyPr>
          <a:lstStyle/>
          <a:p>
            <a:pPr algn="l">
              <a:lnSpc>
                <a:spcPct val="125000"/>
              </a:lnSpc>
              <a:spcAft>
                <a:spcPts val="400"/>
              </a:spcAft>
            </a:pPr>
            <a:r>
              <a:rPr sz="1700" b="1">
                <a:solidFill>
                  <a:srgbClr val="1E2761"/>
                </a:solidFill>
                <a:latin typeface="Calibri"/>
              </a:rPr>
              <a:t>●  </a:t>
            </a:r>
            <a:r>
              <a:rPr sz="1700">
                <a:solidFill>
                  <a:srgbClr val="36454F"/>
                </a:solidFill>
                <a:latin typeface="Calibri"/>
              </a:rPr>
              <a:t>ProtoNet is a surprisingly strong benchmark on merged MoleculeNet.</a:t>
            </a:r>
          </a:p>
          <a:p>
            <a:pPr algn="l">
              <a:lnSpc>
                <a:spcPct val="125000"/>
              </a:lnSpc>
              <a:spcAft>
                <a:spcPts val="400"/>
              </a:spcAft>
            </a:pPr>
            <a:r>
              <a:rPr sz="1700" b="1">
                <a:solidFill>
                  <a:srgbClr val="1E2761"/>
                </a:solidFill>
                <a:latin typeface="Calibri"/>
              </a:rPr>
              <a:t>●  </a:t>
            </a:r>
            <a:r>
              <a:rPr sz="1700">
                <a:solidFill>
                  <a:srgbClr val="36454F"/>
                </a:solidFill>
                <a:latin typeface="Calibri"/>
              </a:rPr>
              <a:t>GoS v1 is consistently above MAML but falls short of ProtoNet (~13 pp at 5w5s).</a:t>
            </a:r>
          </a:p>
          <a:p>
            <a:pPr algn="l">
              <a:lnSpc>
                <a:spcPct val="125000"/>
              </a:lnSpc>
              <a:spcAft>
                <a:spcPts val="400"/>
              </a:spcAft>
            </a:pPr>
            <a:r>
              <a:rPr sz="1700" b="1">
                <a:solidFill>
                  <a:srgbClr val="1E2761"/>
                </a:solidFill>
                <a:latin typeface="Calibri"/>
              </a:rPr>
              <a:t>●  </a:t>
            </a:r>
            <a:r>
              <a:rPr sz="1700">
                <a:solidFill>
                  <a:srgbClr val="36454F"/>
                </a:solidFill>
                <a:latin typeface="Calibri"/>
              </a:rPr>
              <a:t>Dense meta-graphs over-smooth — sparsification at k=3 wins.</a:t>
            </a:r>
          </a:p>
          <a:p>
            <a:pPr algn="l">
              <a:lnSpc>
                <a:spcPct val="125000"/>
              </a:lnSpc>
              <a:spcAft>
                <a:spcPts val="400"/>
              </a:spcAft>
            </a:pPr>
            <a:r>
              <a:rPr sz="1700" b="1">
                <a:solidFill>
                  <a:srgbClr val="1E2761"/>
                </a:solidFill>
                <a:latin typeface="Calibri"/>
              </a:rPr>
              <a:t>●  </a:t>
            </a:r>
            <a:r>
              <a:rPr sz="1700">
                <a:solidFill>
                  <a:srgbClr val="36454F"/>
                </a:solidFill>
                <a:latin typeface="Calibri"/>
              </a:rPr>
              <a:t>Shared classifier heads collapse in episodic training — prototype / metric heads are the safe default.</a:t>
            </a:r>
          </a:p>
          <a:p>
            <a:pPr algn="l" lvl="1">
              <a:lnSpc>
                <a:spcPct val="125000"/>
              </a:lnSpc>
              <a:spcAft>
                <a:spcPts val="400"/>
              </a:spcAft>
            </a:pPr>
            <a:r>
              <a:rPr sz="1500" b="0">
                <a:solidFill>
                  <a:srgbClr val="888A90"/>
                </a:solidFill>
                <a:latin typeface="Calibri"/>
              </a:rPr>
              <a:t>·  </a:t>
            </a:r>
            <a:r>
              <a:rPr sz="1500">
                <a:solidFill>
                  <a:srgbClr val="36454F"/>
                </a:solidFill>
                <a:latin typeface="Calibri"/>
              </a:rPr>
              <a:t>→ all five of our v2 modifications target these diagnosed failure modes.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2834640"/>
            <a:ext cx="12191695" cy="10972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0"/>
            <a:ext cx="11185855" cy="731520"/>
          </a:xfrm>
          <a:prstGeom prst="rect">
            <a:avLst/>
          </a:prstGeom>
          <a:noFill/>
        </p:spPr>
        <p:txBody>
          <a:bodyPr wrap="square" lIns="45720" rIns="45720" tIns="18288" bIns="18288" anchor="t">
            <a:spAutoFit/>
          </a:bodyPr>
          <a:lstStyle/>
          <a:p>
            <a:pPr algn="l"/>
            <a:r>
              <a:rPr sz="4800" b="1" i="0">
                <a:solidFill>
                  <a:srgbClr val="CADCFC"/>
                </a:solidFill>
                <a:latin typeface="Calibri"/>
              </a:rPr>
              <a:t>Part II</a:t>
            </a:r>
          </a:p>
        </p:txBody>
      </p:sp>
      <p:sp>
        <p:nvSpPr>
          <p:cNvPr id="4" name="TextBox 3"/>
          <p:cNvSpPr txBox="1"/>
          <p:nvPr/>
        </p:nvSpPr>
        <p:spPr>
          <a:xfrm>
            <a:off x="502920" y="3200400"/>
            <a:ext cx="11185855" cy="1097280"/>
          </a:xfrm>
          <a:prstGeom prst="rect">
            <a:avLst/>
          </a:prstGeom>
          <a:noFill/>
        </p:spPr>
        <p:txBody>
          <a:bodyPr wrap="square" lIns="45720" rIns="45720" tIns="18288" bIns="18288" anchor="t">
            <a:spAutoFit/>
          </a:bodyPr>
          <a:lstStyle/>
          <a:p>
            <a:pPr algn="l"/>
            <a:r>
              <a:rPr sz="3600" b="1" i="0">
                <a:solidFill>
                  <a:srgbClr val="FFFFFF"/>
                </a:solidFill>
                <a:latin typeface="Calibri"/>
              </a:rPr>
              <a:t>Graph-of-Shots v2 — Closing the Gap</a:t>
            </a:r>
          </a:p>
        </p:txBody>
      </p:sp>
      <p:sp>
        <p:nvSpPr>
          <p:cNvPr id="5" name="TextBox 4"/>
          <p:cNvSpPr txBox="1"/>
          <p:nvPr/>
        </p:nvSpPr>
        <p:spPr>
          <a:xfrm>
            <a:off x="502920" y="4114800"/>
            <a:ext cx="11185855" cy="457200"/>
          </a:xfrm>
          <a:prstGeom prst="rect">
            <a:avLst/>
          </a:prstGeom>
          <a:noFill/>
        </p:spPr>
        <p:txBody>
          <a:bodyPr wrap="square" lIns="45720" rIns="45720" tIns="18288" bIns="18288" anchor="t">
            <a:spAutoFit/>
          </a:bodyPr>
          <a:lstStyle/>
          <a:p>
            <a:pPr algn="l"/>
            <a:r>
              <a:rPr sz="1800" b="0" i="1">
                <a:solidFill>
                  <a:srgbClr val="CADCFC"/>
                </a:solidFill>
                <a:latin typeface="Calibri"/>
              </a:rPr>
              <a:t>Diagnosis  ·  Five modifications  ·  Five new ablations  ·  Roadmap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DIAGNOSIS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Diagnosis — Why GoS v1 Loses to ProtoNet</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22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11185855" cy="2926080"/>
          </a:xfrm>
          <a:prstGeom prst="rect">
            <a:avLst/>
          </a:prstGeom>
          <a:noFill/>
        </p:spPr>
        <p:txBody>
          <a:bodyPr wrap="square" lIns="45720" rIns="45720">
            <a:spAutoFit/>
          </a:bodyPr>
          <a:lstStyle/>
          <a:p>
            <a:pPr algn="l">
              <a:lnSpc>
                <a:spcPct val="125000"/>
              </a:lnSpc>
              <a:spcAft>
                <a:spcPts val="400"/>
              </a:spcAft>
            </a:pPr>
            <a:r>
              <a:rPr sz="1700" b="1">
                <a:solidFill>
                  <a:srgbClr val="1E2761"/>
                </a:solidFill>
                <a:latin typeface="Calibri"/>
              </a:rPr>
              <a:t>●  </a:t>
            </a:r>
            <a:r>
              <a:rPr sz="1700">
                <a:solidFill>
                  <a:srgbClr val="36454F"/>
                </a:solidFill>
                <a:latin typeface="Calibri"/>
              </a:rPr>
              <a:t>Obs. 1:  kNN k=3 &gt; k=5 &gt; k=10 &gt; k=100 → GCN over-smoothing.</a:t>
            </a:r>
          </a:p>
          <a:p>
            <a:pPr algn="l">
              <a:lnSpc>
                <a:spcPct val="125000"/>
              </a:lnSpc>
              <a:spcAft>
                <a:spcPts val="400"/>
              </a:spcAft>
            </a:pPr>
            <a:r>
              <a:rPr sz="1700" b="1">
                <a:solidFill>
                  <a:srgbClr val="1E2761"/>
                </a:solidFill>
                <a:latin typeface="Calibri"/>
              </a:rPr>
              <a:t>●  </a:t>
            </a:r>
            <a:r>
              <a:rPr sz="1700">
                <a:solidFill>
                  <a:srgbClr val="36454F"/>
                </a:solidFill>
                <a:latin typeface="Calibri"/>
              </a:rPr>
              <a:t>Obs. 2:  ProtoNet val 0.716 vs GoS 0.572 → meta-GNN HURTS a representation ProtoNet already classifies.</a:t>
            </a:r>
          </a:p>
          <a:p>
            <a:pPr algn="l">
              <a:lnSpc>
                <a:spcPct val="125000"/>
              </a:lnSpc>
              <a:spcAft>
                <a:spcPts val="400"/>
              </a:spcAft>
            </a:pPr>
            <a:r>
              <a:rPr sz="1700" b="1">
                <a:solidFill>
                  <a:srgbClr val="1E2761"/>
                </a:solidFill>
                <a:latin typeface="Calibri"/>
              </a:rPr>
              <a:t>●  </a:t>
            </a:r>
            <a:r>
              <a:rPr sz="1700">
                <a:solidFill>
                  <a:srgbClr val="36454F"/>
                </a:solidFill>
                <a:latin typeface="Calibri"/>
              </a:rPr>
              <a:t>Obs. 3:  affinity variants differ by &lt; 2 pp → expressivity of g() is NOT the bottleneck.</a:t>
            </a:r>
          </a:p>
        </p:txBody>
      </p:sp>
      <p:sp>
        <p:nvSpPr>
          <p:cNvPr id="9" name="Rectangle 8"/>
          <p:cNvSpPr/>
          <p:nvPr/>
        </p:nvSpPr>
        <p:spPr>
          <a:xfrm>
            <a:off x="502920" y="4572000"/>
            <a:ext cx="11185855" cy="16459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663440"/>
            <a:ext cx="10637215" cy="457200"/>
          </a:xfrm>
          <a:prstGeom prst="rect">
            <a:avLst/>
          </a:prstGeom>
          <a:noFill/>
        </p:spPr>
        <p:txBody>
          <a:bodyPr wrap="square" lIns="45720" rIns="45720" tIns="18288" bIns="18288" anchor="t">
            <a:spAutoFit/>
          </a:bodyPr>
          <a:lstStyle/>
          <a:p>
            <a:pPr algn="l"/>
            <a:r>
              <a:rPr sz="1400" b="1" i="0">
                <a:solidFill>
                  <a:srgbClr val="FFFFFF"/>
                </a:solidFill>
                <a:latin typeface="Calibri"/>
              </a:rPr>
              <a:t>ROOT CAUSE</a:t>
            </a:r>
          </a:p>
        </p:txBody>
      </p:sp>
      <p:sp>
        <p:nvSpPr>
          <p:cNvPr id="11" name="TextBox 10"/>
          <p:cNvSpPr txBox="1"/>
          <p:nvPr/>
        </p:nvSpPr>
        <p:spPr>
          <a:xfrm>
            <a:off x="777240" y="5074920"/>
            <a:ext cx="10637215" cy="1005840"/>
          </a:xfrm>
          <a:prstGeom prst="rect">
            <a:avLst/>
          </a:prstGeom>
          <a:noFill/>
        </p:spPr>
        <p:txBody>
          <a:bodyPr wrap="square" lIns="45720" rIns="45720" tIns="18288" bIns="18288" anchor="t">
            <a:spAutoFit/>
          </a:bodyPr>
          <a:lstStyle/>
          <a:p>
            <a:pPr algn="l"/>
            <a:r>
              <a:rPr sz="1500" b="0" i="1">
                <a:solidFill>
                  <a:srgbClr val="FFFFFF"/>
                </a:solidFill>
                <a:latin typeface="Calibri"/>
              </a:rPr>
              <a:t>The meta-GNN replaces the encoder embedding at prototype time; over-smoothing destroys the class separability that was already there.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DESIGN</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GoS v2 — Design Overview</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23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828800"/>
            <a:ext cx="2164019" cy="6400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M1</a:t>
            </a:r>
          </a:p>
        </p:txBody>
      </p:sp>
      <p:sp>
        <p:nvSpPr>
          <p:cNvPr id="10" name="Rectangle 9"/>
          <p:cNvSpPr/>
          <p:nvPr/>
        </p:nvSpPr>
        <p:spPr>
          <a:xfrm>
            <a:off x="502920"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Residual prototype</a:t>
            </a:r>
          </a:p>
        </p:txBody>
      </p:sp>
      <p:sp>
        <p:nvSpPr>
          <p:cNvPr id="12" name="TextBox 11"/>
          <p:cNvSpPr txBox="1"/>
          <p:nvPr/>
        </p:nvSpPr>
        <p:spPr>
          <a:xfrm>
            <a:off x="548640"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c_n = α·c_enc + (1−α)·c_gnn</a:t>
            </a:r>
          </a:p>
        </p:txBody>
      </p:sp>
      <p:sp>
        <p:nvSpPr>
          <p:cNvPr id="13" name="Rectangle 12"/>
          <p:cNvSpPr/>
          <p:nvPr/>
        </p:nvSpPr>
        <p:spPr>
          <a:xfrm>
            <a:off x="2740091" y="1828800"/>
            <a:ext cx="2164019" cy="6400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0091"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M2</a:t>
            </a:r>
          </a:p>
        </p:txBody>
      </p:sp>
      <p:sp>
        <p:nvSpPr>
          <p:cNvPr id="15" name="Rectangle 14"/>
          <p:cNvSpPr/>
          <p:nvPr/>
        </p:nvSpPr>
        <p:spPr>
          <a:xfrm>
            <a:off x="2740091"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85811"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Shallower meta-GNN</a:t>
            </a:r>
          </a:p>
        </p:txBody>
      </p:sp>
      <p:sp>
        <p:nvSpPr>
          <p:cNvPr id="17" name="TextBox 16"/>
          <p:cNvSpPr txBox="1"/>
          <p:nvPr/>
        </p:nvSpPr>
        <p:spPr>
          <a:xfrm>
            <a:off x="2785811"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1-layer GAT</a:t>
            </a:r>
          </a:p>
        </p:txBody>
      </p:sp>
      <p:sp>
        <p:nvSpPr>
          <p:cNvPr id="18" name="Rectangle 17"/>
          <p:cNvSpPr/>
          <p:nvPr/>
        </p:nvSpPr>
        <p:spPr>
          <a:xfrm>
            <a:off x="4977262" y="1828800"/>
            <a:ext cx="2164019" cy="6400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77262"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M3</a:t>
            </a:r>
          </a:p>
        </p:txBody>
      </p:sp>
      <p:sp>
        <p:nvSpPr>
          <p:cNvPr id="20" name="Rectangle 19"/>
          <p:cNvSpPr/>
          <p:nvPr/>
        </p:nvSpPr>
        <p:spPr>
          <a:xfrm>
            <a:off x="4977262"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2982"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Bipartite messaging</a:t>
            </a:r>
          </a:p>
        </p:txBody>
      </p:sp>
      <p:sp>
        <p:nvSpPr>
          <p:cNvPr id="22" name="TextBox 21"/>
          <p:cNvSpPr txBox="1"/>
          <p:nvPr/>
        </p:nvSpPr>
        <p:spPr>
          <a:xfrm>
            <a:off x="5022982"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mask query→* edges</a:t>
            </a:r>
          </a:p>
        </p:txBody>
      </p:sp>
      <p:sp>
        <p:nvSpPr>
          <p:cNvPr id="23" name="Rectangle 22"/>
          <p:cNvSpPr/>
          <p:nvPr/>
        </p:nvSpPr>
        <p:spPr>
          <a:xfrm>
            <a:off x="7214433" y="1828800"/>
            <a:ext cx="2164019" cy="64008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14433"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M4</a:t>
            </a:r>
          </a:p>
        </p:txBody>
      </p:sp>
      <p:sp>
        <p:nvSpPr>
          <p:cNvPr id="25" name="Rectangle 24"/>
          <p:cNvSpPr/>
          <p:nvPr/>
        </p:nvSpPr>
        <p:spPr>
          <a:xfrm>
            <a:off x="7214433"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153"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Contrastive aux loss</a:t>
            </a:r>
          </a:p>
        </p:txBody>
      </p:sp>
      <p:sp>
        <p:nvSpPr>
          <p:cNvPr id="27" name="TextBox 26"/>
          <p:cNvSpPr txBox="1"/>
          <p:nvPr/>
        </p:nvSpPr>
        <p:spPr>
          <a:xfrm>
            <a:off x="7260153"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InfoNCE on sup–query</a:t>
            </a:r>
          </a:p>
        </p:txBody>
      </p:sp>
      <p:sp>
        <p:nvSpPr>
          <p:cNvPr id="28" name="Rectangle 27"/>
          <p:cNvSpPr/>
          <p:nvPr/>
        </p:nvSpPr>
        <p:spPr>
          <a:xfrm>
            <a:off x="9451604" y="1828800"/>
            <a:ext cx="2164019" cy="64008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51604"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M5</a:t>
            </a:r>
          </a:p>
        </p:txBody>
      </p:sp>
      <p:sp>
        <p:nvSpPr>
          <p:cNvPr id="30" name="Rectangle 29"/>
          <p:cNvSpPr/>
          <p:nvPr/>
        </p:nvSpPr>
        <p:spPr>
          <a:xfrm>
            <a:off x="9451604"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7324"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SSL pretraining</a:t>
            </a:r>
          </a:p>
        </p:txBody>
      </p:sp>
      <p:sp>
        <p:nvSpPr>
          <p:cNvPr id="32" name="TextBox 31"/>
          <p:cNvSpPr txBox="1"/>
          <p:nvPr/>
        </p:nvSpPr>
        <p:spPr>
          <a:xfrm>
            <a:off x="9497324"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MolCLR encoder init</a:t>
            </a:r>
          </a:p>
        </p:txBody>
      </p:sp>
      <p:sp>
        <p:nvSpPr>
          <p:cNvPr id="33" name="Rectangle 32"/>
          <p:cNvSpPr/>
          <p:nvPr/>
        </p:nvSpPr>
        <p:spPr>
          <a:xfrm>
            <a:off x="502920" y="5120640"/>
            <a:ext cx="11185855" cy="109728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5257800"/>
            <a:ext cx="10820095" cy="914400"/>
          </a:xfrm>
          <a:prstGeom prst="rect">
            <a:avLst/>
          </a:prstGeom>
          <a:noFill/>
        </p:spPr>
        <p:txBody>
          <a:bodyPr wrap="square" lIns="45720" rIns="45720" tIns="18288" bIns="18288" anchor="ctr">
            <a:spAutoFit/>
          </a:bodyPr>
          <a:lstStyle/>
          <a:p>
            <a:pPr algn="ctr"/>
            <a:r>
              <a:rPr sz="1400" b="0" i="1">
                <a:solidFill>
                  <a:srgbClr val="1E2761"/>
                </a:solidFill>
                <a:latin typeface="Calibri"/>
              </a:rPr>
              <a:t>Safety net: at worst (α → 1), v2 recovers ProtoNet. At best, all five modifications compose. Each targets a diagnosed failure mode.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M1 — Residual Prototypes (safety net)</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24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1148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Compute TWO prototype sets per episode:</a:t>
            </a:r>
          </a:p>
          <a:p>
            <a:pPr algn="l" lvl="1">
              <a:lnSpc>
                <a:spcPct val="125000"/>
              </a:lnSpc>
              <a:spcAft>
                <a:spcPts val="400"/>
              </a:spcAft>
            </a:pPr>
            <a:r>
              <a:rPr sz="1300" b="0">
                <a:solidFill>
                  <a:srgbClr val="888A90"/>
                </a:solidFill>
                <a:latin typeface="Calibri"/>
              </a:rPr>
              <a:t>·  </a:t>
            </a:r>
            <a:r>
              <a:rPr sz="1300">
                <a:solidFill>
                  <a:srgbClr val="36454F"/>
                </a:solidFill>
                <a:latin typeface="Calibri"/>
              </a:rPr>
              <a:t>c_n^(enc) — from raw encoder embeddings</a:t>
            </a:r>
          </a:p>
          <a:p>
            <a:pPr algn="l" lvl="1">
              <a:lnSpc>
                <a:spcPct val="125000"/>
              </a:lnSpc>
              <a:spcAft>
                <a:spcPts val="400"/>
              </a:spcAft>
            </a:pPr>
            <a:r>
              <a:rPr sz="1300" b="0">
                <a:solidFill>
                  <a:srgbClr val="888A90"/>
                </a:solidFill>
                <a:latin typeface="Calibri"/>
              </a:rPr>
              <a:t>·  </a:t>
            </a:r>
            <a:r>
              <a:rPr sz="1300">
                <a:solidFill>
                  <a:srgbClr val="36454F"/>
                </a:solidFill>
                <a:latin typeface="Calibri"/>
              </a:rPr>
              <a:t>c_n^(gnn) — from meta-GNN refined features</a:t>
            </a:r>
          </a:p>
          <a:p>
            <a:pPr algn="l">
              <a:lnSpc>
                <a:spcPct val="125000"/>
              </a:lnSpc>
              <a:spcAft>
                <a:spcPts val="400"/>
              </a:spcAft>
            </a:pPr>
            <a:r>
              <a:rPr sz="1500" b="1">
                <a:solidFill>
                  <a:srgbClr val="1E2761"/>
                </a:solidFill>
                <a:latin typeface="Calibri"/>
              </a:rPr>
              <a:t>●  </a:t>
            </a:r>
            <a:r>
              <a:rPr sz="1500">
                <a:solidFill>
                  <a:srgbClr val="36454F"/>
                </a:solidFill>
                <a:latin typeface="Calibri"/>
              </a:rPr>
              <a:t>Mix with a learnable α (init 0.7):</a:t>
            </a:r>
          </a:p>
          <a:p>
            <a:pPr algn="l" lvl="1">
              <a:lnSpc>
                <a:spcPct val="125000"/>
              </a:lnSpc>
              <a:spcAft>
                <a:spcPts val="400"/>
              </a:spcAft>
            </a:pPr>
            <a:r>
              <a:rPr sz="1300" b="0">
                <a:solidFill>
                  <a:srgbClr val="888A90"/>
                </a:solidFill>
                <a:latin typeface="Calibri"/>
              </a:rPr>
              <a:t>·  </a:t>
            </a:r>
            <a:r>
              <a:rPr sz="1300">
                <a:solidFill>
                  <a:srgbClr val="36454F"/>
                </a:solidFill>
                <a:latin typeface="Calibri"/>
              </a:rPr>
              <a:t>α → 1  recovers ProtoNet</a:t>
            </a:r>
          </a:p>
          <a:p>
            <a:pPr algn="l" lvl="1">
              <a:lnSpc>
                <a:spcPct val="125000"/>
              </a:lnSpc>
              <a:spcAft>
                <a:spcPts val="400"/>
              </a:spcAft>
            </a:pPr>
            <a:r>
              <a:rPr sz="1300" b="0">
                <a:solidFill>
                  <a:srgbClr val="888A90"/>
                </a:solidFill>
                <a:latin typeface="Calibri"/>
              </a:rPr>
              <a:t>·  </a:t>
            </a:r>
            <a:r>
              <a:rPr sz="1300">
                <a:solidFill>
                  <a:srgbClr val="36454F"/>
                </a:solidFill>
                <a:latin typeface="Calibri"/>
              </a:rPr>
              <a:t>α → 0  recovers GoS v1</a:t>
            </a:r>
          </a:p>
          <a:p>
            <a:pPr algn="l">
              <a:lnSpc>
                <a:spcPct val="125000"/>
              </a:lnSpc>
              <a:spcAft>
                <a:spcPts val="400"/>
              </a:spcAft>
            </a:pPr>
            <a:r>
              <a:rPr sz="1500" b="1">
                <a:solidFill>
                  <a:srgbClr val="1E2761"/>
                </a:solidFill>
                <a:latin typeface="Calibri"/>
              </a:rPr>
              <a:t>●  </a:t>
            </a:r>
            <a:r>
              <a:rPr sz="1500">
                <a:solidFill>
                  <a:srgbClr val="36454F"/>
                </a:solidFill>
                <a:latin typeface="Calibri"/>
              </a:rPr>
              <a:t>Ablation A1: sweep α ∈ {0, 0.3, 0.5, 0.7, 1.0}.</a:t>
            </a:r>
          </a:p>
        </p:txBody>
      </p:sp>
      <p:sp>
        <p:nvSpPr>
          <p:cNvPr id="9" name="TextBox 8"/>
          <p:cNvSpPr txBox="1"/>
          <p:nvPr/>
        </p:nvSpPr>
        <p:spPr>
          <a:xfrm>
            <a:off x="7498079" y="1920240"/>
            <a:ext cx="4572000" cy="3200400"/>
          </a:xfrm>
          <a:prstGeom prst="rect">
            <a:avLst/>
          </a:prstGeom>
          <a:noFill/>
        </p:spPr>
        <p:txBody>
          <a:bodyPr wrap="square" tIns="73152" bIns="73152">
            <a:spAutoFit/>
          </a:bodyPr>
          <a:lstStyle/>
          <a:p>
            <a:pPr algn="l">
              <a:lnSpc>
                <a:spcPct val="115000"/>
              </a:lnSpc>
            </a:pPr>
            <a:r>
              <a:rPr sz="1300">
                <a:solidFill>
                  <a:srgbClr val="1E2761"/>
                </a:solidFill>
                <a:latin typeface="Consolas"/>
              </a:rPr>
              <a:t> c_n = α·c_n^(enc) + (1−α)·c_n^(gnn)</a:t>
            </a:r>
          </a:p>
          <a:p>
            <a:pPr algn="l">
              <a:lnSpc>
                <a:spcPct val="115000"/>
              </a:lnSpc>
            </a:pPr>
            <a:r>
              <a:rPr sz="1300">
                <a:solidFill>
                  <a:srgbClr val="1E2761"/>
                </a:solidFill>
                <a:latin typeface="Consolas"/>
              </a:rPr>
              <a:t/>
            </a:r>
          </a:p>
          <a:p>
            <a:pPr algn="l">
              <a:lnSpc>
                <a:spcPct val="115000"/>
              </a:lnSpc>
            </a:pPr>
            <a:r>
              <a:rPr sz="1300">
                <a:solidFill>
                  <a:srgbClr val="1E2761"/>
                </a:solidFill>
                <a:latin typeface="Consolas"/>
              </a:rPr>
              <a:t> p(y=n|G_q)</a:t>
            </a:r>
          </a:p>
          <a:p>
            <a:pPr algn="l">
              <a:lnSpc>
                <a:spcPct val="115000"/>
              </a:lnSpc>
            </a:pPr>
            <a:r>
              <a:rPr sz="1300">
                <a:solidFill>
                  <a:srgbClr val="1E2761"/>
                </a:solidFill>
                <a:latin typeface="Consolas"/>
              </a:rPr>
              <a:t>   ∝ exp(−‖z_q^(L) − c_n‖²)</a:t>
            </a:r>
          </a:p>
          <a:p>
            <a:pPr algn="l">
              <a:lnSpc>
                <a:spcPct val="115000"/>
              </a:lnSpc>
            </a:pPr>
            <a:r>
              <a:rPr sz="1300">
                <a:solidFill>
                  <a:srgbClr val="1E2761"/>
                </a:solidFill>
                <a:latin typeface="Consolas"/>
              </a:rPr>
              <a:t/>
            </a:r>
          </a:p>
          <a:p>
            <a:pPr algn="l">
              <a:lnSpc>
                <a:spcPct val="115000"/>
              </a:lnSpc>
            </a:pPr>
            <a:r>
              <a:rPr sz="1300">
                <a:solidFill>
                  <a:srgbClr val="1E2761"/>
                </a:solidFill>
                <a:latin typeface="Consolas"/>
              </a:rPr>
              <a:t> α ∈ [0, 1]  learnable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M2 — Shallower Attention Meta-GNN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25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1148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Replace 2-layer weighted GCN with 1-layer graph attention.</a:t>
            </a:r>
          </a:p>
          <a:p>
            <a:pPr algn="l">
              <a:lnSpc>
                <a:spcPct val="125000"/>
              </a:lnSpc>
              <a:spcAft>
                <a:spcPts val="400"/>
              </a:spcAft>
            </a:pPr>
            <a:r>
              <a:rPr sz="1500" b="1">
                <a:solidFill>
                  <a:srgbClr val="1E2761"/>
                </a:solidFill>
                <a:latin typeface="Calibri"/>
              </a:rPr>
              <a:t>●  </a:t>
            </a:r>
            <a:r>
              <a:rPr sz="1500">
                <a:solidFill>
                  <a:srgbClr val="36454F"/>
                </a:solidFill>
                <a:latin typeface="Calibri"/>
              </a:rPr>
              <a:t>Why:</a:t>
            </a:r>
          </a:p>
          <a:p>
            <a:pPr algn="l" lvl="1">
              <a:lnSpc>
                <a:spcPct val="125000"/>
              </a:lnSpc>
              <a:spcAft>
                <a:spcPts val="400"/>
              </a:spcAft>
            </a:pPr>
            <a:r>
              <a:rPr sz="1300" b="0">
                <a:solidFill>
                  <a:srgbClr val="888A90"/>
                </a:solidFill>
                <a:latin typeface="Calibri"/>
              </a:rPr>
              <a:t>·  </a:t>
            </a:r>
            <a:r>
              <a:rPr sz="1300">
                <a:solidFill>
                  <a:srgbClr val="36454F"/>
                </a:solidFill>
                <a:latin typeface="Calibri"/>
              </a:rPr>
              <a:t>attention is self-normalising → sub-linear over-smoothing.</a:t>
            </a:r>
          </a:p>
          <a:p>
            <a:pPr algn="l" lvl="1">
              <a:lnSpc>
                <a:spcPct val="125000"/>
              </a:lnSpc>
              <a:spcAft>
                <a:spcPts val="400"/>
              </a:spcAft>
            </a:pPr>
            <a:r>
              <a:rPr sz="1300" b="0">
                <a:solidFill>
                  <a:srgbClr val="888A90"/>
                </a:solidFill>
                <a:latin typeface="Calibri"/>
              </a:rPr>
              <a:t>·  </a:t>
            </a:r>
            <a:r>
              <a:rPr sz="1300">
                <a:solidFill>
                  <a:srgbClr val="36454F"/>
                </a:solidFill>
                <a:latin typeface="Calibri"/>
              </a:rPr>
              <a:t>one layer reaches every support from any query (~40 nodes / episode).</a:t>
            </a:r>
          </a:p>
          <a:p>
            <a:pPr algn="l">
              <a:lnSpc>
                <a:spcPct val="125000"/>
              </a:lnSpc>
              <a:spcAft>
                <a:spcPts val="400"/>
              </a:spcAft>
            </a:pPr>
            <a:r>
              <a:rPr sz="1500" b="1">
                <a:solidFill>
                  <a:srgbClr val="1E2761"/>
                </a:solidFill>
                <a:latin typeface="Calibri"/>
              </a:rPr>
              <a:t>●  </a:t>
            </a:r>
            <a:r>
              <a:rPr sz="1500">
                <a:solidFill>
                  <a:srgbClr val="36454F"/>
                </a:solidFill>
                <a:latin typeface="Calibri"/>
              </a:rPr>
              <a:t>Affinity weight injected as log-bias into attention logits.</a:t>
            </a:r>
          </a:p>
          <a:p>
            <a:pPr algn="l">
              <a:lnSpc>
                <a:spcPct val="125000"/>
              </a:lnSpc>
              <a:spcAft>
                <a:spcPts val="400"/>
              </a:spcAft>
            </a:pPr>
            <a:r>
              <a:rPr sz="1500" b="1">
                <a:solidFill>
                  <a:srgbClr val="1E2761"/>
                </a:solidFill>
                <a:latin typeface="Calibri"/>
              </a:rPr>
              <a:t>●  </a:t>
            </a:r>
            <a:r>
              <a:rPr sz="1500">
                <a:solidFill>
                  <a:srgbClr val="36454F"/>
                </a:solidFill>
                <a:latin typeface="Calibri"/>
              </a:rPr>
              <a:t>Ablation A2: {1, 2, 3} layers × {GCN, GAT}.</a:t>
            </a:r>
          </a:p>
        </p:txBody>
      </p:sp>
      <p:sp>
        <p:nvSpPr>
          <p:cNvPr id="9" name="TextBox 8"/>
          <p:cNvSpPr txBox="1"/>
          <p:nvPr/>
        </p:nvSpPr>
        <p:spPr>
          <a:xfrm>
            <a:off x="7498079" y="1920240"/>
            <a:ext cx="4572000" cy="3200400"/>
          </a:xfrm>
          <a:prstGeom prst="rect">
            <a:avLst/>
          </a:prstGeom>
          <a:noFill/>
        </p:spPr>
        <p:txBody>
          <a:bodyPr wrap="square" tIns="73152" bIns="73152">
            <a:spAutoFit/>
          </a:bodyPr>
          <a:lstStyle/>
          <a:p>
            <a:pPr algn="l">
              <a:lnSpc>
                <a:spcPct val="115000"/>
              </a:lnSpc>
            </a:pPr>
            <a:r>
              <a:rPr sz="1200">
                <a:solidFill>
                  <a:srgbClr val="1E2761"/>
                </a:solidFill>
                <a:latin typeface="Consolas"/>
              </a:rPr>
              <a:t> a_ij = softmax_j(</a:t>
            </a:r>
          </a:p>
          <a:p>
            <a:pPr algn="l">
              <a:lnSpc>
                <a:spcPct val="115000"/>
              </a:lnSpc>
            </a:pPr>
            <a:r>
              <a:rPr sz="1200">
                <a:solidFill>
                  <a:srgbClr val="1E2761"/>
                </a:solidFill>
                <a:latin typeface="Consolas"/>
              </a:rPr>
              <a:t>   LeakyReLU(a^T [Wh_i ‖ Wh_j])</a:t>
            </a:r>
          </a:p>
          <a:p>
            <a:pPr algn="l">
              <a:lnSpc>
                <a:spcPct val="115000"/>
              </a:lnSpc>
            </a:pPr>
            <a:r>
              <a:rPr sz="1200">
                <a:solidFill>
                  <a:srgbClr val="1E2761"/>
                </a:solidFill>
                <a:latin typeface="Consolas"/>
              </a:rPr>
              <a:t> )</a:t>
            </a:r>
          </a:p>
          <a:p>
            <a:pPr algn="l">
              <a:lnSpc>
                <a:spcPct val="115000"/>
              </a:lnSpc>
            </a:pPr>
            <a:r>
              <a:rPr sz="1200">
                <a:solidFill>
                  <a:srgbClr val="1E2761"/>
                </a:solidFill>
                <a:latin typeface="Consolas"/>
              </a:rPr>
              <a:t/>
            </a:r>
          </a:p>
          <a:p>
            <a:pPr algn="l">
              <a:lnSpc>
                <a:spcPct val="115000"/>
              </a:lnSpc>
            </a:pPr>
            <a:r>
              <a:rPr sz="1200">
                <a:solidFill>
                  <a:srgbClr val="1E2761"/>
                </a:solidFill>
                <a:latin typeface="Consolas"/>
              </a:rPr>
              <a:t> z_i = σ(Σ_j a_ij · W h_j)</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M3 — Bipartite Message Passing</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26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1148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Insight: query nodes carry no label → messages BETWEEN queries are noise.</a:t>
            </a:r>
          </a:p>
          <a:p>
            <a:pPr algn="l">
              <a:lnSpc>
                <a:spcPct val="125000"/>
              </a:lnSpc>
              <a:spcAft>
                <a:spcPts val="400"/>
              </a:spcAft>
            </a:pPr>
            <a:r>
              <a:rPr sz="1500" b="1">
                <a:solidFill>
                  <a:srgbClr val="1E2761"/>
                </a:solidFill>
                <a:latin typeface="Calibri"/>
              </a:rPr>
              <a:t>●  </a:t>
            </a:r>
            <a:r>
              <a:rPr sz="1500">
                <a:solidFill>
                  <a:srgbClr val="36454F"/>
                </a:solidFill>
                <a:latin typeface="Calibri"/>
              </a:rPr>
              <a:t>Mask edges to restrict flow:</a:t>
            </a:r>
          </a:p>
          <a:p>
            <a:pPr algn="l" lvl="1">
              <a:lnSpc>
                <a:spcPct val="125000"/>
              </a:lnSpc>
              <a:spcAft>
                <a:spcPts val="400"/>
              </a:spcAft>
            </a:pPr>
            <a:r>
              <a:rPr sz="1300" b="0">
                <a:solidFill>
                  <a:srgbClr val="888A90"/>
                </a:solidFill>
                <a:latin typeface="Calibri"/>
              </a:rPr>
              <a:t>·  </a:t>
            </a:r>
            <a:r>
              <a:rPr sz="1300">
                <a:solidFill>
                  <a:srgbClr val="36454F"/>
                </a:solidFill>
                <a:latin typeface="Calibri"/>
              </a:rPr>
              <a:t>support → support : kept  (refine each other)</a:t>
            </a:r>
          </a:p>
          <a:p>
            <a:pPr algn="l" lvl="1">
              <a:lnSpc>
                <a:spcPct val="125000"/>
              </a:lnSpc>
              <a:spcAft>
                <a:spcPts val="400"/>
              </a:spcAft>
            </a:pPr>
            <a:r>
              <a:rPr sz="1300" b="0">
                <a:solidFill>
                  <a:srgbClr val="888A90"/>
                </a:solidFill>
                <a:latin typeface="Calibri"/>
              </a:rPr>
              <a:t>·  </a:t>
            </a:r>
            <a:r>
              <a:rPr sz="1300">
                <a:solidFill>
                  <a:srgbClr val="36454F"/>
                </a:solidFill>
                <a:latin typeface="Calibri"/>
              </a:rPr>
              <a:t>support → query   : kept  (label diffusion)</a:t>
            </a:r>
          </a:p>
          <a:p>
            <a:pPr algn="l" lvl="1">
              <a:lnSpc>
                <a:spcPct val="125000"/>
              </a:lnSpc>
              <a:spcAft>
                <a:spcPts val="400"/>
              </a:spcAft>
            </a:pPr>
            <a:r>
              <a:rPr sz="1300" b="0">
                <a:solidFill>
                  <a:srgbClr val="888A90"/>
                </a:solidFill>
                <a:latin typeface="Calibri"/>
              </a:rPr>
              <a:t>·  </a:t>
            </a:r>
            <a:r>
              <a:rPr sz="1300">
                <a:solidFill>
                  <a:srgbClr val="36454F"/>
                </a:solidFill>
                <a:latin typeface="Calibri"/>
              </a:rPr>
              <a:t>query   → support : removed</a:t>
            </a:r>
          </a:p>
          <a:p>
            <a:pPr algn="l" lvl="1">
              <a:lnSpc>
                <a:spcPct val="125000"/>
              </a:lnSpc>
              <a:spcAft>
                <a:spcPts val="400"/>
              </a:spcAft>
            </a:pPr>
            <a:r>
              <a:rPr sz="1300" b="0">
                <a:solidFill>
                  <a:srgbClr val="888A90"/>
                </a:solidFill>
                <a:latin typeface="Calibri"/>
              </a:rPr>
              <a:t>·  </a:t>
            </a:r>
            <a:r>
              <a:rPr sz="1300">
                <a:solidFill>
                  <a:srgbClr val="36454F"/>
                </a:solidFill>
                <a:latin typeface="Calibri"/>
              </a:rPr>
              <a:t>query   → query   : removed</a:t>
            </a:r>
          </a:p>
          <a:p>
            <a:pPr algn="l">
              <a:lnSpc>
                <a:spcPct val="125000"/>
              </a:lnSpc>
              <a:spcAft>
                <a:spcPts val="400"/>
              </a:spcAft>
            </a:pPr>
            <a:r>
              <a:rPr sz="1500" b="1">
                <a:solidFill>
                  <a:srgbClr val="1E2761"/>
                </a:solidFill>
                <a:latin typeface="Calibri"/>
              </a:rPr>
              <a:t>●  </a:t>
            </a:r>
            <a:r>
              <a:rPr sz="1500">
                <a:solidFill>
                  <a:srgbClr val="36454F"/>
                </a:solidFill>
                <a:latin typeface="Calibri"/>
              </a:rPr>
              <a:t>Ablation A3: full vs. support-only vs. bipartite.</a:t>
            </a:r>
          </a:p>
        </p:txBody>
      </p:sp>
      <p:sp>
        <p:nvSpPr>
          <p:cNvPr id="9" name="Oval 8"/>
          <p:cNvSpPr/>
          <p:nvPr/>
        </p:nvSpPr>
        <p:spPr>
          <a:xfrm>
            <a:off x="7772400" y="2377440"/>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377440"/>
            <a:ext cx="502920" cy="502920"/>
          </a:xfrm>
          <a:prstGeom prst="rect">
            <a:avLst/>
          </a:prstGeom>
          <a:noFill/>
        </p:spPr>
        <p:txBody>
          <a:bodyPr wrap="square" lIns="45720" rIns="45720" tIns="18288" bIns="18288" anchor="ctr">
            <a:spAutoFit/>
          </a:bodyPr>
          <a:lstStyle/>
          <a:p>
            <a:pPr algn="ctr"/>
            <a:r>
              <a:rPr sz="1400" b="1" i="0">
                <a:solidFill>
                  <a:srgbClr val="FFFFFF"/>
                </a:solidFill>
                <a:latin typeface="Calibri"/>
              </a:rPr>
              <a:t>S</a:t>
            </a:r>
          </a:p>
        </p:txBody>
      </p:sp>
      <p:sp>
        <p:nvSpPr>
          <p:cNvPr id="11" name="Oval 10"/>
          <p:cNvSpPr/>
          <p:nvPr/>
        </p:nvSpPr>
        <p:spPr>
          <a:xfrm>
            <a:off x="7772400" y="3108960"/>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3108960"/>
            <a:ext cx="502920" cy="502920"/>
          </a:xfrm>
          <a:prstGeom prst="rect">
            <a:avLst/>
          </a:prstGeom>
          <a:noFill/>
        </p:spPr>
        <p:txBody>
          <a:bodyPr wrap="square" lIns="45720" rIns="45720" tIns="18288" bIns="18288" anchor="ctr">
            <a:spAutoFit/>
          </a:bodyPr>
          <a:lstStyle/>
          <a:p>
            <a:pPr algn="ctr"/>
            <a:r>
              <a:rPr sz="1400" b="1" i="0">
                <a:solidFill>
                  <a:srgbClr val="FFFFFF"/>
                </a:solidFill>
                <a:latin typeface="Calibri"/>
              </a:rPr>
              <a:t>S</a:t>
            </a:r>
          </a:p>
        </p:txBody>
      </p:sp>
      <p:sp>
        <p:nvSpPr>
          <p:cNvPr id="13" name="Oval 12"/>
          <p:cNvSpPr/>
          <p:nvPr/>
        </p:nvSpPr>
        <p:spPr>
          <a:xfrm>
            <a:off x="7772400" y="3840480"/>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3840480"/>
            <a:ext cx="502920" cy="502920"/>
          </a:xfrm>
          <a:prstGeom prst="rect">
            <a:avLst/>
          </a:prstGeom>
          <a:noFill/>
        </p:spPr>
        <p:txBody>
          <a:bodyPr wrap="square" lIns="45720" rIns="45720" tIns="18288" bIns="18288" anchor="ctr">
            <a:spAutoFit/>
          </a:bodyPr>
          <a:lstStyle/>
          <a:p>
            <a:pPr algn="ctr"/>
            <a:r>
              <a:rPr sz="1400" b="1" i="0">
                <a:solidFill>
                  <a:srgbClr val="FFFFFF"/>
                </a:solidFill>
                <a:latin typeface="Calibri"/>
              </a:rPr>
              <a:t>S</a:t>
            </a:r>
          </a:p>
        </p:txBody>
      </p:sp>
      <p:sp>
        <p:nvSpPr>
          <p:cNvPr id="15" name="Oval 14"/>
          <p:cNvSpPr/>
          <p:nvPr/>
        </p:nvSpPr>
        <p:spPr>
          <a:xfrm>
            <a:off x="10698480" y="2377440"/>
            <a:ext cx="502920" cy="502920"/>
          </a:xfrm>
          <a:prstGeom prst="ellipse">
            <a:avLst/>
          </a:prstGeom>
          <a:solidFill>
            <a:srgbClr val="CADCFC"/>
          </a:solidFill>
          <a:ln w="19050">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0" y="2377440"/>
            <a:ext cx="502920" cy="502920"/>
          </a:xfrm>
          <a:prstGeom prst="rect">
            <a:avLst/>
          </a:prstGeom>
          <a:noFill/>
        </p:spPr>
        <p:txBody>
          <a:bodyPr wrap="square" lIns="45720" rIns="45720" tIns="18288" bIns="18288" anchor="ctr">
            <a:spAutoFit/>
          </a:bodyPr>
          <a:lstStyle/>
          <a:p>
            <a:pPr algn="ctr"/>
            <a:r>
              <a:rPr sz="1400" b="1" i="0">
                <a:solidFill>
                  <a:srgbClr val="1E2761"/>
                </a:solidFill>
                <a:latin typeface="Calibri"/>
              </a:rPr>
              <a:t>Q</a:t>
            </a:r>
          </a:p>
        </p:txBody>
      </p:sp>
      <p:sp>
        <p:nvSpPr>
          <p:cNvPr id="17" name="Oval 16"/>
          <p:cNvSpPr/>
          <p:nvPr/>
        </p:nvSpPr>
        <p:spPr>
          <a:xfrm>
            <a:off x="10698480" y="3108960"/>
            <a:ext cx="502920" cy="502920"/>
          </a:xfrm>
          <a:prstGeom prst="ellipse">
            <a:avLst/>
          </a:prstGeom>
          <a:solidFill>
            <a:srgbClr val="CADCFC"/>
          </a:solidFill>
          <a:ln w="19050">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0" y="3108960"/>
            <a:ext cx="502920" cy="502920"/>
          </a:xfrm>
          <a:prstGeom prst="rect">
            <a:avLst/>
          </a:prstGeom>
          <a:noFill/>
        </p:spPr>
        <p:txBody>
          <a:bodyPr wrap="square" lIns="45720" rIns="45720" tIns="18288" bIns="18288" anchor="ctr">
            <a:spAutoFit/>
          </a:bodyPr>
          <a:lstStyle/>
          <a:p>
            <a:pPr algn="ctr"/>
            <a:r>
              <a:rPr sz="1400" b="1" i="0">
                <a:solidFill>
                  <a:srgbClr val="1E2761"/>
                </a:solidFill>
                <a:latin typeface="Calibri"/>
              </a:rPr>
              <a:t>Q</a:t>
            </a:r>
          </a:p>
        </p:txBody>
      </p:sp>
      <p:sp>
        <p:nvSpPr>
          <p:cNvPr id="19" name="Oval 18"/>
          <p:cNvSpPr/>
          <p:nvPr/>
        </p:nvSpPr>
        <p:spPr>
          <a:xfrm>
            <a:off x="10698480" y="3840480"/>
            <a:ext cx="502920" cy="502920"/>
          </a:xfrm>
          <a:prstGeom prst="ellipse">
            <a:avLst/>
          </a:prstGeom>
          <a:solidFill>
            <a:srgbClr val="CADCFC"/>
          </a:solidFill>
          <a:ln w="19050">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0" y="3840480"/>
            <a:ext cx="502920" cy="502920"/>
          </a:xfrm>
          <a:prstGeom prst="rect">
            <a:avLst/>
          </a:prstGeom>
          <a:noFill/>
        </p:spPr>
        <p:txBody>
          <a:bodyPr wrap="square" lIns="45720" rIns="45720" tIns="18288" bIns="18288" anchor="ctr">
            <a:spAutoFit/>
          </a:bodyPr>
          <a:lstStyle/>
          <a:p>
            <a:pPr algn="ctr"/>
            <a:r>
              <a:rPr sz="1400" b="1" i="0">
                <a:solidFill>
                  <a:srgbClr val="1E2761"/>
                </a:solidFill>
                <a:latin typeface="Calibri"/>
              </a:rPr>
              <a:t>Q</a:t>
            </a:r>
          </a:p>
        </p:txBody>
      </p:sp>
      <p:cxnSp>
        <p:nvCxnSpPr>
          <p:cNvPr id="21" name="Connector 20"/>
          <p:cNvCxnSpPr/>
          <p:nvPr/>
        </p:nvCxnSpPr>
        <p:spPr>
          <a:xfrm>
            <a:off x="8275320" y="2628900"/>
            <a:ext cx="2423160" cy="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275320" y="2628900"/>
            <a:ext cx="2423160" cy="73152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275320" y="2628900"/>
            <a:ext cx="2423160" cy="146304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275320" y="2628900"/>
            <a:ext cx="2423160" cy="73152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275320" y="3360420"/>
            <a:ext cx="2423160" cy="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275320" y="3360420"/>
            <a:ext cx="2423160" cy="73152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275320" y="2628900"/>
            <a:ext cx="2423160" cy="146304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275320" y="3360420"/>
            <a:ext cx="2423160" cy="73152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75320" y="4091940"/>
            <a:ext cx="2423160" cy="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0" y="4480560"/>
            <a:ext cx="3474720" cy="365760"/>
          </a:xfrm>
          <a:prstGeom prst="rect">
            <a:avLst/>
          </a:prstGeom>
          <a:noFill/>
        </p:spPr>
        <p:txBody>
          <a:bodyPr wrap="square" lIns="45720" rIns="45720" tIns="18288" bIns="18288" anchor="t">
            <a:spAutoFit/>
          </a:bodyPr>
          <a:lstStyle/>
          <a:p>
            <a:pPr algn="ctr"/>
            <a:r>
              <a:rPr sz="1000" b="0" i="1">
                <a:solidFill>
                  <a:srgbClr val="888A90"/>
                </a:solidFill>
                <a:latin typeface="Calibri"/>
              </a:rPr>
              <a:t>support → query edges kept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M4 — Contrastive Auxiliary Loss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27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1148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For each query q, treat same-class supports as positives, others as negatives.</a:t>
            </a:r>
          </a:p>
          <a:p>
            <a:pPr algn="l">
              <a:lnSpc>
                <a:spcPct val="125000"/>
              </a:lnSpc>
              <a:spcAft>
                <a:spcPts val="400"/>
              </a:spcAft>
            </a:pPr>
            <a:r>
              <a:rPr sz="1500" b="1">
                <a:solidFill>
                  <a:srgbClr val="1E2761"/>
                </a:solidFill>
                <a:latin typeface="Calibri"/>
              </a:rPr>
              <a:t>●  </a:t>
            </a:r>
            <a:r>
              <a:rPr sz="1500">
                <a:solidFill>
                  <a:srgbClr val="36454F"/>
                </a:solidFill>
                <a:latin typeface="Calibri"/>
              </a:rPr>
              <a:t>InfoNCE-style auxiliary objective on meta-GNN outputs.</a:t>
            </a:r>
          </a:p>
          <a:p>
            <a:pPr algn="l">
              <a:lnSpc>
                <a:spcPct val="125000"/>
              </a:lnSpc>
              <a:spcAft>
                <a:spcPts val="400"/>
              </a:spcAft>
            </a:pPr>
            <a:r>
              <a:rPr sz="1500" b="1">
                <a:solidFill>
                  <a:srgbClr val="1E2761"/>
                </a:solidFill>
                <a:latin typeface="Calibri"/>
              </a:rPr>
              <a:t>●  </a:t>
            </a:r>
            <a:r>
              <a:rPr sz="1500">
                <a:solidFill>
                  <a:srgbClr val="36454F"/>
                </a:solidFill>
                <a:latin typeface="Calibri"/>
              </a:rPr>
              <a:t>Full loss:  L = L_CE  +  λ · L_contrast,   λ ∈ [0, 1].</a:t>
            </a:r>
          </a:p>
          <a:p>
            <a:pPr algn="l">
              <a:lnSpc>
                <a:spcPct val="125000"/>
              </a:lnSpc>
              <a:spcAft>
                <a:spcPts val="400"/>
              </a:spcAft>
            </a:pPr>
            <a:r>
              <a:rPr sz="1500" b="1">
                <a:solidFill>
                  <a:srgbClr val="1E2761"/>
                </a:solidFill>
                <a:latin typeface="Calibri"/>
              </a:rPr>
              <a:t>●  </a:t>
            </a:r>
            <a:r>
              <a:rPr sz="1500">
                <a:solidFill>
                  <a:srgbClr val="36454F"/>
                </a:solidFill>
                <a:latin typeface="Calibri"/>
              </a:rPr>
              <a:t>Directly sharpens embedding geometry — complementary to label propagation.</a:t>
            </a:r>
          </a:p>
          <a:p>
            <a:pPr algn="l">
              <a:lnSpc>
                <a:spcPct val="125000"/>
              </a:lnSpc>
              <a:spcAft>
                <a:spcPts val="400"/>
              </a:spcAft>
            </a:pPr>
            <a:r>
              <a:rPr sz="1500" b="1">
                <a:solidFill>
                  <a:srgbClr val="1E2761"/>
                </a:solidFill>
                <a:latin typeface="Calibri"/>
              </a:rPr>
              <a:t>●  </a:t>
            </a:r>
            <a:r>
              <a:rPr sz="1500">
                <a:solidFill>
                  <a:srgbClr val="36454F"/>
                </a:solidFill>
                <a:latin typeface="Calibri"/>
              </a:rPr>
              <a:t>Ablation A4: λ ∈ {0, 0.1, 0.5, 1.0}.</a:t>
            </a:r>
          </a:p>
        </p:txBody>
      </p:sp>
      <p:sp>
        <p:nvSpPr>
          <p:cNvPr id="9" name="TextBox 8"/>
          <p:cNvSpPr txBox="1"/>
          <p:nvPr/>
        </p:nvSpPr>
        <p:spPr>
          <a:xfrm>
            <a:off x="7498079" y="1920240"/>
            <a:ext cx="4572000" cy="3474720"/>
          </a:xfrm>
          <a:prstGeom prst="rect">
            <a:avLst/>
          </a:prstGeom>
          <a:noFill/>
        </p:spPr>
        <p:txBody>
          <a:bodyPr wrap="square" tIns="73152" bIns="73152">
            <a:spAutoFit/>
          </a:bodyPr>
          <a:lstStyle/>
          <a:p>
            <a:pPr algn="l">
              <a:lnSpc>
                <a:spcPct val="115000"/>
              </a:lnSpc>
            </a:pPr>
            <a:r>
              <a:rPr sz="1100">
                <a:solidFill>
                  <a:srgbClr val="1E2761"/>
                </a:solidFill>
                <a:latin typeface="Consolas"/>
              </a:rPr>
              <a:t> L_contrast(q) =</a:t>
            </a:r>
          </a:p>
          <a:p>
            <a:pPr algn="l">
              <a:lnSpc>
                <a:spcPct val="115000"/>
              </a:lnSpc>
            </a:pPr>
            <a:r>
              <a:rPr sz="1100">
                <a:solidFill>
                  <a:srgbClr val="1E2761"/>
                </a:solidFill>
                <a:latin typeface="Consolas"/>
              </a:rPr>
              <a:t>   −log( exp(sim(z_q, z_sup+)/τ) /</a:t>
            </a:r>
          </a:p>
          <a:p>
            <a:pPr algn="l">
              <a:lnSpc>
                <a:spcPct val="115000"/>
              </a:lnSpc>
            </a:pPr>
            <a:r>
              <a:rPr sz="1100">
                <a:solidFill>
                  <a:srgbClr val="1E2761"/>
                </a:solidFill>
                <a:latin typeface="Consolas"/>
              </a:rPr>
              <a:t>         Σ_s exp(sim(z_q, z_s)/τ) )</a:t>
            </a:r>
          </a:p>
          <a:p>
            <a:pPr algn="l">
              <a:lnSpc>
                <a:spcPct val="115000"/>
              </a:lnSpc>
            </a:pPr>
            <a:r>
              <a:rPr sz="1100">
                <a:solidFill>
                  <a:srgbClr val="1E2761"/>
                </a:solidFill>
                <a:latin typeface="Consolas"/>
              </a:rPr>
              <a:t/>
            </a:r>
          </a:p>
          <a:p>
            <a:pPr algn="l">
              <a:lnSpc>
                <a:spcPct val="115000"/>
              </a:lnSpc>
            </a:pPr>
            <a:r>
              <a:rPr sz="1100">
                <a:solidFill>
                  <a:srgbClr val="1E2761"/>
                </a:solidFill>
                <a:latin typeface="Consolas"/>
              </a:rPr>
              <a:t> sup+ : same-class support</a:t>
            </a:r>
          </a:p>
          <a:p>
            <a:pPr algn="l">
              <a:lnSpc>
                <a:spcPct val="115000"/>
              </a:lnSpc>
            </a:pPr>
            <a:r>
              <a:rPr sz="1100">
                <a:solidFill>
                  <a:srgbClr val="1E2761"/>
                </a:solidFill>
                <a:latin typeface="Consolas"/>
              </a:rPr>
              <a:t> τ = 0.1 (temperature)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M5 — Self-Supervised Encoder Pretraining</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28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583680" cy="4389120"/>
          </a:xfrm>
          <a:prstGeom prst="rect">
            <a:avLst/>
          </a:prstGeom>
          <a:noFill/>
        </p:spPr>
        <p:txBody>
          <a:bodyPr wrap="square" lIns="45720" rIns="45720">
            <a:spAutoFit/>
          </a:bodyPr>
          <a:lstStyle/>
          <a:p>
            <a:pPr algn="l">
              <a:lnSpc>
                <a:spcPct val="125000"/>
              </a:lnSpc>
              <a:spcAft>
                <a:spcPts val="400"/>
              </a:spcAft>
            </a:pPr>
            <a:r>
              <a:rPr sz="1400" b="1">
                <a:solidFill>
                  <a:srgbClr val="1E2761"/>
                </a:solidFill>
                <a:latin typeface="Calibri"/>
              </a:rPr>
              <a:t>●  </a:t>
            </a:r>
            <a:r>
              <a:rPr sz="1400">
                <a:solidFill>
                  <a:srgbClr val="36454F"/>
                </a:solidFill>
                <a:latin typeface="Calibri"/>
              </a:rPr>
              <a:t>Hypothesis: encoder is the bottleneck — ProtoNet's 0.70 ceiling is the encoder's ceiling.</a:t>
            </a:r>
          </a:p>
          <a:p>
            <a:pPr algn="l">
              <a:lnSpc>
                <a:spcPct val="125000"/>
              </a:lnSpc>
              <a:spcAft>
                <a:spcPts val="400"/>
              </a:spcAft>
            </a:pPr>
            <a:r>
              <a:rPr sz="1400" b="1">
                <a:solidFill>
                  <a:srgbClr val="1E2761"/>
                </a:solidFill>
                <a:latin typeface="Calibri"/>
              </a:rPr>
              <a:t>●  </a:t>
            </a:r>
            <a:r>
              <a:rPr sz="1400">
                <a:solidFill>
                  <a:srgbClr val="36454F"/>
                </a:solidFill>
                <a:latin typeface="Calibri"/>
              </a:rPr>
              <a:t>Pretrain φ on all 110k molecules with MolCLR-style contrastive SSL:</a:t>
            </a:r>
          </a:p>
          <a:p>
            <a:pPr algn="l" lvl="1">
              <a:lnSpc>
                <a:spcPct val="125000"/>
              </a:lnSpc>
              <a:spcAft>
                <a:spcPts val="400"/>
              </a:spcAft>
            </a:pPr>
            <a:r>
              <a:rPr sz="1200" b="0">
                <a:solidFill>
                  <a:srgbClr val="888A90"/>
                </a:solidFill>
                <a:latin typeface="Calibri"/>
              </a:rPr>
              <a:t>·  </a:t>
            </a:r>
            <a:r>
              <a:rPr sz="1200">
                <a:solidFill>
                  <a:srgbClr val="36454F"/>
                </a:solidFill>
                <a:latin typeface="Calibri"/>
              </a:rPr>
              <a:t>two random augmentations per molecule (subgraph / node-drop / edge-perturb).</a:t>
            </a:r>
          </a:p>
          <a:p>
            <a:pPr algn="l" lvl="1">
              <a:lnSpc>
                <a:spcPct val="125000"/>
              </a:lnSpc>
              <a:spcAft>
                <a:spcPts val="400"/>
              </a:spcAft>
            </a:pPr>
            <a:r>
              <a:rPr sz="1200" b="0">
                <a:solidFill>
                  <a:srgbClr val="888A90"/>
                </a:solidFill>
                <a:latin typeface="Calibri"/>
              </a:rPr>
              <a:t>·  </a:t>
            </a:r>
            <a:r>
              <a:rPr sz="1200">
                <a:solidFill>
                  <a:srgbClr val="36454F"/>
                </a:solidFill>
                <a:latin typeface="Calibri"/>
              </a:rPr>
              <a:t>InfoNCE objective over the meta-train pool, 30 epochs.</a:t>
            </a:r>
          </a:p>
          <a:p>
            <a:pPr algn="l">
              <a:lnSpc>
                <a:spcPct val="125000"/>
              </a:lnSpc>
              <a:spcAft>
                <a:spcPts val="400"/>
              </a:spcAft>
            </a:pPr>
            <a:r>
              <a:rPr sz="1400" b="1">
                <a:solidFill>
                  <a:srgbClr val="1E2761"/>
                </a:solidFill>
                <a:latin typeface="Calibri"/>
              </a:rPr>
              <a:t>●  </a:t>
            </a:r>
            <a:r>
              <a:rPr sz="1400">
                <a:solidFill>
                  <a:srgbClr val="36454F"/>
                </a:solidFill>
                <a:latin typeface="Calibri"/>
              </a:rPr>
              <a:t>Initialize MPNN with pretrained weights, then run episodic training.</a:t>
            </a:r>
          </a:p>
          <a:p>
            <a:pPr algn="l">
              <a:lnSpc>
                <a:spcPct val="125000"/>
              </a:lnSpc>
              <a:spcAft>
                <a:spcPts val="400"/>
              </a:spcAft>
            </a:pPr>
            <a:r>
              <a:rPr sz="1400" b="1">
                <a:solidFill>
                  <a:srgbClr val="1E2761"/>
                </a:solidFill>
                <a:latin typeface="Calibri"/>
              </a:rPr>
              <a:t>●  </a:t>
            </a:r>
            <a:r>
              <a:rPr sz="1400">
                <a:solidFill>
                  <a:srgbClr val="36454F"/>
                </a:solidFill>
                <a:latin typeface="Calibri"/>
              </a:rPr>
              <a:t>Ablation A5: from-scratch vs. SSL-init vs. SSL-init + frozen encoder.</a:t>
            </a:r>
          </a:p>
        </p:txBody>
      </p:sp>
      <p:sp>
        <p:nvSpPr>
          <p:cNvPr id="9" name="Rectangle 8"/>
          <p:cNvSpPr/>
          <p:nvPr/>
        </p:nvSpPr>
        <p:spPr>
          <a:xfrm>
            <a:off x="7772400" y="1828800"/>
            <a:ext cx="411480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1965960"/>
            <a:ext cx="3931920" cy="457200"/>
          </a:xfrm>
          <a:prstGeom prst="rect">
            <a:avLst/>
          </a:prstGeom>
          <a:noFill/>
        </p:spPr>
        <p:txBody>
          <a:bodyPr wrap="square" lIns="45720" rIns="45720" tIns="18288" bIns="18288" anchor="t">
            <a:spAutoFit/>
          </a:bodyPr>
          <a:lstStyle/>
          <a:p>
            <a:pPr algn="l"/>
            <a:r>
              <a:rPr sz="1200" b="1" i="0">
                <a:solidFill>
                  <a:srgbClr val="FFFFFF"/>
                </a:solidFill>
                <a:latin typeface="Calibri"/>
              </a:rPr>
              <a:t>EXPECTED IMPACT</a:t>
            </a:r>
          </a:p>
        </p:txBody>
      </p:sp>
      <p:sp>
        <p:nvSpPr>
          <p:cNvPr id="11" name="TextBox 10"/>
          <p:cNvSpPr txBox="1"/>
          <p:nvPr/>
        </p:nvSpPr>
        <p:spPr>
          <a:xfrm>
            <a:off x="7909560" y="2377440"/>
            <a:ext cx="3931920" cy="1645920"/>
          </a:xfrm>
          <a:prstGeom prst="rect">
            <a:avLst/>
          </a:prstGeom>
          <a:noFill/>
        </p:spPr>
        <p:txBody>
          <a:bodyPr wrap="square" lIns="45720" rIns="45720" tIns="18288" bIns="18288" anchor="ctr">
            <a:spAutoFit/>
          </a:bodyPr>
          <a:lstStyle/>
          <a:p>
            <a:pPr algn="ctr"/>
            <a:r>
              <a:rPr sz="2000" b="1" i="0">
                <a:solidFill>
                  <a:srgbClr val="FFFFFF"/>
                </a:solidFill>
                <a:latin typeface="Calibri"/>
              </a:rPr>
              <a:t>+5 to +10 pp ROC-AUC
(MolCLR literature)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ABLATIONS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New Ablation Suite</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29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828800"/>
            <a:ext cx="1143000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828800"/>
            <a:ext cx="731520" cy="548640"/>
          </a:xfrm>
          <a:prstGeom prst="rect">
            <a:avLst/>
          </a:prstGeom>
          <a:noFill/>
        </p:spPr>
        <p:txBody>
          <a:bodyPr wrap="square" lIns="45720" rIns="45720" tIns="18288" bIns="18288" anchor="ctr">
            <a:spAutoFit/>
          </a:bodyPr>
          <a:lstStyle/>
          <a:p>
            <a:pPr algn="ctr"/>
            <a:r>
              <a:rPr sz="1300" b="1" i="0">
                <a:solidFill>
                  <a:srgbClr val="FFFFFF"/>
                </a:solidFill>
                <a:latin typeface="Calibri"/>
              </a:rPr>
              <a:t>#</a:t>
            </a:r>
          </a:p>
        </p:txBody>
      </p:sp>
      <p:sp>
        <p:nvSpPr>
          <p:cNvPr id="10" name="TextBox 9"/>
          <p:cNvSpPr txBox="1"/>
          <p:nvPr/>
        </p:nvSpPr>
        <p:spPr>
          <a:xfrm>
            <a:off x="1234440" y="1828800"/>
            <a:ext cx="2926080" cy="548640"/>
          </a:xfrm>
          <a:prstGeom prst="rect">
            <a:avLst/>
          </a:prstGeom>
          <a:noFill/>
        </p:spPr>
        <p:txBody>
          <a:bodyPr wrap="square" lIns="45720" rIns="45720" tIns="18288" bIns="18288" anchor="ctr">
            <a:spAutoFit/>
          </a:bodyPr>
          <a:lstStyle/>
          <a:p>
            <a:pPr algn="ctr"/>
            <a:r>
              <a:rPr sz="1300" b="1" i="0">
                <a:solidFill>
                  <a:srgbClr val="FFFFFF"/>
                </a:solidFill>
                <a:latin typeface="Calibri"/>
              </a:rPr>
              <a:t>Study</a:t>
            </a:r>
          </a:p>
        </p:txBody>
      </p:sp>
      <p:sp>
        <p:nvSpPr>
          <p:cNvPr id="11" name="TextBox 10"/>
          <p:cNvSpPr txBox="1"/>
          <p:nvPr/>
        </p:nvSpPr>
        <p:spPr>
          <a:xfrm>
            <a:off x="4160520" y="1828800"/>
            <a:ext cx="3840480" cy="548640"/>
          </a:xfrm>
          <a:prstGeom prst="rect">
            <a:avLst/>
          </a:prstGeom>
          <a:noFill/>
        </p:spPr>
        <p:txBody>
          <a:bodyPr wrap="square" lIns="45720" rIns="45720" tIns="18288" bIns="18288" anchor="ctr">
            <a:spAutoFit/>
          </a:bodyPr>
          <a:lstStyle/>
          <a:p>
            <a:pPr algn="ctr"/>
            <a:r>
              <a:rPr sz="1300" b="1" i="0">
                <a:solidFill>
                  <a:srgbClr val="FFFFFF"/>
                </a:solidFill>
                <a:latin typeface="Calibri"/>
              </a:rPr>
              <a:t>Grid</a:t>
            </a:r>
          </a:p>
        </p:txBody>
      </p:sp>
      <p:sp>
        <p:nvSpPr>
          <p:cNvPr id="12" name="TextBox 11"/>
          <p:cNvSpPr txBox="1"/>
          <p:nvPr/>
        </p:nvSpPr>
        <p:spPr>
          <a:xfrm>
            <a:off x="8001000" y="1828800"/>
            <a:ext cx="3931920" cy="548640"/>
          </a:xfrm>
          <a:prstGeom prst="rect">
            <a:avLst/>
          </a:prstGeom>
          <a:noFill/>
        </p:spPr>
        <p:txBody>
          <a:bodyPr wrap="square" lIns="45720" rIns="45720" tIns="18288" bIns="18288" anchor="ctr">
            <a:spAutoFit/>
          </a:bodyPr>
          <a:lstStyle/>
          <a:p>
            <a:pPr algn="ctr"/>
            <a:r>
              <a:rPr sz="1300" b="1" i="0">
                <a:solidFill>
                  <a:srgbClr val="FFFFFF"/>
                </a:solidFill>
                <a:latin typeface="Calibri"/>
              </a:rPr>
              <a:t>Purpose</a:t>
            </a:r>
          </a:p>
        </p:txBody>
      </p:sp>
      <p:sp>
        <p:nvSpPr>
          <p:cNvPr id="13" name="Rectangle 12"/>
          <p:cNvSpPr/>
          <p:nvPr/>
        </p:nvSpPr>
        <p:spPr>
          <a:xfrm>
            <a:off x="502920" y="2377440"/>
            <a:ext cx="11430000" cy="5943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A1</a:t>
            </a:r>
          </a:p>
        </p:txBody>
      </p:sp>
      <p:sp>
        <p:nvSpPr>
          <p:cNvPr id="15" name="TextBox 14"/>
          <p:cNvSpPr txBox="1"/>
          <p:nvPr/>
        </p:nvSpPr>
        <p:spPr>
          <a:xfrm>
            <a:off x="1371600" y="2377440"/>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Residual α sweep</a:t>
            </a:r>
          </a:p>
        </p:txBody>
      </p:sp>
      <p:sp>
        <p:nvSpPr>
          <p:cNvPr id="16" name="TextBox 15"/>
          <p:cNvSpPr txBox="1"/>
          <p:nvPr/>
        </p:nvSpPr>
        <p:spPr>
          <a:xfrm>
            <a:off x="4297680" y="2377440"/>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α ∈ {0, 0.3, 0.5, 0.7, 1.0}</a:t>
            </a:r>
          </a:p>
        </p:txBody>
      </p:sp>
      <p:sp>
        <p:nvSpPr>
          <p:cNvPr id="17" name="TextBox 16"/>
          <p:cNvSpPr txBox="1"/>
          <p:nvPr/>
        </p:nvSpPr>
        <p:spPr>
          <a:xfrm>
            <a:off x="8138160" y="2377440"/>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Validate M1 residual</a:t>
            </a:r>
          </a:p>
        </p:txBody>
      </p:sp>
      <p:sp>
        <p:nvSpPr>
          <p:cNvPr id="18" name="Rectangle 17"/>
          <p:cNvSpPr/>
          <p:nvPr/>
        </p:nvSpPr>
        <p:spPr>
          <a:xfrm>
            <a:off x="502920" y="3017520"/>
            <a:ext cx="11430000" cy="594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017520"/>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A2</a:t>
            </a:r>
          </a:p>
        </p:txBody>
      </p:sp>
      <p:sp>
        <p:nvSpPr>
          <p:cNvPr id="20" name="TextBox 19"/>
          <p:cNvSpPr txBox="1"/>
          <p:nvPr/>
        </p:nvSpPr>
        <p:spPr>
          <a:xfrm>
            <a:off x="1371600" y="3017520"/>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Meta-GNN depth/type</a:t>
            </a:r>
          </a:p>
        </p:txBody>
      </p:sp>
      <p:sp>
        <p:nvSpPr>
          <p:cNvPr id="21" name="TextBox 20"/>
          <p:cNvSpPr txBox="1"/>
          <p:nvPr/>
        </p:nvSpPr>
        <p:spPr>
          <a:xfrm>
            <a:off x="4297680" y="3017520"/>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{1,2,3} × {GCN, GAT}</a:t>
            </a:r>
          </a:p>
        </p:txBody>
      </p:sp>
      <p:sp>
        <p:nvSpPr>
          <p:cNvPr id="22" name="TextBox 21"/>
          <p:cNvSpPr txBox="1"/>
          <p:nvPr/>
        </p:nvSpPr>
        <p:spPr>
          <a:xfrm>
            <a:off x="8138160" y="3017520"/>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Quantify over-smoothing</a:t>
            </a:r>
          </a:p>
        </p:txBody>
      </p:sp>
      <p:sp>
        <p:nvSpPr>
          <p:cNvPr id="23" name="Rectangle 22"/>
          <p:cNvSpPr/>
          <p:nvPr/>
        </p:nvSpPr>
        <p:spPr>
          <a:xfrm>
            <a:off x="502920" y="3657600"/>
            <a:ext cx="11430000" cy="5943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657600"/>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A3</a:t>
            </a:r>
          </a:p>
        </p:txBody>
      </p:sp>
      <p:sp>
        <p:nvSpPr>
          <p:cNvPr id="25" name="TextBox 24"/>
          <p:cNvSpPr txBox="1"/>
          <p:nvPr/>
        </p:nvSpPr>
        <p:spPr>
          <a:xfrm>
            <a:off x="1371600" y="3657600"/>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Edge masking</a:t>
            </a:r>
          </a:p>
        </p:txBody>
      </p:sp>
      <p:sp>
        <p:nvSpPr>
          <p:cNvPr id="26" name="TextBox 25"/>
          <p:cNvSpPr txBox="1"/>
          <p:nvPr/>
        </p:nvSpPr>
        <p:spPr>
          <a:xfrm>
            <a:off x="4297680" y="3657600"/>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full / support-only / bipartite</a:t>
            </a:r>
          </a:p>
        </p:txBody>
      </p:sp>
      <p:sp>
        <p:nvSpPr>
          <p:cNvPr id="27" name="TextBox 26"/>
          <p:cNvSpPr txBox="1"/>
          <p:nvPr/>
        </p:nvSpPr>
        <p:spPr>
          <a:xfrm>
            <a:off x="8138160" y="3657600"/>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Validate M3 masking</a:t>
            </a:r>
          </a:p>
        </p:txBody>
      </p:sp>
      <p:sp>
        <p:nvSpPr>
          <p:cNvPr id="28" name="Rectangle 27"/>
          <p:cNvSpPr/>
          <p:nvPr/>
        </p:nvSpPr>
        <p:spPr>
          <a:xfrm>
            <a:off x="502920" y="4297679"/>
            <a:ext cx="11430000" cy="594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297679"/>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A4</a:t>
            </a:r>
          </a:p>
        </p:txBody>
      </p:sp>
      <p:sp>
        <p:nvSpPr>
          <p:cNvPr id="30" name="TextBox 29"/>
          <p:cNvSpPr txBox="1"/>
          <p:nvPr/>
        </p:nvSpPr>
        <p:spPr>
          <a:xfrm>
            <a:off x="1371600" y="4297679"/>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Contrastive weight λ</a:t>
            </a:r>
          </a:p>
        </p:txBody>
      </p:sp>
      <p:sp>
        <p:nvSpPr>
          <p:cNvPr id="31" name="TextBox 30"/>
          <p:cNvSpPr txBox="1"/>
          <p:nvPr/>
        </p:nvSpPr>
        <p:spPr>
          <a:xfrm>
            <a:off x="4297680" y="4297679"/>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λ ∈ {0, 0.1, 0.5, 1.0}</a:t>
            </a:r>
          </a:p>
        </p:txBody>
      </p:sp>
      <p:sp>
        <p:nvSpPr>
          <p:cNvPr id="32" name="TextBox 31"/>
          <p:cNvSpPr txBox="1"/>
          <p:nvPr/>
        </p:nvSpPr>
        <p:spPr>
          <a:xfrm>
            <a:off x="8138160" y="4297679"/>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Tune M4 loss</a:t>
            </a:r>
          </a:p>
        </p:txBody>
      </p:sp>
      <p:sp>
        <p:nvSpPr>
          <p:cNvPr id="33" name="Rectangle 32"/>
          <p:cNvSpPr/>
          <p:nvPr/>
        </p:nvSpPr>
        <p:spPr>
          <a:xfrm>
            <a:off x="502920" y="4937760"/>
            <a:ext cx="11430000" cy="5943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37760"/>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A5</a:t>
            </a:r>
          </a:p>
        </p:txBody>
      </p:sp>
      <p:sp>
        <p:nvSpPr>
          <p:cNvPr id="35" name="TextBox 34"/>
          <p:cNvSpPr txBox="1"/>
          <p:nvPr/>
        </p:nvSpPr>
        <p:spPr>
          <a:xfrm>
            <a:off x="1371600" y="4937760"/>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SSL pretraining</a:t>
            </a:r>
          </a:p>
        </p:txBody>
      </p:sp>
      <p:sp>
        <p:nvSpPr>
          <p:cNvPr id="36" name="TextBox 35"/>
          <p:cNvSpPr txBox="1"/>
          <p:nvPr/>
        </p:nvSpPr>
        <p:spPr>
          <a:xfrm>
            <a:off x="4297680" y="4937760"/>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scratch / SSL / SSL+frozen</a:t>
            </a:r>
          </a:p>
        </p:txBody>
      </p:sp>
      <p:sp>
        <p:nvSpPr>
          <p:cNvPr id="37" name="TextBox 36"/>
          <p:cNvSpPr txBox="1"/>
          <p:nvPr/>
        </p:nvSpPr>
        <p:spPr>
          <a:xfrm>
            <a:off x="8138160" y="4937760"/>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Validate M5 SSL impact</a:t>
            </a:r>
          </a:p>
        </p:txBody>
      </p:sp>
      <p:sp>
        <p:nvSpPr>
          <p:cNvPr id="38" name="TextBox 37"/>
          <p:cNvSpPr txBox="1"/>
          <p:nvPr/>
        </p:nvSpPr>
        <p:spPr>
          <a:xfrm>
            <a:off x="502920" y="5852160"/>
            <a:ext cx="11185855" cy="365760"/>
          </a:xfrm>
          <a:prstGeom prst="rect">
            <a:avLst/>
          </a:prstGeom>
          <a:noFill/>
        </p:spPr>
        <p:txBody>
          <a:bodyPr wrap="square" lIns="45720" rIns="45720" tIns="18288" bIns="18288" anchor="t">
            <a:spAutoFit/>
          </a:bodyPr>
          <a:lstStyle/>
          <a:p>
            <a:pPr algn="ctr"/>
            <a:r>
              <a:rPr sz="1100" b="0" i="1">
                <a:solidFill>
                  <a:srgbClr val="888A90"/>
                </a:solidFill>
                <a:latin typeface="Calibri"/>
              </a:rPr>
              <a:t>All runs: 5-way 5-shot on merged 673-task pool, 1000-episode meta-test.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ROADMAP</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Expected v2 Performance Targets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30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737360"/>
            <a:ext cx="1115568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737360"/>
            <a:ext cx="438912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Configuration</a:t>
            </a:r>
          </a:p>
        </p:txBody>
      </p:sp>
      <p:sp>
        <p:nvSpPr>
          <p:cNvPr id="10" name="TextBox 9"/>
          <p:cNvSpPr txBox="1"/>
          <p:nvPr/>
        </p:nvSpPr>
        <p:spPr>
          <a:xfrm>
            <a:off x="4892040" y="1737360"/>
            <a:ext cx="365760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Meta-test ROC-AUC  (5w5s)</a:t>
            </a:r>
          </a:p>
        </p:txBody>
      </p:sp>
      <p:sp>
        <p:nvSpPr>
          <p:cNvPr id="11" name="TextBox 10"/>
          <p:cNvSpPr txBox="1"/>
          <p:nvPr/>
        </p:nvSpPr>
        <p:spPr>
          <a:xfrm>
            <a:off x="8549640" y="1737360"/>
            <a:ext cx="310896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Source</a:t>
            </a:r>
          </a:p>
        </p:txBody>
      </p:sp>
      <p:sp>
        <p:nvSpPr>
          <p:cNvPr id="12" name="Rectangle 11"/>
          <p:cNvSpPr/>
          <p:nvPr/>
        </p:nvSpPr>
        <p:spPr>
          <a:xfrm>
            <a:off x="502920" y="2240280"/>
            <a:ext cx="11155680" cy="5029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240280"/>
            <a:ext cx="4206240" cy="502920"/>
          </a:xfrm>
          <a:prstGeom prst="rect">
            <a:avLst/>
          </a:prstGeom>
          <a:noFill/>
        </p:spPr>
        <p:txBody>
          <a:bodyPr wrap="square" lIns="45720" rIns="45720" tIns="18288" bIns="18288" anchor="ctr">
            <a:spAutoFit/>
          </a:bodyPr>
          <a:lstStyle/>
          <a:p>
            <a:pPr algn="l"/>
            <a:r>
              <a:rPr sz="1200" b="1" i="0">
                <a:solidFill>
                  <a:srgbClr val="1E2761"/>
                </a:solidFill>
                <a:latin typeface="Calibri"/>
              </a:rPr>
              <a:t>ProtoNet baseline</a:t>
            </a:r>
          </a:p>
        </p:txBody>
      </p:sp>
      <p:sp>
        <p:nvSpPr>
          <p:cNvPr id="14" name="TextBox 13"/>
          <p:cNvSpPr txBox="1"/>
          <p:nvPr/>
        </p:nvSpPr>
        <p:spPr>
          <a:xfrm>
            <a:off x="4892040" y="2240280"/>
            <a:ext cx="3657600" cy="502920"/>
          </a:xfrm>
          <a:prstGeom prst="rect">
            <a:avLst/>
          </a:prstGeom>
          <a:noFill/>
        </p:spPr>
        <p:txBody>
          <a:bodyPr wrap="square" lIns="45720" rIns="45720" tIns="18288" bIns="18288" anchor="ctr">
            <a:spAutoFit/>
          </a:bodyPr>
          <a:lstStyle/>
          <a:p>
            <a:pPr algn="ctr"/>
            <a:r>
              <a:rPr sz="1300" b="1" i="0">
                <a:solidFill>
                  <a:srgbClr val="1E2761"/>
                </a:solidFill>
                <a:latin typeface="Calibri"/>
              </a:rPr>
              <a:t>0.701</a:t>
            </a:r>
          </a:p>
        </p:txBody>
      </p:sp>
      <p:sp>
        <p:nvSpPr>
          <p:cNvPr id="15" name="TextBox 14"/>
          <p:cNvSpPr txBox="1"/>
          <p:nvPr/>
        </p:nvSpPr>
        <p:spPr>
          <a:xfrm>
            <a:off x="8686800" y="224028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observed</a:t>
            </a:r>
          </a:p>
        </p:txBody>
      </p:sp>
      <p:sp>
        <p:nvSpPr>
          <p:cNvPr id="16" name="Rectangle 15"/>
          <p:cNvSpPr/>
          <p:nvPr/>
        </p:nvSpPr>
        <p:spPr>
          <a:xfrm>
            <a:off x="502920" y="2743200"/>
            <a:ext cx="11155680" cy="5029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743200"/>
            <a:ext cx="4206240" cy="502920"/>
          </a:xfrm>
          <a:prstGeom prst="rect">
            <a:avLst/>
          </a:prstGeom>
          <a:noFill/>
        </p:spPr>
        <p:txBody>
          <a:bodyPr wrap="square" lIns="45720" rIns="45720" tIns="18288" bIns="18288" anchor="ctr">
            <a:spAutoFit/>
          </a:bodyPr>
          <a:lstStyle/>
          <a:p>
            <a:pPr algn="l"/>
            <a:r>
              <a:rPr sz="1200" b="1" i="0">
                <a:solidFill>
                  <a:srgbClr val="1E2761"/>
                </a:solidFill>
                <a:latin typeface="Calibri"/>
              </a:rPr>
              <a:t>GoS v1</a:t>
            </a:r>
          </a:p>
        </p:txBody>
      </p:sp>
      <p:sp>
        <p:nvSpPr>
          <p:cNvPr id="18" name="TextBox 17"/>
          <p:cNvSpPr txBox="1"/>
          <p:nvPr/>
        </p:nvSpPr>
        <p:spPr>
          <a:xfrm>
            <a:off x="4892040" y="2743200"/>
            <a:ext cx="3657600" cy="502920"/>
          </a:xfrm>
          <a:prstGeom prst="rect">
            <a:avLst/>
          </a:prstGeom>
          <a:noFill/>
        </p:spPr>
        <p:txBody>
          <a:bodyPr wrap="square" lIns="45720" rIns="45720" tIns="18288" bIns="18288" anchor="ctr">
            <a:spAutoFit/>
          </a:bodyPr>
          <a:lstStyle/>
          <a:p>
            <a:pPr algn="ctr"/>
            <a:r>
              <a:rPr sz="1300" b="1" i="0">
                <a:solidFill>
                  <a:srgbClr val="1E2761"/>
                </a:solidFill>
                <a:latin typeface="Calibri"/>
              </a:rPr>
              <a:t>0.569</a:t>
            </a:r>
          </a:p>
        </p:txBody>
      </p:sp>
      <p:sp>
        <p:nvSpPr>
          <p:cNvPr id="19" name="TextBox 18"/>
          <p:cNvSpPr txBox="1"/>
          <p:nvPr/>
        </p:nvSpPr>
        <p:spPr>
          <a:xfrm>
            <a:off x="8686800" y="274320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observed</a:t>
            </a:r>
          </a:p>
        </p:txBody>
      </p:sp>
      <p:sp>
        <p:nvSpPr>
          <p:cNvPr id="20" name="Rectangle 19"/>
          <p:cNvSpPr/>
          <p:nvPr/>
        </p:nvSpPr>
        <p:spPr>
          <a:xfrm>
            <a:off x="502920" y="3246120"/>
            <a:ext cx="11155680" cy="5029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24612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M1 residual prototype</a:t>
            </a:r>
          </a:p>
        </p:txBody>
      </p:sp>
      <p:sp>
        <p:nvSpPr>
          <p:cNvPr id="22" name="TextBox 21"/>
          <p:cNvSpPr txBox="1"/>
          <p:nvPr/>
        </p:nvSpPr>
        <p:spPr>
          <a:xfrm>
            <a:off x="4892040" y="324612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 0.700</a:t>
            </a:r>
          </a:p>
        </p:txBody>
      </p:sp>
      <p:sp>
        <p:nvSpPr>
          <p:cNvPr id="23" name="TextBox 22"/>
          <p:cNvSpPr txBox="1"/>
          <p:nvPr/>
        </p:nvSpPr>
        <p:spPr>
          <a:xfrm>
            <a:off x="8686800" y="324612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safety net</a:t>
            </a:r>
          </a:p>
        </p:txBody>
      </p:sp>
      <p:sp>
        <p:nvSpPr>
          <p:cNvPr id="24" name="Rectangle 23"/>
          <p:cNvSpPr/>
          <p:nvPr/>
        </p:nvSpPr>
        <p:spPr>
          <a:xfrm>
            <a:off x="502920" y="3749040"/>
            <a:ext cx="1115568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74904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M2 1-layer GAT</a:t>
            </a:r>
          </a:p>
        </p:txBody>
      </p:sp>
      <p:sp>
        <p:nvSpPr>
          <p:cNvPr id="26" name="TextBox 25"/>
          <p:cNvSpPr txBox="1"/>
          <p:nvPr/>
        </p:nvSpPr>
        <p:spPr>
          <a:xfrm>
            <a:off x="4892040" y="374904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+1 – 2 pp</a:t>
            </a:r>
          </a:p>
        </p:txBody>
      </p:sp>
      <p:sp>
        <p:nvSpPr>
          <p:cNvPr id="27" name="TextBox 26"/>
          <p:cNvSpPr txBox="1"/>
          <p:nvPr/>
        </p:nvSpPr>
        <p:spPr>
          <a:xfrm>
            <a:off x="8686800" y="374904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over-smoothing fix</a:t>
            </a:r>
          </a:p>
        </p:txBody>
      </p:sp>
      <p:sp>
        <p:nvSpPr>
          <p:cNvPr id="28" name="Rectangle 27"/>
          <p:cNvSpPr/>
          <p:nvPr/>
        </p:nvSpPr>
        <p:spPr>
          <a:xfrm>
            <a:off x="502920" y="4251960"/>
            <a:ext cx="11155680" cy="5029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25196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M3 bipartite mask</a:t>
            </a:r>
          </a:p>
        </p:txBody>
      </p:sp>
      <p:sp>
        <p:nvSpPr>
          <p:cNvPr id="30" name="TextBox 29"/>
          <p:cNvSpPr txBox="1"/>
          <p:nvPr/>
        </p:nvSpPr>
        <p:spPr>
          <a:xfrm>
            <a:off x="4892040" y="425196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+1 – 3 pp</a:t>
            </a:r>
          </a:p>
        </p:txBody>
      </p:sp>
      <p:sp>
        <p:nvSpPr>
          <p:cNvPr id="31" name="TextBox 30"/>
          <p:cNvSpPr txBox="1"/>
          <p:nvPr/>
        </p:nvSpPr>
        <p:spPr>
          <a:xfrm>
            <a:off x="8686800" y="425196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noise reduction</a:t>
            </a:r>
          </a:p>
        </p:txBody>
      </p:sp>
      <p:sp>
        <p:nvSpPr>
          <p:cNvPr id="32" name="Rectangle 31"/>
          <p:cNvSpPr/>
          <p:nvPr/>
        </p:nvSpPr>
        <p:spPr>
          <a:xfrm>
            <a:off x="502920" y="4754880"/>
            <a:ext cx="1115568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475488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M4 contrastive (λ=0.5)</a:t>
            </a:r>
          </a:p>
        </p:txBody>
      </p:sp>
      <p:sp>
        <p:nvSpPr>
          <p:cNvPr id="34" name="TextBox 33"/>
          <p:cNvSpPr txBox="1"/>
          <p:nvPr/>
        </p:nvSpPr>
        <p:spPr>
          <a:xfrm>
            <a:off x="4892040" y="475488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+2 – 3 pp</a:t>
            </a:r>
          </a:p>
        </p:txBody>
      </p:sp>
      <p:sp>
        <p:nvSpPr>
          <p:cNvPr id="35" name="TextBox 34"/>
          <p:cNvSpPr txBox="1"/>
          <p:nvPr/>
        </p:nvSpPr>
        <p:spPr>
          <a:xfrm>
            <a:off x="8686800" y="475488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geometry shaping</a:t>
            </a:r>
          </a:p>
        </p:txBody>
      </p:sp>
      <p:sp>
        <p:nvSpPr>
          <p:cNvPr id="36" name="Rectangle 35"/>
          <p:cNvSpPr/>
          <p:nvPr/>
        </p:nvSpPr>
        <p:spPr>
          <a:xfrm>
            <a:off x="502920" y="5257800"/>
            <a:ext cx="11155680" cy="5029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525780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M5 SSL pretraining</a:t>
            </a:r>
          </a:p>
        </p:txBody>
      </p:sp>
      <p:sp>
        <p:nvSpPr>
          <p:cNvPr id="38" name="TextBox 37"/>
          <p:cNvSpPr txBox="1"/>
          <p:nvPr/>
        </p:nvSpPr>
        <p:spPr>
          <a:xfrm>
            <a:off x="4892040" y="525780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+5 – 10 pp</a:t>
            </a:r>
          </a:p>
        </p:txBody>
      </p:sp>
      <p:sp>
        <p:nvSpPr>
          <p:cNvPr id="39" name="TextBox 38"/>
          <p:cNvSpPr txBox="1"/>
          <p:nvPr/>
        </p:nvSpPr>
        <p:spPr>
          <a:xfrm>
            <a:off x="8686800" y="525780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largest expected</a:t>
            </a:r>
          </a:p>
        </p:txBody>
      </p:sp>
      <p:sp>
        <p:nvSpPr>
          <p:cNvPr id="40" name="Rectangle 39"/>
          <p:cNvSpPr/>
          <p:nvPr/>
        </p:nvSpPr>
        <p:spPr>
          <a:xfrm>
            <a:off x="502920" y="5760720"/>
            <a:ext cx="11185855" cy="64008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5760720"/>
            <a:ext cx="11185855" cy="640080"/>
          </a:xfrm>
          <a:prstGeom prst="rect">
            <a:avLst/>
          </a:prstGeom>
          <a:noFill/>
        </p:spPr>
        <p:txBody>
          <a:bodyPr wrap="square" lIns="45720" rIns="45720" tIns="18288" bIns="18288" anchor="ctr">
            <a:spAutoFit/>
          </a:bodyPr>
          <a:lstStyle/>
          <a:p>
            <a:pPr algn="ctr"/>
            <a:r>
              <a:rPr sz="1600" b="1" i="0">
                <a:solidFill>
                  <a:srgbClr val="FFFFFF"/>
                </a:solidFill>
                <a:latin typeface="Calibri"/>
              </a:rPr>
              <a:t>Composed target: ≥ 0.76  (a meaningful margin over ProtoNet)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2834640"/>
            <a:ext cx="12191695" cy="10972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0"/>
            <a:ext cx="11185855" cy="1097280"/>
          </a:xfrm>
          <a:prstGeom prst="rect">
            <a:avLst/>
          </a:prstGeom>
          <a:noFill/>
        </p:spPr>
        <p:txBody>
          <a:bodyPr wrap="square" lIns="45720" rIns="45720" tIns="18288" bIns="18288" anchor="t">
            <a:spAutoFit/>
          </a:bodyPr>
          <a:lstStyle/>
          <a:p>
            <a:pPr algn="ctr"/>
            <a:r>
              <a:rPr sz="7200" b="1" i="0">
                <a:solidFill>
                  <a:srgbClr val="FFFFFF"/>
                </a:solidFill>
                <a:latin typeface="Calibri"/>
              </a:rPr>
              <a:t>Thank you.</a:t>
            </a:r>
          </a:p>
        </p:txBody>
      </p:sp>
      <p:sp>
        <p:nvSpPr>
          <p:cNvPr id="4" name="TextBox 3"/>
          <p:cNvSpPr txBox="1"/>
          <p:nvPr/>
        </p:nvSpPr>
        <p:spPr>
          <a:xfrm>
            <a:off x="502920" y="3474720"/>
            <a:ext cx="11185855" cy="548640"/>
          </a:xfrm>
          <a:prstGeom prst="rect">
            <a:avLst/>
          </a:prstGeom>
          <a:noFill/>
        </p:spPr>
        <p:txBody>
          <a:bodyPr wrap="square" lIns="45720" rIns="45720" tIns="18288" bIns="18288" anchor="t">
            <a:spAutoFit/>
          </a:bodyPr>
          <a:lstStyle/>
          <a:p>
            <a:pPr algn="ctr"/>
            <a:r>
              <a:rPr sz="2800" b="0" i="1">
                <a:solidFill>
                  <a:srgbClr val="CADCFC"/>
                </a:solidFill>
                <a:latin typeface="Calibri"/>
              </a:rPr>
              <a:t>Questions?</a:t>
            </a:r>
          </a:p>
        </p:txBody>
      </p:sp>
      <p:sp>
        <p:nvSpPr>
          <p:cNvPr id="5" name="TextBox 4"/>
          <p:cNvSpPr txBox="1"/>
          <p:nvPr/>
        </p:nvSpPr>
        <p:spPr>
          <a:xfrm>
            <a:off x="502920" y="4572000"/>
            <a:ext cx="11185855" cy="457200"/>
          </a:xfrm>
          <a:prstGeom prst="rect">
            <a:avLst/>
          </a:prstGeom>
          <a:noFill/>
        </p:spPr>
        <p:txBody>
          <a:bodyPr wrap="square" lIns="45720" rIns="45720" tIns="18288" bIns="18288" anchor="t">
            <a:spAutoFit/>
          </a:bodyPr>
          <a:lstStyle/>
          <a:p>
            <a:pPr algn="ctr"/>
            <a:r>
              <a:rPr sz="1800" b="0" i="0">
                <a:solidFill>
                  <a:srgbClr val="FFFFFF"/>
                </a:solidFill>
                <a:latin typeface="Calibri"/>
              </a:rPr>
              <a:t>Code:  github.com/BDeMo/proj-mol</a:t>
            </a:r>
          </a:p>
        </p:txBody>
      </p:sp>
      <p:sp>
        <p:nvSpPr>
          <p:cNvPr id="6" name="TextBox 5"/>
          <p:cNvSpPr txBox="1"/>
          <p:nvPr/>
        </p:nvSpPr>
        <p:spPr>
          <a:xfrm>
            <a:off x="502920" y="5120640"/>
            <a:ext cx="11185855" cy="457200"/>
          </a:xfrm>
          <a:prstGeom prst="rect">
            <a:avLst/>
          </a:prstGeom>
          <a:noFill/>
        </p:spPr>
        <p:txBody>
          <a:bodyPr wrap="square" lIns="45720" rIns="45720" tIns="18288" bIns="18288" anchor="t">
            <a:spAutoFit/>
          </a:bodyPr>
          <a:lstStyle/>
          <a:p>
            <a:pPr algn="ctr"/>
            <a:r>
              <a:rPr sz="1400" b="0" i="1">
                <a:solidFill>
                  <a:srgbClr val="CADCFC"/>
                </a:solidFill>
                <a:latin typeface="Calibri"/>
              </a:rPr>
              <a:t>Mingjia Shi  ·  University of Virginia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